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728655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rPr>
                <a:latin typeface="Arial"/>
              </a:rPr>
              <a:t>Juniper University</a:t>
            </a:r>
          </a:p>
          <a:p>
            <a:pPr>
              <a:defRPr sz="2200">
                <a:solidFill>
                  <a:srgbClr val="FF3F0A"/>
                </a:solidFill>
              </a:defRPr>
            </a:pPr>
            <a:r>
              <a:rPr>
                <a:latin typeface="Arial"/>
              </a:rPr>
              <a:t>SME for a student innovation hub in Austin</a:t>
            </a:r>
          </a:p>
          <a:p>
            <a:pPr>
              <a:defRPr sz="1600">
                <a:solidFill>
                  <a:srgbClr val="CCCCCC"/>
                </a:solidFill>
              </a:defRPr>
            </a:pPr>
            <a:r>
              <a:rPr>
                <a:latin typeface="Arial"/>
              </a:rPr>
              <a:t>Submitted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2262B"/>
                </a:solidFill>
              </a:defRPr>
            </a:pPr>
            <a:r>
              <a:rPr>
                <a:latin typeface="Arial"/>
              </a:rPr>
              <a:t>About us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097280" cy="73152"/>
          </a:xfrm>
          <a:prstGeom prst="rect">
            <a:avLst/>
          </a:prstGeom>
          <a:solidFill>
            <a:srgbClr val="FF3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9441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A global design and engineering practice working across workplace, hospitality and education.</a:t>
            </a:r>
          </a:p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Studios in 20 cities, with teams who design, engineer and deliver under one roof.</a:t>
            </a:r>
          </a:p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We plan, design and build spaces that help organizations work better.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2262B"/>
                </a:solidFill>
              </a:defRPr>
            </a:pPr>
            <a:r>
              <a:rPr>
                <a:latin typeface="Arial"/>
              </a:rPr>
              <a:t>Expert insight: Sustainability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097280" cy="73152"/>
          </a:xfrm>
          <a:prstGeom prst="rect">
            <a:avLst/>
          </a:prstGeom>
          <a:solidFill>
            <a:srgbClr val="FF3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9441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Our sustainability specialists join the project from day one.</a:t>
            </a:r>
          </a:p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For Juniper University, that means sustainability targets are set in the brief, not added at the end.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2262B"/>
                </a:solidFill>
              </a:defRPr>
            </a:pPr>
            <a:r>
              <a:rPr>
                <a:latin typeface="Arial"/>
              </a:rPr>
              <a:t>Expert insight: Acoustics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097280" cy="73152"/>
          </a:xfrm>
          <a:prstGeom prst="rect">
            <a:avLst/>
          </a:prstGeom>
          <a:solidFill>
            <a:srgbClr val="FF3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9441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Our acoustics specialists join the project from day one.</a:t>
            </a:r>
          </a:p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For Juniper University, that means acoustics targets are set in the brief, not added at the end.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2262B"/>
                </a:solidFill>
              </a:defRPr>
            </a:pPr>
            <a:r>
              <a:rPr>
                <a:latin typeface="Arial"/>
              </a:rPr>
              <a:t>Your team for Juniper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097280" cy="73152"/>
          </a:xfrm>
          <a:prstGeom prst="rect">
            <a:avLst/>
          </a:prstGeom>
          <a:solidFill>
            <a:srgbClr val="FF3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88720" y="1828800"/>
            <a:ext cx="1280160" cy="1280160"/>
          </a:xfrm>
          <a:prstGeom prst="ellipse">
            <a:avLst/>
          </a:prstGeom>
          <a:solidFill>
            <a:srgbClr val="E6E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91840"/>
            <a:ext cx="25603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rPr>
                <a:latin typeface="Arial"/>
              </a:rPr>
              <a:t>Elena Ortiz</a:t>
            </a:r>
          </a:p>
          <a:p>
            <a:pPr>
              <a:defRPr sz="14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Engineering Lead</a:t>
            </a:r>
          </a:p>
        </p:txBody>
      </p:sp>
      <p:sp>
        <p:nvSpPr>
          <p:cNvPr id="6" name="Oval 5"/>
          <p:cNvSpPr/>
          <p:nvPr/>
        </p:nvSpPr>
        <p:spPr>
          <a:xfrm>
            <a:off x="4023360" y="1828800"/>
            <a:ext cx="1280160" cy="1280160"/>
          </a:xfrm>
          <a:prstGeom prst="ellipse">
            <a:avLst/>
          </a:prstGeom>
          <a:solidFill>
            <a:srgbClr val="E6E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0" y="3291840"/>
            <a:ext cx="25603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rPr>
                <a:latin typeface="Arial"/>
              </a:rPr>
              <a:t>Sam Okafor</a:t>
            </a:r>
          </a:p>
          <a:p>
            <a:pPr>
              <a:defRPr sz="14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Sustainability Lead</a:t>
            </a:r>
          </a:p>
        </p:txBody>
      </p:sp>
      <p:sp>
        <p:nvSpPr>
          <p:cNvPr id="8" name="Oval 7"/>
          <p:cNvSpPr/>
          <p:nvPr/>
        </p:nvSpPr>
        <p:spPr>
          <a:xfrm>
            <a:off x="6858000" y="1828800"/>
            <a:ext cx="1280160" cy="1280160"/>
          </a:xfrm>
          <a:prstGeom prst="ellipse">
            <a:avLst/>
          </a:prstGeom>
          <a:solidFill>
            <a:srgbClr val="E6E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3291840"/>
            <a:ext cx="25603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rPr>
                <a:latin typeface="Arial"/>
              </a:rPr>
              <a:t>Lucia Romero</a:t>
            </a:r>
          </a:p>
          <a:p>
            <a:pPr>
              <a:defRPr sz="14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Design Lead</a:t>
            </a:r>
          </a:p>
        </p:txBody>
      </p:sp>
      <p:sp>
        <p:nvSpPr>
          <p:cNvPr id="10" name="Oval 9"/>
          <p:cNvSpPr/>
          <p:nvPr/>
        </p:nvSpPr>
        <p:spPr>
          <a:xfrm>
            <a:off x="9692640" y="1828800"/>
            <a:ext cx="1280160" cy="1280160"/>
          </a:xfrm>
          <a:prstGeom prst="ellipse">
            <a:avLst/>
          </a:prstGeom>
          <a:solidFill>
            <a:srgbClr val="E6E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0" y="3291840"/>
            <a:ext cx="25603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rPr>
                <a:latin typeface="Arial"/>
              </a:rPr>
              <a:t>Priya Raman</a:t>
            </a:r>
          </a:p>
          <a:p>
            <a:pPr>
              <a:defRPr sz="14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Project Manager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2262B"/>
                </a:solidFill>
              </a:defRPr>
            </a:pPr>
            <a:r>
              <a:rPr>
                <a:latin typeface="Arial"/>
              </a:rPr>
              <a:t>Case study: Atlas Logistics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097280" cy="73152"/>
          </a:xfrm>
          <a:prstGeom prst="rect">
            <a:avLst/>
          </a:prstGeom>
          <a:solidFill>
            <a:srgbClr val="FF3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9441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Sector: Logistics. Location: Dallas.</a:t>
            </a:r>
          </a:p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We delivered a hub office and training center, moving 308 people in 11 months.</a:t>
            </a:r>
          </a:p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Result: 28% more space used each day and a LEED Gold rating.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2262B"/>
                </a:solidFill>
              </a:defRPr>
            </a:pPr>
            <a:r>
              <a:rPr>
                <a:latin typeface="Arial"/>
              </a:rPr>
              <a:t>Why we're the right partner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097280" cy="73152"/>
          </a:xfrm>
          <a:prstGeom prst="rect">
            <a:avLst/>
          </a:prstGeom>
          <a:solidFill>
            <a:srgbClr val="FF3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9441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We've delivered 22 projects for education clients.</a:t>
            </a:r>
          </a:p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Our Austin studio is minutes from your site.</a:t>
            </a:r>
          </a:p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One team from strategy to move-in, so nothing gets lost between phases.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2262B"/>
                </a:solidFill>
              </a:defRPr>
            </a:pPr>
            <a:r>
              <a:rPr>
                <a:latin typeface="Arial"/>
              </a:rPr>
              <a:t>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097280" cy="73152"/>
          </a:xfrm>
          <a:prstGeom prst="rect">
            <a:avLst/>
          </a:prstGeom>
          <a:solidFill>
            <a:srgbClr val="FF3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9441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We'd welcome the chance to walk you through this proposal in person.</a:t>
            </a:r>
          </a:p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Contact: David Brooks, Austin studio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