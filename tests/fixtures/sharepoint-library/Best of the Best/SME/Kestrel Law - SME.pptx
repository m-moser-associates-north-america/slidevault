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>
                <a:latin typeface="Arial"/>
              </a:rPr>
              <a:t>Kestrel Law</a:t>
            </a:r>
          </a:p>
          <a:p>
            <a:pPr>
              <a:defRPr sz="2200">
                <a:solidFill>
                  <a:srgbClr val="FF3F0A"/>
                </a:solidFill>
              </a:defRPr>
            </a:pPr>
            <a:r>
              <a:rPr>
                <a:latin typeface="Arial"/>
              </a:rPr>
              <a:t>SME for a 12-floor law office in Washington DC</a:t>
            </a:r>
          </a:p>
          <a:p>
            <a:pPr>
              <a:defRPr sz="1600">
                <a:solidFill>
                  <a:srgbClr val="CCCCCC"/>
                </a:solidFill>
              </a:defRPr>
            </a:pPr>
            <a:r>
              <a:rPr>
                <a:latin typeface="Arial"/>
              </a:rPr>
              <a:t>Submitted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About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A global design and engineering practice working across workplace, hospitality and education.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Studios in 29 cities, with teams who design, engineer and deliver under one roof.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plan, design and build spaces that help organizations work better.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Expert insight: Wellbeing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Our wellbeing specialists join the project from day one.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For Kestrel Law, that means wellbeing targets are set in the brief, not added at the 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Expert insight: Lighting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Our lighting design specialists join the project from day one.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For Kestrel Law, that means lighting design targets are set in the brief, not added at the 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Your team for Kestrel Law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Priya Raman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Sustainability Lead</a:t>
            </a:r>
          </a:p>
        </p:txBody>
      </p:sp>
      <p:sp>
        <p:nvSpPr>
          <p:cNvPr id="6" name="Oval 5"/>
          <p:cNvSpPr/>
          <p:nvPr/>
        </p:nvSpPr>
        <p:spPr>
          <a:xfrm>
            <a:off x="402336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Tom Fischer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Project Director</a:t>
            </a:r>
          </a:p>
        </p:txBody>
      </p:sp>
      <p:sp>
        <p:nvSpPr>
          <p:cNvPr id="8" name="Oval 7"/>
          <p:cNvSpPr/>
          <p:nvPr/>
        </p:nvSpPr>
        <p:spPr>
          <a:xfrm>
            <a:off x="685800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David Brooks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Engineering Lead</a:t>
            </a:r>
          </a:p>
        </p:txBody>
      </p:sp>
      <p:sp>
        <p:nvSpPr>
          <p:cNvPr id="10" name="Oval 9"/>
          <p:cNvSpPr/>
          <p:nvPr/>
        </p:nvSpPr>
        <p:spPr>
          <a:xfrm>
            <a:off x="9692640" y="1828800"/>
            <a:ext cx="1280160" cy="1280160"/>
          </a:xfrm>
          <a:prstGeom prst="ellipse">
            <a:avLst/>
          </a:prstGeom>
          <a:solidFill>
            <a:srgbClr val="E6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329184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>
                <a:latin typeface="Arial"/>
              </a:rPr>
              <a:t>Marcus Lee</a:t>
            </a:r>
          </a:p>
          <a:p>
            <a:pPr>
              <a:defRPr sz="14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Project Manager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Case study: Halcyon Health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Sector: Healthcare. Location: Chicago.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 delivered an outpatient clinic network, moving 888 people in 11 months.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Result: 38% more space used each day and a LEED Gold rating.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Why we're the right partner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We've delivered 12 projects for legal clients.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Our Washington DC studio is minutes from your site.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One team from strategy to move-in, so nothing gets lost between phases.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2262B"/>
                </a:solidFill>
              </a:defRPr>
            </a:pPr>
            <a:r>
              <a:rPr>
                <a:latin typeface="Arial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97280" cy="73152"/>
          </a:xfrm>
          <a:prstGeom prst="rect">
            <a:avLst/>
          </a:prstGeom>
          <a:solidFill>
            <a:srgbClr val="FF3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We'd welcome the chance to walk you through this proposal in person.</a:t>
            </a:r>
          </a:p>
          <a:p>
            <a:pPr algn="l">
              <a:spcAft>
                <a:spcPts val="800"/>
              </a:spcAft>
              <a:defRPr sz="1800">
                <a:solidFill>
                  <a:srgbClr val="6B727A"/>
                </a:solidFill>
              </a:defRPr>
            </a:pPr>
            <a:r>
              <a:rPr>
                <a:latin typeface="Arial"/>
              </a:rPr>
              <a:t>Contact: Aisha Patel, Washington DC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