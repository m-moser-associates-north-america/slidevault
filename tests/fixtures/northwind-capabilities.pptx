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mention the 25-year anniversary only for long-standing clients.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never export this slide without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1A1A1A"/>
                </a:solidFill>
                <a:latin typeface="Arial"/>
              </a:rPr>
              <a:t>Northwind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A1A1A"/>
                </a:solidFill>
                <a:latin typeface="Arial"/>
              </a:rPr>
              <a:t>Workplace strategy and interior design since 1998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A1A1A"/>
                </a:solidFill>
                <a:latin typeface="Arial"/>
              </a:rPr>
              <a:t>Who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Arial"/>
              </a:rPr>
              <a:t>An independent studio of 140 designers, strategists and project managers.</a:t>
            </a:r>
          </a:p>
          <a:p>
            <a:r>
              <a:rPr sz="1800" b="0">
                <a:solidFill>
                  <a:srgbClr val="1A1A1A"/>
                </a:solidFill>
                <a:latin typeface="Arial"/>
              </a:rPr>
              <a:t>Offices in Lisbon, Toronto and Singapore.</a:t>
            </a:r>
          </a:p>
          <a:p>
            <a:r>
              <a:rPr sz="1800" b="0">
                <a:solidFill>
                  <a:srgbClr val="1A1A1A"/>
                </a:solidFill>
                <a:latin typeface="Arial"/>
              </a:rPr>
              <a:t>We design places where teams choose to work together.</a:t>
            </a:r>
          </a:p>
        </p:txBody>
      </p:sp>
      <p:pic>
        <p:nvPicPr>
          <p:cNvPr id="4" name="Picture 3" descr="_synthetic-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463040"/>
            <a:ext cx="402336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A1A1A"/>
                </a:solidFill>
                <a:latin typeface="Arial"/>
              </a:rPr>
              <a:t>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1A1A"/>
                </a:solidFill>
                <a:latin typeface="Arial"/>
              </a:rPr>
              <a:t>Workplace strategy and occupancy studies</a:t>
            </a:r>
          </a:p>
          <a:p>
            <a:r>
              <a:rPr sz="2200" b="0">
                <a:solidFill>
                  <a:srgbClr val="1A1A1A"/>
                </a:solidFill>
                <a:latin typeface="Arial"/>
              </a:rPr>
              <a:t>Concept and detailed interior design</a:t>
            </a:r>
          </a:p>
          <a:p>
            <a:r>
              <a:rPr sz="2200" b="0">
                <a:solidFill>
                  <a:srgbClr val="1A1A1A"/>
                </a:solidFill>
                <a:latin typeface="Arial"/>
              </a:rPr>
              <a:t>Change management for hybrid teams</a:t>
            </a:r>
          </a:p>
          <a:p>
            <a:r>
              <a:rPr sz="2200" b="0">
                <a:solidFill>
                  <a:srgbClr val="1A1A1A"/>
                </a:solidFill>
                <a:latin typeface="Arial"/>
              </a:rPr>
              <a:t>Project and cost management through handover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A1A1A"/>
                </a:solidFill>
                <a:latin typeface="Arial"/>
              </a:rPr>
              <a:t>Leadership team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Based in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Ines Calder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Managing principal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Lisbon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Tomas Reyna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Design 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Toronto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Priya Anand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Strategy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Singapore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A1A1A"/>
                </a:solidFill>
                <a:latin typeface="Arial"/>
              </a:rPr>
              <a:t>Internal: pricing guidance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Arial"/>
              </a:rPr>
              <a:t>Hidden slide. Not for client decks.</a:t>
            </a:r>
          </a:p>
          <a:p>
            <a:r>
              <a:rPr sz="1800" b="0">
                <a:solidFill>
                  <a:srgbClr val="1A1A1A"/>
                </a:solidFill>
                <a:latin typeface="Arial"/>
              </a:rPr>
              <a:t>Day rates and discount bands are agreed per pursuit.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A1A1A"/>
                </a:solidFill>
                <a:latin typeface="Arial"/>
              </a:rPr>
              <a:t>Our approach in four phases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194560"/>
            <a:ext cx="2560320" cy="1463040"/>
          </a:xfrm>
          <a:prstGeom prst="roundRect">
            <a:avLst/>
          </a:prstGeom>
          <a:solidFill>
            <a:srgbClr val="FF3F0A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>
                <a:solidFill>
                  <a:srgbClr val="1A1A1A"/>
                </a:solidFill>
                <a:latin typeface="Arial"/>
              </a:rPr>
              <a:t>1 · Listen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2194560"/>
            <a:ext cx="2560320" cy="1463040"/>
          </a:xfrm>
          <a:prstGeom prst="roundRect">
            <a:avLst/>
          </a:prstGeom>
          <a:solidFill>
            <a:srgbClr val="ECEEF1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>
                <a:solidFill>
                  <a:srgbClr val="1A1A1A"/>
                </a:solidFill>
                <a:latin typeface="Arial"/>
              </a:rPr>
              <a:t>2 · Frame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94560"/>
            <a:ext cx="2560320" cy="1463040"/>
          </a:xfrm>
          <a:prstGeom prst="roundRect">
            <a:avLst/>
          </a:prstGeom>
          <a:solidFill>
            <a:srgbClr val="ECEEF1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>
                <a:solidFill>
                  <a:srgbClr val="1A1A1A"/>
                </a:solidFill>
                <a:latin typeface="Arial"/>
              </a:rPr>
              <a:t>3 ·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2194560"/>
            <a:ext cx="2560320" cy="1463040"/>
          </a:xfrm>
          <a:prstGeom prst="roundRect">
            <a:avLst/>
          </a:prstGeom>
          <a:solidFill>
            <a:srgbClr val="ECEEF1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>
                <a:solidFill>
                  <a:srgbClr val="1A1A1A"/>
                </a:solidFill>
                <a:latin typeface="Arial"/>
              </a:rPr>
              <a:t>4 · Deliver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Northwind Studio capabilities</dc:title>
  <dc:subject/>
  <dc:creator>SlideVault fixtures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