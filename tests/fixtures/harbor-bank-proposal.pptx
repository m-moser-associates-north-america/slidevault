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Peak desk use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</c:v>
                </c:pt>
                <c:pt idx="1">
                  <c:v>41</c:v>
                </c:pt>
                <c:pt idx="2">
                  <c:v>39</c:v>
                </c:pt>
                <c:pt idx="3">
                  <c:v>36</c:v>
                </c:pt>
                <c:pt idx="4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source is the synthetic occupancy study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A1A1A"/>
                </a:solidFill>
                <a:latin typeface="Arial"/>
              </a:rPr>
              <a:t>Harbor Bank: headquarters consolidation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A1A"/>
                </a:solidFill>
                <a:latin typeface="Arial"/>
              </a:rPr>
              <a:t>Proposal prepared by Northwind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Arial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Arial"/>
              </a:rPr>
              <a:t>Three leased buildings with peak desk use of 41%.</a:t>
            </a:r>
          </a:p>
          <a:p>
            <a:r>
              <a:rPr sz="1800" b="0">
                <a:solidFill>
                  <a:srgbClr val="1A1A1A"/>
                </a:solidFill>
                <a:latin typeface="Arial"/>
              </a:rPr>
              <a:t>Teams split across sites lose time to travel and booking.</a:t>
            </a:r>
          </a:p>
          <a:p>
            <a:r>
              <a:rPr sz="1800" b="0">
                <a:solidFill>
                  <a:srgbClr val="1A1A1A"/>
                </a:solidFill>
                <a:latin typeface="Arial"/>
              </a:rPr>
              <a:t>Leases on two buildings end within 30 months.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Arial"/>
              </a:rPr>
              <a:t>Utilisation evidence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1A"/>
                </a:solidFill>
                <a:latin typeface="Arial"/>
              </a:rPr>
              <a:t>Sensor study, six weeks, 1,200 desks.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Arial"/>
              </a:rPr>
              <a:t>Recommended concept</a:t>
            </a:r>
          </a:p>
        </p:txBody>
      </p:sp>
      <p:pic>
        <p:nvPicPr>
          <p:cNvPr id="3" name="Picture 2" descr="_synthetic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4864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4630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A1A"/>
                </a:solidFill>
                <a:latin typeface="Arial"/>
              </a:rPr>
              <a:t>One address, organised around team neighbourhoods.</a:t>
            </a:r>
          </a:p>
          <a:p>
            <a:r>
              <a:rPr sz="1800" b="0">
                <a:solidFill>
                  <a:srgbClr val="1A1A1A"/>
                </a:solidFill>
                <a:latin typeface="Arial"/>
              </a:rPr>
              <a:t>Shared amenity floor at level 3.</a:t>
            </a:r>
          </a:p>
          <a:p>
            <a:r>
              <a:rPr sz="1800" b="0">
                <a:solidFill>
                  <a:srgbClr val="1A1A1A"/>
                </a:solidFill>
                <a:latin typeface="Arial"/>
              </a:rPr>
              <a:t>A 1:1.3 sharing ratio validated by the study.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 Bank HQ proposal</dc:title>
  <dc:subject/>
  <dc:creator>SlideVault fixtures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