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7_1438DA64.xml" ContentType="application/vnd.ms-powerpoint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modernComment_109_A454975D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1"/>
  </p:sldMasterIdLst>
  <p:notesMasterIdLst>
    <p:notesMasterId r:id="rId20"/>
  </p:notesMasterIdLst>
  <p:sldIdLst>
    <p:sldId id="2147479868" r:id="rId2"/>
    <p:sldId id="279" r:id="rId3"/>
    <p:sldId id="2147479856" r:id="rId4"/>
    <p:sldId id="262" r:id="rId5"/>
    <p:sldId id="263" r:id="rId6"/>
    <p:sldId id="2147479857" r:id="rId7"/>
    <p:sldId id="267" r:id="rId8"/>
    <p:sldId id="2147479866" r:id="rId9"/>
    <p:sldId id="265" r:id="rId10"/>
    <p:sldId id="2147479860" r:id="rId11"/>
    <p:sldId id="2147479865" r:id="rId12"/>
    <p:sldId id="2147479861" r:id="rId13"/>
    <p:sldId id="2147479858" r:id="rId14"/>
    <p:sldId id="2147479862" r:id="rId15"/>
    <p:sldId id="2147479863" r:id="rId16"/>
    <p:sldId id="2147479859" r:id="rId17"/>
    <p:sldId id="276" r:id="rId18"/>
    <p:sldId id="214747986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C078A1E-030F-1B5B-1CD9-F6AEFA13F28A}" name="ChelseaTerrell - M Moser Associates" initials="CT" userId="S::ChelseaT@mmoser.com::3ae05bb5-6c31-4a73-9640-fb9b90bb48a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5560"/>
    <a:srgbClr val="02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871"/>
    <p:restoredTop sz="94694"/>
  </p:normalViewPr>
  <p:slideViewPr>
    <p:cSldViewPr snapToGrid="0">
      <p:cViewPr>
        <p:scale>
          <a:sx n="96" d="100"/>
          <a:sy n="96" d="100"/>
        </p:scale>
        <p:origin x="-416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omments/modernComment_107_1438DA6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7A90BEC-9DB6-4B04-BCE6-E7D7D87DA15C}" authorId="{FC078A1E-030F-1B5B-1CD9-F6AEFA13F28A}" created="2026-08-03T15:28:36.629">
    <pc:sldMkLst xmlns:pc="http://schemas.microsoft.com/office/powerpoint/2013/main/command">
      <pc:docMk/>
      <pc:sldMk cId="339270244" sldId="263"/>
    </pc:sldMkLst>
    <p188:txBody>
      <a:bodyPr/>
      <a:lstStyle/>
      <a:p>
        <a:r>
          <a:rPr lang="en-US"/>
          <a:t>Added a few [@GabrielaAlegria - M Moser Associates] </a:t>
        </a:r>
      </a:p>
    </p188:txBody>
  </p188:cm>
</p188:cmLst>
</file>

<file path=ppt/comments/modernComment_109_A454975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D73B7D0-8F4B-4700-8863-EB400C4AD5E9}" authorId="{FC078A1E-030F-1B5B-1CD9-F6AEFA13F28A}" created="2026-08-03T18:47:03.056">
    <pc:sldMkLst xmlns:pc="http://schemas.microsoft.com/office/powerpoint/2013/main/command">
      <pc:docMk/>
      <pc:sldMk cId="2757007197" sldId="265"/>
    </pc:sldMkLst>
    <p188:txBody>
      <a:bodyPr/>
      <a:lstStyle/>
      <a:p>
        <a:r>
          <a:rPr lang="en-US"/>
          <a:t>What about changing content type titles a bit ? 
Approved source-of-truth content
Reusable high-quality content
Client-specific content
If so, we should change throughout ☺️
[@GabrielaAlegria - M Moser Associates] 
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425F37-7FED-1747-934F-EFCCE3554752}" type="datetimeFigureOut">
              <a:rPr lang="en-US" smtClean="0"/>
              <a:t>8/5/26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437CC7-F1D5-6041-B02D-3FF40B489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03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1929D-48E1-0B51-1629-80A0A5BCB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0EF63-9CD3-2EE8-3D19-24866BA542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A389BA-00AC-D6BB-2FEE-3A37AC960F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B57FA1-93CB-091C-2DEF-88B5D8604B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B8AF10-4AA0-7040-B71F-1C594E95CF2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9590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/>
              <a:t>What it contains. How you use it. What is working well. What is difficult about using it.</a:t>
            </a:r>
            <a:br>
              <a:rPr lang="en-CA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7CC7-F1D5-6041-B02D-3FF40B48956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5203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1929D-48E1-0B51-1629-80A0A5BCB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0EF63-9CD3-2EE8-3D19-24866BA542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A389BA-00AC-D6BB-2FEE-3A37AC960F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B57FA1-93CB-091C-2DEF-88B5D8604B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B8AF10-4AA0-7040-B71F-1C594E95CF2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42929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156541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46B7C-0E30-6931-8241-201C5CB08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700FE3-6612-1EC0-0896-236CA84CA0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5F397C-3270-D0E0-6AC7-609D18F7B0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fontAlgn="base"/>
            <a:r>
              <a:rPr lang="en-CA" sz="1800" b="0" i="0">
                <a:solidFill>
                  <a:srgbClr val="0E101A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</a:rPr>
              <a:t>This means every office can move faster and perform better because the behavioural understanding already exists. </a:t>
            </a:r>
            <a:endParaRPr lang="en-CA" b="0" i="0">
              <a:solidFill>
                <a:srgbClr val="00000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CA" sz="1800" b="0" i="0">
                <a:solidFill>
                  <a:srgbClr val="0E101A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</a:rPr>
              <a:t> </a:t>
            </a:r>
            <a:endParaRPr lang="en-CA" b="0" i="0">
              <a:solidFill>
                <a:srgbClr val="00000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CA" sz="1800" b="0" i="0">
                <a:solidFill>
                  <a:srgbClr val="0E101A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</a:rPr>
              <a:t>Vancouver became the foundation for many of the ideas later stretched across the broader portfolio. </a:t>
            </a:r>
            <a:endParaRPr lang="en-CA" b="0" i="0">
              <a:solidFill>
                <a:srgbClr val="00000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0D8960-2DD1-4115-1F62-BDBC87C97E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B8AF10-4AA0-7040-B71F-1C594E95CF2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08021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E6EAD-511A-9F7B-4D53-03F27DDDA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BD22D8-A8BA-7048-78E2-82A121E8B4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3F3F1C-92B3-8530-543D-62BEC380B3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72E8D-6885-AD4C-9996-0428B00650E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472034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8FDBE-0906-50CD-76D0-07F18268A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44F1E4-356B-DE5E-2D01-D1FF613E95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C2918F-D55D-6AC0-D2BA-A10B81F4CE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User-provided workflow context and M Moser proposal-process deck; no external sources.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C71B17-1E6C-EB07-213D-30FF2E23003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948495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095D0-004A-AD56-C89F-3B697F9B6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7A826F-7FDA-8F40-FDAC-8CC50B110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A90DB2-689C-2D5A-DB67-1625F1E8A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fontAlgn="base"/>
            <a:r>
              <a:rPr lang="en-CA" sz="1800" b="0" i="0">
                <a:solidFill>
                  <a:srgbClr val="0E101A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</a:rPr>
              <a:t>This means every office can move faster and perform better because the behavioural understanding already exists. </a:t>
            </a:r>
            <a:endParaRPr lang="en-CA" b="0" i="0">
              <a:solidFill>
                <a:srgbClr val="00000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CA" sz="1800" b="0" i="0">
                <a:solidFill>
                  <a:srgbClr val="0E101A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</a:rPr>
              <a:t> </a:t>
            </a:r>
            <a:endParaRPr lang="en-CA" b="0" i="0">
              <a:solidFill>
                <a:srgbClr val="00000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CA" sz="1800" b="0" i="0">
                <a:solidFill>
                  <a:srgbClr val="0E101A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</a:rPr>
              <a:t>Vancouver became the foundation for many of the ideas later stretched across the broader portfolio. </a:t>
            </a:r>
            <a:endParaRPr lang="en-CA" b="0" i="0">
              <a:solidFill>
                <a:srgbClr val="00000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9AB9F3-F3DC-216E-EE7A-D35BDBAC87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B8AF10-4AA0-7040-B71F-1C594E95CF2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09285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17E41-A62C-7259-1451-0F0754A55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EA65B8-64E1-2200-7DB6-FCB2A40445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06D02D-2F3D-F5EF-C59B-51892CAAAA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fontAlgn="base"/>
            <a:r>
              <a:rPr lang="en-CA" sz="1800" b="0" i="0">
                <a:solidFill>
                  <a:srgbClr val="0E101A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</a:rPr>
              <a:t>This means every office can move faster and perform better because the behavioural understanding already exists. </a:t>
            </a:r>
            <a:endParaRPr lang="en-CA" b="0" i="0">
              <a:solidFill>
                <a:srgbClr val="00000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CA" sz="1800" b="0" i="0">
                <a:solidFill>
                  <a:srgbClr val="0E101A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</a:rPr>
              <a:t> </a:t>
            </a:r>
            <a:endParaRPr lang="en-CA" b="0" i="0">
              <a:solidFill>
                <a:srgbClr val="00000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  <a:p>
            <a:pPr algn="l" rtl="0" fontAlgn="base"/>
            <a:r>
              <a:rPr lang="en-CA" sz="1800" b="0" i="0">
                <a:solidFill>
                  <a:srgbClr val="0E101A"/>
                </a:solidFill>
                <a:effectLst/>
                <a:highlight>
                  <a:srgbClr val="FFFFFF"/>
                </a:highlight>
                <a:latin typeface="Calibri" panose="020F0502020204030204" pitchFamily="34" charset="0"/>
              </a:rPr>
              <a:t>Vancouver became the foundation for many of the ideas later stretched across the broader portfolio. </a:t>
            </a:r>
            <a:endParaRPr lang="en-CA" b="0" i="0">
              <a:solidFill>
                <a:srgbClr val="00000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663927-8235-6595-621B-7B93743539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B8AF10-4AA0-7040-B71F-1C594E95CF2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6151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7159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062" y="763357"/>
            <a:ext cx="5192384" cy="4883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0061" y="1740103"/>
            <a:ext cx="5430664" cy="41195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991"/>
            </a:lvl1pPr>
            <a:lvl2pPr marL="452888" indent="0">
              <a:buNone/>
              <a:defRPr sz="991"/>
            </a:lvl2pPr>
            <a:lvl3pPr marL="905775" indent="0">
              <a:buNone/>
              <a:defRPr/>
            </a:lvl3pPr>
            <a:lvl4pPr marL="1358661" indent="0">
              <a:buNone/>
              <a:defRPr/>
            </a:lvl4pPr>
            <a:lvl5pPr marL="181154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6E9047-6FCD-4A44-A706-B728BC7D88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0061" y="1251730"/>
            <a:ext cx="3625405" cy="224142"/>
          </a:xfrm>
        </p:spPr>
        <p:txBody>
          <a:bodyPr>
            <a:noAutofit/>
          </a:bodyPr>
          <a:lstStyle>
            <a:lvl1pPr marL="0" indent="0">
              <a:buNone/>
              <a:defRPr sz="1189" b="0" i="0">
                <a:solidFill>
                  <a:schemeClr val="accent1"/>
                </a:solidFill>
                <a:latin typeface="Untitled Sans Medium" panose="020B0503030202060203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9696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41"/>
            <a:ext cx="10515600" cy="2852737"/>
          </a:xfrm>
        </p:spPr>
        <p:txBody>
          <a:bodyPr anchor="b">
            <a:normAutofit/>
          </a:bodyPr>
          <a:lstStyle>
            <a:lvl1pPr>
              <a:defRPr sz="224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6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378">
                <a:solidFill>
                  <a:schemeClr val="tx1">
                    <a:tint val="75000"/>
                  </a:schemeClr>
                </a:solidFill>
              </a:defRPr>
            </a:lvl1pPr>
            <a:lvl2pPr marL="452888" indent="0">
              <a:buNone/>
              <a:defRPr sz="1981">
                <a:solidFill>
                  <a:schemeClr val="tx1">
                    <a:tint val="75000"/>
                  </a:schemeClr>
                </a:solidFill>
              </a:defRPr>
            </a:lvl2pPr>
            <a:lvl3pPr marL="905775" indent="0">
              <a:buNone/>
              <a:defRPr sz="1784">
                <a:solidFill>
                  <a:schemeClr val="tx1">
                    <a:tint val="75000"/>
                  </a:schemeClr>
                </a:solidFill>
              </a:defRPr>
            </a:lvl3pPr>
            <a:lvl4pPr marL="1358661" indent="0">
              <a:buNone/>
              <a:defRPr sz="1585">
                <a:solidFill>
                  <a:schemeClr val="tx1">
                    <a:tint val="75000"/>
                  </a:schemeClr>
                </a:solidFill>
              </a:defRPr>
            </a:lvl4pPr>
            <a:lvl5pPr marL="1811549" indent="0">
              <a:buNone/>
              <a:defRPr sz="1585">
                <a:solidFill>
                  <a:schemeClr val="tx1">
                    <a:tint val="75000"/>
                  </a:schemeClr>
                </a:solidFill>
              </a:defRPr>
            </a:lvl5pPr>
            <a:lvl6pPr marL="2264436" indent="0">
              <a:buNone/>
              <a:defRPr sz="1585">
                <a:solidFill>
                  <a:schemeClr val="tx1">
                    <a:tint val="75000"/>
                  </a:schemeClr>
                </a:solidFill>
              </a:defRPr>
            </a:lvl6pPr>
            <a:lvl7pPr marL="2717322" indent="0">
              <a:buNone/>
              <a:defRPr sz="1585">
                <a:solidFill>
                  <a:schemeClr val="tx1">
                    <a:tint val="75000"/>
                  </a:schemeClr>
                </a:solidFill>
              </a:defRPr>
            </a:lvl7pPr>
            <a:lvl8pPr marL="3170209" indent="0">
              <a:buNone/>
              <a:defRPr sz="1585">
                <a:solidFill>
                  <a:schemeClr val="tx1">
                    <a:tint val="75000"/>
                  </a:schemeClr>
                </a:solidFill>
              </a:defRPr>
            </a:lvl8pPr>
            <a:lvl9pPr marL="3623097" indent="0">
              <a:buNone/>
              <a:defRPr sz="158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39166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172" y="1468375"/>
            <a:ext cx="5113659" cy="43672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68375"/>
            <a:ext cx="5181600" cy="436721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66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24522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7294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51967" y="291937"/>
            <a:ext cx="2743200" cy="365125"/>
          </a:xfrm>
          <a:prstGeom prst="rect">
            <a:avLst/>
          </a:prstGeom>
        </p:spPr>
        <p:txBody>
          <a:bodyPr/>
          <a:lstStyle/>
          <a:p>
            <a:fld id="{A5C811E6-4F09-4302-88FD-6CFDACE70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483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2" y="1122363"/>
            <a:ext cx="9144000" cy="2387600"/>
          </a:xfrm>
        </p:spPr>
        <p:txBody>
          <a:bodyPr anchor="b"/>
          <a:lstStyle>
            <a:lvl1pPr algn="ctr">
              <a:defRPr sz="594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2" y="3602038"/>
            <a:ext cx="9144000" cy="1655762"/>
          </a:xfrm>
        </p:spPr>
        <p:txBody>
          <a:bodyPr/>
          <a:lstStyle>
            <a:lvl1pPr marL="0" indent="0" algn="ctr">
              <a:buNone/>
              <a:defRPr sz="2378"/>
            </a:lvl1pPr>
            <a:lvl2pPr marL="453000" indent="0" algn="ctr">
              <a:buNone/>
              <a:defRPr sz="1981"/>
            </a:lvl2pPr>
            <a:lvl3pPr marL="906001" indent="0" algn="ctr">
              <a:buNone/>
              <a:defRPr sz="1784"/>
            </a:lvl3pPr>
            <a:lvl4pPr marL="1359000" indent="0" algn="ctr">
              <a:buNone/>
              <a:defRPr sz="1585"/>
            </a:lvl4pPr>
            <a:lvl5pPr marL="1812001" indent="0" algn="ctr">
              <a:buNone/>
              <a:defRPr sz="1585"/>
            </a:lvl5pPr>
            <a:lvl6pPr marL="2265001" indent="0" algn="ctr">
              <a:buNone/>
              <a:defRPr sz="1585"/>
            </a:lvl6pPr>
            <a:lvl7pPr marL="2718002" indent="0" algn="ctr">
              <a:buNone/>
              <a:defRPr sz="1585"/>
            </a:lvl7pPr>
            <a:lvl8pPr marL="3171003" indent="0" algn="ctr">
              <a:buNone/>
              <a:defRPr sz="1585"/>
            </a:lvl8pPr>
            <a:lvl9pPr marL="3624003" indent="0" algn="ctr">
              <a:buNone/>
              <a:defRPr sz="1585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809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420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030" y="832527"/>
            <a:ext cx="6307706" cy="4883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282" y="1761592"/>
            <a:ext cx="10515600" cy="4119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991"/>
            </a:lvl1pPr>
            <a:lvl2pPr>
              <a:defRPr sz="991"/>
            </a:lvl2pPr>
            <a:lvl3pPr>
              <a:defRPr sz="991"/>
            </a:lvl3pPr>
            <a:lvl4pPr>
              <a:defRPr sz="991"/>
            </a:lvl4pPr>
            <a:lvl5pPr>
              <a:defRPr sz="99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D38FC44-B029-404D-8F14-6CBFADCFE30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fld id="{A4BC329B-26EF-0B4E-A24B-700027FF0C2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6E9047-6FCD-4A44-A706-B728BC7D88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4031" y="1352938"/>
            <a:ext cx="3658553" cy="22414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189" b="0" i="0">
                <a:solidFill>
                  <a:schemeClr val="bg1">
                    <a:lumMod val="50000"/>
                  </a:schemeClr>
                </a:solidFill>
                <a:latin typeface="Untitled Sans Medium" panose="020B0503030202060203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21258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74" b="1" i="0">
                <a:solidFill>
                  <a:schemeClr val="bg1"/>
                </a:solidFill>
                <a:latin typeface="Untitled Sans Bold"/>
                <a:cs typeface="Untitled Sans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1" y="1577341"/>
            <a:ext cx="5303520" cy="1646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1"/>
            <a:ext cx="5303520" cy="1646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019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061" y="763357"/>
            <a:ext cx="4245384" cy="4883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8171" y="2057402"/>
            <a:ext cx="5430664" cy="4119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189"/>
            </a:lvl1pPr>
            <a:lvl2pPr marL="452888" indent="0">
              <a:buNone/>
              <a:defRPr sz="991"/>
            </a:lvl2pPr>
            <a:lvl3pPr marL="905775" indent="0">
              <a:buNone/>
              <a:defRPr/>
            </a:lvl3pPr>
            <a:lvl4pPr marL="1358661" indent="0">
              <a:buNone/>
              <a:defRPr/>
            </a:lvl4pPr>
            <a:lvl5pPr marL="181154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51967" y="291937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991"/>
            </a:lvl1pPr>
          </a:lstStyle>
          <a:p>
            <a:fld id="{A4BC329B-26EF-0B4E-A24B-700027FF0C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6E9047-6FCD-4A44-A706-B728BC7D88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8171" y="1612597"/>
            <a:ext cx="3625405" cy="224142"/>
          </a:xfrm>
        </p:spPr>
        <p:txBody>
          <a:bodyPr>
            <a:noAutofit/>
          </a:bodyPr>
          <a:lstStyle>
            <a:lvl1pPr marL="0" indent="0">
              <a:buNone/>
              <a:defRPr sz="1387" b="0" i="0">
                <a:solidFill>
                  <a:schemeClr val="bg1">
                    <a:lumMod val="50000"/>
                  </a:schemeClr>
                </a:solidFill>
                <a:latin typeface="Untitled Sans Medium" panose="020B0503030202060203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99761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061" y="763357"/>
            <a:ext cx="4245384" cy="4883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8171" y="2057402"/>
            <a:ext cx="5430664" cy="41195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D38FC44-B029-404D-8F14-6CBFADCFE304}" type="datetimeFigureOut">
              <a:rPr lang="en-US" smtClean="0"/>
              <a:t>8/5/26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1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51967" y="291937"/>
            <a:ext cx="2743200" cy="365125"/>
          </a:xfrm>
          <a:prstGeom prst="rect">
            <a:avLst/>
          </a:prstGeom>
        </p:spPr>
        <p:txBody>
          <a:bodyPr/>
          <a:lstStyle/>
          <a:p>
            <a:fld id="{A4BC329B-26EF-0B4E-A24B-700027FF0C2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6E9047-6FCD-4A44-A706-B728BC7D88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8171" y="1612597"/>
            <a:ext cx="3625405" cy="224142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>
                    <a:lumMod val="50000"/>
                  </a:schemeClr>
                </a:solidFill>
                <a:latin typeface="Untitled Sans Medium" panose="020B0503030202060203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4E6EABD-2F1D-8C42-B4C2-C94416734E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312004" y="3429000"/>
            <a:ext cx="457319" cy="457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716193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8173E-FDC5-4A11-8E7D-F9661596D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60" y="409006"/>
            <a:ext cx="5607070" cy="30810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2757FE-F092-4A12-80B9-3DFC87F3D7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051967" y="291937"/>
            <a:ext cx="2743200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38292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2123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76431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17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171"/>
            </a:lvl1pPr>
            <a:lvl2pPr>
              <a:defRPr sz="2775"/>
            </a:lvl2pPr>
            <a:lvl3pPr>
              <a:defRPr sz="2378"/>
            </a:lvl3pPr>
            <a:lvl4pPr>
              <a:defRPr sz="1981"/>
            </a:lvl4pPr>
            <a:lvl5pPr>
              <a:defRPr sz="1981"/>
            </a:lvl5pPr>
            <a:lvl6pPr>
              <a:defRPr sz="1981"/>
            </a:lvl6pPr>
            <a:lvl7pPr>
              <a:defRPr sz="1981"/>
            </a:lvl7pPr>
            <a:lvl8pPr>
              <a:defRPr sz="1981"/>
            </a:lvl8pPr>
            <a:lvl9pPr>
              <a:defRPr sz="19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8"/>
          </a:xfrm>
        </p:spPr>
        <p:txBody>
          <a:bodyPr/>
          <a:lstStyle>
            <a:lvl1pPr marL="0" indent="0">
              <a:buNone/>
              <a:defRPr sz="1585"/>
            </a:lvl1pPr>
            <a:lvl2pPr marL="453021" indent="0">
              <a:buNone/>
              <a:defRPr sz="1387"/>
            </a:lvl2pPr>
            <a:lvl3pPr marL="906043" indent="0">
              <a:buNone/>
              <a:defRPr sz="1189"/>
            </a:lvl3pPr>
            <a:lvl4pPr marL="1359064" indent="0">
              <a:buNone/>
              <a:defRPr sz="991"/>
            </a:lvl4pPr>
            <a:lvl5pPr marL="1812086" indent="0">
              <a:buNone/>
              <a:defRPr sz="991"/>
            </a:lvl5pPr>
            <a:lvl6pPr marL="2265107" indent="0">
              <a:buNone/>
              <a:defRPr sz="991"/>
            </a:lvl6pPr>
            <a:lvl7pPr marL="2718128" indent="0">
              <a:buNone/>
              <a:defRPr sz="991"/>
            </a:lvl7pPr>
            <a:lvl8pPr marL="3171149" indent="0">
              <a:buNone/>
              <a:defRPr sz="991"/>
            </a:lvl8pPr>
            <a:lvl9pPr marL="3624171" indent="0">
              <a:buNone/>
              <a:defRPr sz="99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Discovery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CED59-B22C-4BCC-B040-83B856A9E98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2872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6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01348" y="2673194"/>
            <a:ext cx="8989305" cy="4207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11" b="0" i="0">
                <a:solidFill>
                  <a:schemeClr val="bg1"/>
                </a:solidFill>
                <a:latin typeface="Untitled Sans Regular"/>
                <a:cs typeface="Untitled Sans Regula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09414" y="3710046"/>
            <a:ext cx="8573172" cy="42075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11" b="0" i="0">
                <a:solidFill>
                  <a:schemeClr val="bg1"/>
                </a:solidFill>
                <a:latin typeface="Untitled Sans Regular"/>
                <a:cs typeface="Untitled Sans Regular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948536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ight Grey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98049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2236" y="2956273"/>
            <a:ext cx="9847533" cy="769891"/>
          </a:xfrm>
        </p:spPr>
        <p:txBody>
          <a:bodyPr lIns="0" tIns="0" rIns="0" bIns="0"/>
          <a:lstStyle>
            <a:lvl1pPr>
              <a:defRPr sz="4957" b="1" i="1">
                <a:solidFill>
                  <a:schemeClr val="bg1"/>
                </a:solidFill>
                <a:latin typeface="Untitled Sans Bold Italic"/>
                <a:cs typeface="Untitled Sans Bold Ital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0440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Holder 2">
            <a:extLst>
              <a:ext uri="{FF2B5EF4-FFF2-40B4-BE49-F238E27FC236}">
                <a16:creationId xmlns:a16="http://schemas.microsoft.com/office/drawing/2014/main" id="{32A1246C-BED3-4136-AAD3-F86CD8969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165" y="388684"/>
            <a:ext cx="7001753" cy="329940"/>
          </a:xfrm>
          <a:prstGeom prst="rect">
            <a:avLst/>
          </a:prstGeom>
        </p:spPr>
        <p:txBody>
          <a:bodyPr lIns="0" tIns="0" rIns="0" bIns="0"/>
          <a:lstStyle>
            <a:lvl1pPr>
              <a:defRPr sz="2156" b="1" i="0" u="none" kern="0" spc="-90" baseline="0" dirty="0">
                <a:solidFill>
                  <a:srgbClr val="000000"/>
                </a:solidFill>
                <a:latin typeface="Untitled Sans Bold" panose="020B0503030202060203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91934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0">
          <p15:clr>
            <a:srgbClr val="FBAE40"/>
          </p15:clr>
        </p15:guide>
        <p15:guide id="2" pos="7441">
          <p15:clr>
            <a:srgbClr val="FBAE40"/>
          </p15:clr>
        </p15:guide>
        <p15:guide id="3" pos="7518">
          <p15:clr>
            <a:srgbClr val="FBAE40"/>
          </p15:clr>
        </p15:guide>
        <p15:guide id="4" pos="7595">
          <p15:clr>
            <a:srgbClr val="FBAE40"/>
          </p15:clr>
        </p15:guide>
        <p15:guide id="5" pos="80">
          <p15:clr>
            <a:srgbClr val="FBAE40"/>
          </p15:clr>
        </p15:guide>
        <p15:guide id="6" pos="160">
          <p15:clr>
            <a:srgbClr val="FBAE40"/>
          </p15:clr>
        </p15:guide>
        <p15:guide id="7" pos="245">
          <p15:clr>
            <a:srgbClr val="FBAE40"/>
          </p15:clr>
        </p15:guide>
        <p15:guide id="8" orient="horz" pos="160">
          <p15:clr>
            <a:srgbClr val="FBAE40"/>
          </p15:clr>
        </p15:guide>
        <p15:guide id="9" orient="horz" pos="238">
          <p15:clr>
            <a:srgbClr val="FBAE40"/>
          </p15:clr>
        </p15:guide>
        <p15:guide id="10" orient="horz" pos="4066">
          <p15:clr>
            <a:srgbClr val="FBAE40"/>
          </p15:clr>
        </p15:guide>
        <p15:guide id="11" orient="horz" pos="4238">
          <p15:clr>
            <a:srgbClr val="FBAE40"/>
          </p15:clr>
        </p15:guide>
        <p15:guide id="12" orient="horz" pos="415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300" y="301627"/>
            <a:ext cx="11228704" cy="561975"/>
          </a:xfrm>
        </p:spPr>
        <p:txBody>
          <a:bodyPr>
            <a:normAutofit/>
          </a:bodyPr>
          <a:lstStyle>
            <a:lvl1pPr marL="0" algn="l" defTabSz="448881" rtl="0" eaLnBrk="1" latinLnBrk="0" hangingPunct="1">
              <a:defRPr lang="en-US" sz="2749" b="1" kern="1200" dirty="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5001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Oval 2150">
            <a:extLst>
              <a:ext uri="{FF2B5EF4-FFF2-40B4-BE49-F238E27FC236}">
                <a16:creationId xmlns:a16="http://schemas.microsoft.com/office/drawing/2014/main" id="{806171FD-9D98-1F47-8BA5-FDEA9C176D7D}"/>
              </a:ext>
            </a:extLst>
          </p:cNvPr>
          <p:cNvSpPr/>
          <p:nvPr userDrawn="1"/>
        </p:nvSpPr>
        <p:spPr>
          <a:xfrm>
            <a:off x="7006743" y="-1422812"/>
            <a:ext cx="6483017" cy="6482562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70000">
                <a:schemeClr val="bg1">
                  <a:alpha val="13012"/>
                </a:schemeClr>
              </a:gs>
              <a:gs pos="89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82"/>
          </a:p>
        </p:txBody>
      </p:sp>
    </p:spTree>
    <p:extLst>
      <p:ext uri="{BB962C8B-B14F-4D97-AF65-F5344CB8AC3E}">
        <p14:creationId xmlns:p14="http://schemas.microsoft.com/office/powerpoint/2010/main" val="24979214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61C4F-0F66-7524-FE6A-2934C1E0E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170497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01611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8425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062" y="763357"/>
            <a:ext cx="5192384" cy="4883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0061" y="1740103"/>
            <a:ext cx="5430664" cy="41195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991"/>
            </a:lvl1pPr>
            <a:lvl2pPr marL="452888" indent="0">
              <a:buNone/>
              <a:defRPr sz="991"/>
            </a:lvl2pPr>
            <a:lvl3pPr marL="905775" indent="0">
              <a:buNone/>
              <a:defRPr/>
            </a:lvl3pPr>
            <a:lvl4pPr marL="1358661" indent="0">
              <a:buNone/>
              <a:defRPr/>
            </a:lvl4pPr>
            <a:lvl5pPr marL="181154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6E9047-6FCD-4A44-A706-B728BC7D88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0061" y="1251730"/>
            <a:ext cx="3625405" cy="224142"/>
          </a:xfrm>
        </p:spPr>
        <p:txBody>
          <a:bodyPr>
            <a:noAutofit/>
          </a:bodyPr>
          <a:lstStyle>
            <a:lvl1pPr marL="0" indent="0">
              <a:buNone/>
              <a:defRPr sz="1189" b="0" i="0">
                <a:solidFill>
                  <a:schemeClr val="accent1"/>
                </a:solidFill>
                <a:latin typeface="Untitled Sans Medium" panose="020B0503030202060203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8807063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8420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062" y="763357"/>
            <a:ext cx="5192384" cy="4883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0061" y="1740103"/>
            <a:ext cx="5430664" cy="41195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991"/>
            </a:lvl1pPr>
            <a:lvl2pPr marL="452888" indent="0">
              <a:buNone/>
              <a:defRPr sz="991"/>
            </a:lvl2pPr>
            <a:lvl3pPr marL="905775" indent="0">
              <a:buNone/>
              <a:defRPr/>
            </a:lvl3pPr>
            <a:lvl4pPr marL="1358661" indent="0">
              <a:buNone/>
              <a:defRPr/>
            </a:lvl4pPr>
            <a:lvl5pPr marL="181154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6E9047-6FCD-4A44-A706-B728BC7D88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0061" y="1251730"/>
            <a:ext cx="3625405" cy="224142"/>
          </a:xfrm>
        </p:spPr>
        <p:txBody>
          <a:bodyPr>
            <a:noAutofit/>
          </a:bodyPr>
          <a:lstStyle>
            <a:lvl1pPr marL="0" indent="0">
              <a:buNone/>
              <a:defRPr sz="1189" b="0" i="0">
                <a:solidFill>
                  <a:schemeClr val="accent1"/>
                </a:solidFill>
                <a:latin typeface="Untitled Sans Medium" panose="020B0503030202060203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547431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03694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Light Grey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15404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9375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51967" y="291937"/>
            <a:ext cx="2743200" cy="365125"/>
          </a:xfrm>
          <a:prstGeom prst="rect">
            <a:avLst/>
          </a:prstGeom>
        </p:spPr>
        <p:txBody>
          <a:bodyPr/>
          <a:lstStyle/>
          <a:p>
            <a:fld id="{A5C811E6-4F09-4302-88FD-6CFDACE70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8985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Light Grey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6056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64697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Light Grey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32738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51967" y="291937"/>
            <a:ext cx="2743200" cy="365125"/>
          </a:xfrm>
          <a:prstGeom prst="rect">
            <a:avLst/>
          </a:prstGeom>
        </p:spPr>
        <p:txBody>
          <a:bodyPr/>
          <a:lstStyle/>
          <a:p>
            <a:fld id="{A5C811E6-4F09-4302-88FD-6CFDACE70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11167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062" y="763357"/>
            <a:ext cx="5192384" cy="4883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0061" y="1740103"/>
            <a:ext cx="5430664" cy="41195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991"/>
            </a:lvl1pPr>
            <a:lvl2pPr marL="452888" indent="0">
              <a:buNone/>
              <a:defRPr sz="991"/>
            </a:lvl2pPr>
            <a:lvl3pPr marL="905775" indent="0">
              <a:buNone/>
              <a:defRPr/>
            </a:lvl3pPr>
            <a:lvl4pPr marL="1358661" indent="0">
              <a:buNone/>
              <a:defRPr/>
            </a:lvl4pPr>
            <a:lvl5pPr marL="181154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6E9047-6FCD-4A44-A706-B728BC7D88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0061" y="1251730"/>
            <a:ext cx="3625405" cy="224142"/>
          </a:xfrm>
        </p:spPr>
        <p:txBody>
          <a:bodyPr>
            <a:noAutofit/>
          </a:bodyPr>
          <a:lstStyle>
            <a:lvl1pPr marL="0" indent="0">
              <a:buNone/>
              <a:defRPr sz="1189" b="0" i="0">
                <a:solidFill>
                  <a:schemeClr val="accent1"/>
                </a:solidFill>
                <a:latin typeface="Untitled Sans Medium" panose="020B0503030202060203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92709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6100" y="3892749"/>
            <a:ext cx="6057900" cy="2387600"/>
          </a:xfrm>
          <a:prstGeom prst="rect">
            <a:avLst/>
          </a:prstGeom>
        </p:spPr>
        <p:txBody>
          <a:bodyPr anchor="b"/>
          <a:lstStyle>
            <a:lvl1pPr algn="l">
              <a:defRPr sz="5351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0514173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00280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062" y="763357"/>
            <a:ext cx="5192384" cy="4883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0061" y="1740103"/>
            <a:ext cx="5430664" cy="41195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991"/>
            </a:lvl1pPr>
            <a:lvl2pPr marL="452888" indent="0">
              <a:buNone/>
              <a:defRPr sz="991"/>
            </a:lvl2pPr>
            <a:lvl3pPr marL="905775" indent="0">
              <a:buNone/>
              <a:defRPr/>
            </a:lvl3pPr>
            <a:lvl4pPr marL="1358661" indent="0">
              <a:buNone/>
              <a:defRPr/>
            </a:lvl4pPr>
            <a:lvl5pPr marL="181154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6E9047-6FCD-4A44-A706-B728BC7D88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0061" y="1251730"/>
            <a:ext cx="3625405" cy="224142"/>
          </a:xfrm>
        </p:spPr>
        <p:txBody>
          <a:bodyPr>
            <a:noAutofit/>
          </a:bodyPr>
          <a:lstStyle>
            <a:lvl1pPr marL="0" indent="0">
              <a:buNone/>
              <a:defRPr sz="1189" b="0" i="0">
                <a:solidFill>
                  <a:schemeClr val="accent1"/>
                </a:solidFill>
                <a:latin typeface="Untitled Sans Medium" panose="020B0503030202060203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619295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Light Grey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44424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B424D53-EA82-49E6-AD2E-469A8F23F2AB}"/>
              </a:ext>
            </a:extLst>
          </p:cNvPr>
          <p:cNvSpPr txBox="1">
            <a:spLocks/>
          </p:cNvSpPr>
          <p:nvPr userDrawn="1"/>
        </p:nvSpPr>
        <p:spPr>
          <a:xfrm>
            <a:off x="11640437" y="6542702"/>
            <a:ext cx="326906" cy="152562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914400" rtl="0" eaLnBrk="1" latinLnBrk="0" hangingPunct="1">
              <a:defRPr lang="en-US" sz="9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Swis721 Cn BT" panose="020B050602020203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84C846C-EA1E-4742-8B5A-F97C94598643}" type="slidenum">
              <a:rPr lang="en-SG" sz="899">
                <a:solidFill>
                  <a:prstClr val="black">
                    <a:lumMod val="75000"/>
                    <a:lumOff val="25000"/>
                  </a:prstClr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SG" sz="899">
              <a:solidFill>
                <a:prstClr val="black">
                  <a:lumMod val="75000"/>
                  <a:lumOff val="25000"/>
                </a:prst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ED34AEE9-4E17-42D2-890B-D553DD7BD9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1649078" y="162738"/>
            <a:ext cx="326905" cy="3269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1282223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4F5A80-B4AA-4391-8B35-A80EC0E0A93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8630" y="365126"/>
            <a:ext cx="235472" cy="235472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" name="Holder 2">
            <a:extLst>
              <a:ext uri="{FF2B5EF4-FFF2-40B4-BE49-F238E27FC236}">
                <a16:creationId xmlns:a16="http://schemas.microsoft.com/office/drawing/2014/main" id="{965B92A7-EE67-4CED-AA89-32628FF85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602" y="470457"/>
            <a:ext cx="11067197" cy="554914"/>
          </a:xfrm>
        </p:spPr>
        <p:txBody>
          <a:bodyPr lIns="0" tIns="0" rIns="0" bIns="0" anchor="ctr">
            <a:normAutofit/>
          </a:bodyPr>
          <a:lstStyle>
            <a:lvl1pPr marL="107013">
              <a:defRPr sz="2477" b="0" i="0" spc="-149">
                <a:solidFill>
                  <a:schemeClr val="tx1"/>
                </a:solidFill>
                <a:latin typeface="Untitled Sans Medium" panose="020B0503030202060203" pitchFamily="34" charset="0"/>
                <a:cs typeface="Untitled Sans Medium" panose="020B0503030202060203" pitchFamily="34" charset="0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6505720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2">
            <a:extLst>
              <a:ext uri="{FF2B5EF4-FFF2-40B4-BE49-F238E27FC236}">
                <a16:creationId xmlns:a16="http://schemas.microsoft.com/office/drawing/2014/main" id="{5ED1F3B8-71AA-4A66-9EBB-8D6F84A2F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602" y="470457"/>
            <a:ext cx="11067197" cy="554914"/>
          </a:xfrm>
        </p:spPr>
        <p:txBody>
          <a:bodyPr lIns="0" tIns="0" rIns="0" bIns="0" anchor="ctr">
            <a:normAutofit/>
          </a:bodyPr>
          <a:lstStyle>
            <a:lvl1pPr marL="107013">
              <a:defRPr sz="2477" b="0" i="0" spc="-149">
                <a:solidFill>
                  <a:schemeClr val="tx1"/>
                </a:solidFill>
                <a:latin typeface="Untitled Sans Medium" panose="020B0503030202060203" pitchFamily="34" charset="0"/>
                <a:cs typeface="Untitled Sans Medium" panose="020B0503030202060203" pitchFamily="34" charset="0"/>
              </a:defRPr>
            </a:lvl1pPr>
          </a:lstStyle>
          <a:p>
            <a:endParaRPr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BAFEA853-19D0-4C6F-869A-E122E94019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9002" y="957286"/>
            <a:ext cx="11067199" cy="2710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1486">
                <a:solidFill>
                  <a:schemeClr val="tx1"/>
                </a:solidFill>
                <a:latin typeface="Untitled Sans Light" panose="020B0303030202060203" pitchFamily="34" charset="0"/>
              </a:defRPr>
            </a:lvl1pPr>
          </a:lstStyle>
          <a:p>
            <a:pPr lvl="0"/>
            <a:r>
              <a:rPr lang="en-US"/>
              <a:t>Sub Heading Text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1F8105-4AE9-4910-B6E1-16C43CB5F5B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8630" y="365126"/>
            <a:ext cx="235472" cy="235472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9473614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Light Grey">
    <p:bg>
      <p:bgPr>
        <a:solidFill>
          <a:srgbClr val="EDED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5674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Page">
    <p:bg>
      <p:bgPr>
        <a:solidFill>
          <a:srgbClr val="F3EB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46100" y="3892750"/>
            <a:ext cx="6057900" cy="1479351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280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369D0E-8C56-9017-89A2-2D565C45C5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6100" y="5509260"/>
            <a:ext cx="6057900" cy="852488"/>
          </a:xfrm>
        </p:spPr>
        <p:txBody>
          <a:bodyPr>
            <a:normAutofit/>
          </a:bodyPr>
          <a:lstStyle>
            <a:lvl1pPr marL="0" indent="0">
              <a:buNone/>
              <a:defRPr sz="1426" b="0" i="0">
                <a:latin typeface="Untitled Sans Light" panose="020B0303030202060203" pitchFamily="34" charset="77"/>
              </a:defRPr>
            </a:lvl1pPr>
            <a:lvl2pPr marL="407719" indent="0">
              <a:buNone/>
              <a:defRPr/>
            </a:lvl2pPr>
            <a:lvl3pPr marL="815438" indent="0">
              <a:buNone/>
              <a:defRPr/>
            </a:lvl3pPr>
            <a:lvl4pPr marL="1223158" indent="0">
              <a:buNone/>
              <a:defRPr/>
            </a:lvl4pPr>
            <a:lvl5pPr marL="1630877" indent="0">
              <a:buNone/>
              <a:defRPr/>
            </a:lvl5pPr>
          </a:lstStyle>
          <a:p>
            <a:pPr lvl="0"/>
            <a:r>
              <a:rPr lang="en-US"/>
              <a:t>Short section description</a:t>
            </a:r>
          </a:p>
        </p:txBody>
      </p:sp>
    </p:spTree>
    <p:extLst>
      <p:ext uri="{BB962C8B-B14F-4D97-AF65-F5344CB8AC3E}">
        <p14:creationId xmlns:p14="http://schemas.microsoft.com/office/powerpoint/2010/main" val="128936475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Cover 20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4"/>
          <p:cNvSpPr>
            <a:spLocks noGrp="1"/>
          </p:cNvSpPr>
          <p:nvPr>
            <p:ph type="pic" sz="quarter" idx="20"/>
          </p:nvPr>
        </p:nvSpPr>
        <p:spPr>
          <a:xfrm>
            <a:off x="1" y="0"/>
            <a:ext cx="12191998" cy="6858000"/>
          </a:xfrm>
          <a:prstGeom prst="rect">
            <a:avLst/>
          </a:prstGeom>
          <a:effectLst/>
        </p:spPr>
        <p:txBody>
          <a:bodyPr lIns="99569" tIns="49785" rIns="99569" bIns="49785"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lang="en-SG" sz="989" b="0">
                <a:latin typeface="Maison Neue" panose="02000000000000000000" pitchFamily="2" charset="0"/>
                <a:ea typeface="Roboto" panose="02000000000000000000" pitchFamily="2" charset="0"/>
              </a:defRPr>
            </a:lvl1pPr>
          </a:lstStyle>
          <a:p>
            <a:pPr marL="325752" lvl="0" indent="-325752"/>
            <a:r>
              <a:rPr lang="en-US"/>
              <a:t>Click icon to add picture</a:t>
            </a:r>
            <a:endParaRPr lang="en-SG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5679497-9C51-4589-972A-B9BCD7F28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23" y="5398884"/>
            <a:ext cx="2920608" cy="226793"/>
          </a:xfrm>
          <a:prstGeom prst="rect">
            <a:avLst/>
          </a:prstGeom>
          <a:noFill/>
        </p:spPr>
        <p:txBody>
          <a:bodyPr vert="horz" wrap="none" lIns="0" tIns="0" rIns="0" bIns="0" rtlCol="0" anchor="b">
            <a:spAutoFit/>
          </a:bodyPr>
          <a:lstStyle>
            <a:lvl1pPr algn="l">
              <a:lnSpc>
                <a:spcPct val="80000"/>
              </a:lnSpc>
              <a:defRPr lang="en-SG" sz="1797" spc="27">
                <a:solidFill>
                  <a:schemeClr val="bg1"/>
                </a:solidFill>
                <a:highlight>
                  <a:srgbClr val="000000"/>
                </a:highlight>
                <a:latin typeface="Maison Neue" panose="02000000000000000000" pitchFamily="2" charset="0"/>
                <a:ea typeface="+mn-ea"/>
                <a:cs typeface="Maison Neue" panose="02000000000000000000" pitchFamily="2" charset="0"/>
              </a:defRPr>
            </a:lvl1pPr>
          </a:lstStyle>
          <a:p>
            <a:pPr marL="11415" lvl="0" algn="l" defTabSz="894603"/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0341195-9657-44EB-8F74-27BAB299685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2266" y="5649824"/>
            <a:ext cx="1259640" cy="9957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>
            <a:lvl1pPr marL="11415" indent="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SG" sz="719" b="0" cap="all" spc="90" baseline="0" dirty="0">
                <a:solidFill>
                  <a:schemeClr val="bg1"/>
                </a:solidFill>
                <a:highlight>
                  <a:srgbClr val="000000"/>
                </a:highlight>
                <a:latin typeface="Maison Neue" panose="02000000000000000000" pitchFamily="2" charset="0"/>
                <a:ea typeface="Roboto" panose="02000000000000000000" pitchFamily="2" charset="0"/>
                <a:cs typeface="Maison Neue" panose="02000000000000000000" pitchFamily="2" charset="0"/>
              </a:defRPr>
            </a:lvl1pPr>
          </a:lstStyle>
          <a:p>
            <a:pPr marL="165533" lvl="0" indent="-154119" defTabSz="894603">
              <a:spcBef>
                <a:spcPts val="845"/>
              </a:spcBef>
            </a:pPr>
            <a:r>
              <a:rPr lang="en-US"/>
              <a:t>Edit Master text styles</a:t>
            </a:r>
            <a:endParaRPr lang="en-SG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310ABFF-BF7B-4B96-9EC1-82AA47C6F11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-709324" y="162739"/>
            <a:ext cx="627224" cy="99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lvl1pPr marL="0" indent="0" algn="r">
              <a:buNone/>
              <a:defRPr lang="en-US" sz="719" spc="18" smtClean="0">
                <a:solidFill>
                  <a:srgbClr val="0070C0"/>
                </a:solidFill>
                <a:latin typeface="Maison Neue" panose="02000000000000000000" pitchFamily="2" charset="0"/>
                <a:ea typeface="Roboto" panose="02000000000000000000" pitchFamily="2" charset="0"/>
                <a:cs typeface="Arial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SG"/>
            </a:lvl5pPr>
          </a:lstStyle>
          <a:p>
            <a:pPr marL="325752" lvl="0" indent="-325752" algn="r" defTabSz="894691">
              <a:spcAft>
                <a:spcPts val="90"/>
              </a:spcAft>
            </a:pPr>
            <a:r>
              <a:rPr lang="en-US"/>
              <a:t>Company Name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20481375-0CAD-4BD5-A627-1566EFDEEC3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847118" y="1468955"/>
            <a:ext cx="765018" cy="99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lvl1pPr marL="325752" indent="-325752" algn="r" defTabSz="894691">
              <a:spcAft>
                <a:spcPts val="90"/>
              </a:spcAft>
              <a:buNone/>
              <a:defRPr lang="en-US" sz="719" spc="18" smtClean="0">
                <a:solidFill>
                  <a:srgbClr val="FF0000"/>
                </a:solidFill>
                <a:latin typeface="Maison Neue" panose="02000000000000000000" pitchFamily="2" charset="0"/>
                <a:ea typeface="Roboto" panose="02000000000000000000" pitchFamily="2" charset="0"/>
                <a:cs typeface="Arial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SG"/>
            </a:lvl5pPr>
          </a:lstStyle>
          <a:p>
            <a:pPr marL="325752" lvl="0" indent="-325752" algn="r" defTabSz="894691">
              <a:spcAft>
                <a:spcPts val="90"/>
              </a:spcAft>
            </a:pPr>
            <a:r>
              <a:rPr lang="en-US"/>
              <a:t>Restrictions (if any)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320CB13B-E37F-468A-B20A-471F6B3B332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-466053" y="2122785"/>
            <a:ext cx="383952" cy="99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lvl1pPr marL="325752" indent="-325752" algn="r" defTabSz="894691">
              <a:spcAft>
                <a:spcPts val="90"/>
              </a:spcAft>
              <a:buNone/>
              <a:defRPr lang="en-US" sz="719" spc="18" smtClean="0">
                <a:solidFill>
                  <a:schemeClr val="tx1">
                    <a:lumMod val="85000"/>
                    <a:lumOff val="15000"/>
                  </a:schemeClr>
                </a:solidFill>
                <a:latin typeface="Maison Neue" panose="02000000000000000000" pitchFamily="2" charset="0"/>
                <a:ea typeface="Roboto" panose="02000000000000000000" pitchFamily="2" charset="0"/>
                <a:cs typeface="Arial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SG"/>
            </a:lvl5pPr>
          </a:lstStyle>
          <a:p>
            <a:pPr marL="325752" lvl="0" indent="-325752" algn="r" defTabSz="894691">
              <a:spcAft>
                <a:spcPts val="90"/>
              </a:spcAft>
            </a:pPr>
            <a:r>
              <a:rPr lang="en-US"/>
              <a:t>Keywords</a:t>
            </a:r>
          </a:p>
        </p:txBody>
      </p:sp>
    </p:spTree>
    <p:extLst>
      <p:ext uri="{BB962C8B-B14F-4D97-AF65-F5344CB8AC3E}">
        <p14:creationId xmlns:p14="http://schemas.microsoft.com/office/powerpoint/2010/main" val="21049309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x2 Mont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4"/>
          <p:cNvSpPr>
            <a:spLocks noGrp="1"/>
          </p:cNvSpPr>
          <p:nvPr>
            <p:ph type="pic" sz="quarter" idx="14"/>
          </p:nvPr>
        </p:nvSpPr>
        <p:spPr>
          <a:xfrm>
            <a:off x="6154274" y="3494679"/>
            <a:ext cx="5813069" cy="3200538"/>
          </a:xfrm>
          <a:prstGeom prst="rect">
            <a:avLst/>
          </a:prstGeom>
          <a:effectLst/>
        </p:spPr>
        <p:txBody>
          <a:bodyPr lIns="99569" tIns="49785" rIns="99569" bIns="49785"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lang="en-SG" sz="989" b="0">
                <a:latin typeface="Maison Neue" panose="02000000000000000000" pitchFamily="2" charset="0"/>
                <a:ea typeface="Roboto" panose="02000000000000000000" pitchFamily="2" charset="0"/>
              </a:defRPr>
            </a:lvl1pPr>
          </a:lstStyle>
          <a:p>
            <a:pPr marL="325752" lvl="0" indent="-325752"/>
            <a:r>
              <a:rPr lang="en-US"/>
              <a:t>Click icon to add picture</a:t>
            </a:r>
            <a:endParaRPr lang="en-SG"/>
          </a:p>
        </p:txBody>
      </p:sp>
      <p:sp>
        <p:nvSpPr>
          <p:cNvPr id="22" name="Picture Placeholder 4"/>
          <p:cNvSpPr>
            <a:spLocks noGrp="1"/>
          </p:cNvSpPr>
          <p:nvPr>
            <p:ph type="pic" sz="quarter" idx="20"/>
          </p:nvPr>
        </p:nvSpPr>
        <p:spPr>
          <a:xfrm>
            <a:off x="217458" y="162737"/>
            <a:ext cx="5813069" cy="3200538"/>
          </a:xfrm>
          <a:prstGeom prst="rect">
            <a:avLst/>
          </a:prstGeom>
          <a:effectLst/>
        </p:spPr>
        <p:txBody>
          <a:bodyPr lIns="99569" tIns="49785" rIns="99569" bIns="49785"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lang="en-SG" sz="989" b="0">
                <a:latin typeface="Maison Neue" panose="02000000000000000000" pitchFamily="2" charset="0"/>
                <a:ea typeface="Roboto" panose="02000000000000000000" pitchFamily="2" charset="0"/>
              </a:defRPr>
            </a:lvl1pPr>
          </a:lstStyle>
          <a:p>
            <a:pPr marL="325752" lvl="0" indent="-325752"/>
            <a:r>
              <a:rPr lang="en-US"/>
              <a:t>Click icon to add picture</a:t>
            </a:r>
            <a:endParaRPr lang="en-SG"/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9"/>
          </p:nvPr>
        </p:nvSpPr>
        <p:spPr>
          <a:xfrm>
            <a:off x="6154274" y="162737"/>
            <a:ext cx="5813069" cy="3200538"/>
          </a:xfrm>
          <a:prstGeom prst="rect">
            <a:avLst/>
          </a:prstGeom>
          <a:effectLst/>
        </p:spPr>
        <p:txBody>
          <a:bodyPr lIns="99569" tIns="49785" rIns="99569" bIns="49785"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lang="en-SG" sz="989" b="0" dirty="0">
                <a:latin typeface="Maison Neue" panose="02000000000000000000" pitchFamily="2" charset="0"/>
                <a:ea typeface="Roboto" panose="02000000000000000000" pitchFamily="2" charset="0"/>
              </a:defRPr>
            </a:lvl1pPr>
          </a:lstStyle>
          <a:p>
            <a:pPr marL="325752" lvl="0" indent="-325752"/>
            <a:r>
              <a:rPr lang="en-US"/>
              <a:t>Click icon to add picture</a:t>
            </a:r>
            <a:endParaRPr lang="en-SG"/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17"/>
          </p:nvPr>
        </p:nvSpPr>
        <p:spPr>
          <a:xfrm>
            <a:off x="217458" y="3494678"/>
            <a:ext cx="5813069" cy="3200538"/>
          </a:xfrm>
          <a:prstGeom prst="rect">
            <a:avLst/>
          </a:prstGeom>
          <a:effectLst/>
        </p:spPr>
        <p:txBody>
          <a:bodyPr lIns="99569" tIns="49785" rIns="99569" bIns="49785" anchor="ctr">
            <a:normAutofit/>
          </a:bodyPr>
          <a:lstStyle>
            <a:lvl1pPr marL="0" indent="0" algn="ctr">
              <a:buNone/>
              <a:defRPr lang="en-SG" sz="989" b="0" dirty="0">
                <a:latin typeface="Maison Neue" panose="02000000000000000000" pitchFamily="2" charset="0"/>
                <a:ea typeface="Roboto" panose="02000000000000000000" pitchFamily="2" charset="0"/>
              </a:defRPr>
            </a:lvl1pPr>
          </a:lstStyle>
          <a:p>
            <a:pPr marL="325752" lvl="0" indent="-325752"/>
            <a:r>
              <a:rPr lang="en-US"/>
              <a:t>Click icon to add picture</a:t>
            </a:r>
            <a:endParaRPr lang="en-SG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276162D-6276-44F8-AD63-713659744C5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-709324" y="162739"/>
            <a:ext cx="627224" cy="99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lvl1pPr marL="0" indent="0" algn="r">
              <a:buNone/>
              <a:defRPr lang="en-US" sz="719" spc="18" smtClean="0">
                <a:solidFill>
                  <a:srgbClr val="0070C0"/>
                </a:solidFill>
                <a:latin typeface="Maison Neue" panose="02000000000000000000" pitchFamily="2" charset="0"/>
                <a:ea typeface="Roboto" panose="02000000000000000000" pitchFamily="2" charset="0"/>
                <a:cs typeface="Arial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SG"/>
            </a:lvl5pPr>
          </a:lstStyle>
          <a:p>
            <a:pPr marL="325752" lvl="0" indent="-325752" algn="r" defTabSz="894691">
              <a:spcAft>
                <a:spcPts val="90"/>
              </a:spcAft>
            </a:pPr>
            <a:r>
              <a:rPr lang="en-US"/>
              <a:t>Company Name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C3100AC-31E6-4C90-AED6-443417FB66A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-847118" y="1468955"/>
            <a:ext cx="765018" cy="99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lvl1pPr marL="325752" indent="-325752" algn="r" defTabSz="894691">
              <a:spcAft>
                <a:spcPts val="90"/>
              </a:spcAft>
              <a:buNone/>
              <a:defRPr lang="en-US" sz="719" spc="18" smtClean="0">
                <a:solidFill>
                  <a:srgbClr val="FF0000"/>
                </a:solidFill>
                <a:latin typeface="Maison Neue" panose="02000000000000000000" pitchFamily="2" charset="0"/>
                <a:ea typeface="Roboto" panose="02000000000000000000" pitchFamily="2" charset="0"/>
                <a:cs typeface="Arial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SG"/>
            </a:lvl5pPr>
          </a:lstStyle>
          <a:p>
            <a:pPr marL="325752" lvl="0" indent="-325752" algn="r" defTabSz="894691">
              <a:spcAft>
                <a:spcPts val="90"/>
              </a:spcAft>
            </a:pPr>
            <a:r>
              <a:rPr lang="en-US"/>
              <a:t>Restrictions (if any)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9FBF21-66EA-4A12-B4D5-A5E9ED8C0C9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-466053" y="2122785"/>
            <a:ext cx="383952" cy="995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rtlCol="0">
            <a:spAutoFit/>
          </a:bodyPr>
          <a:lstStyle>
            <a:lvl1pPr marL="325752" indent="-325752" algn="r" defTabSz="894691">
              <a:spcAft>
                <a:spcPts val="90"/>
              </a:spcAft>
              <a:buNone/>
              <a:defRPr lang="en-US" sz="719" spc="18" smtClean="0">
                <a:solidFill>
                  <a:schemeClr val="tx1">
                    <a:lumMod val="85000"/>
                    <a:lumOff val="15000"/>
                  </a:schemeClr>
                </a:solidFill>
                <a:latin typeface="Maison Neue" panose="02000000000000000000" pitchFamily="2" charset="0"/>
                <a:ea typeface="Roboto" panose="02000000000000000000" pitchFamily="2" charset="0"/>
                <a:cs typeface="Arial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SG"/>
            </a:lvl5pPr>
          </a:lstStyle>
          <a:p>
            <a:pPr marL="325752" lvl="0" indent="-325752" algn="r" defTabSz="894691">
              <a:spcAft>
                <a:spcPts val="90"/>
              </a:spcAft>
            </a:pPr>
            <a:r>
              <a:rPr lang="en-US"/>
              <a:t>Keywords</a:t>
            </a:r>
          </a:p>
        </p:txBody>
      </p:sp>
    </p:spTree>
    <p:extLst>
      <p:ext uri="{BB962C8B-B14F-4D97-AF65-F5344CB8AC3E}">
        <p14:creationId xmlns:p14="http://schemas.microsoft.com/office/powerpoint/2010/main" val="313433319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442914" y="6267450"/>
            <a:ext cx="6048978" cy="259545"/>
          </a:xfrm>
        </p:spPr>
        <p:txBody>
          <a:bodyPr lIns="0" rIns="0">
            <a:noAutofit/>
          </a:bodyPr>
          <a:lstStyle>
            <a:lvl1pPr marL="0" indent="0" algn="l">
              <a:buNone/>
              <a:defRPr lang="en-US" sz="1387" kern="1200" dirty="0">
                <a:solidFill>
                  <a:prstClr val="black"/>
                </a:solidFill>
                <a:latin typeface="Untitled Sans Light" panose="020B0303030202060203" pitchFamily="34" charset="0"/>
                <a:ea typeface="Microsoft YaHei Light" panose="020B0502040204020203" pitchFamily="34" charset="-122"/>
                <a:cs typeface="Arial" panose="020B0604020202020204" pitchFamily="34" charset="0"/>
              </a:defRPr>
            </a:lvl1pPr>
            <a:lvl2pPr marL="453030" indent="0" algn="ctr">
              <a:buNone/>
              <a:defRPr sz="1981"/>
            </a:lvl2pPr>
            <a:lvl3pPr marL="906059" indent="0" algn="ctr">
              <a:buNone/>
              <a:defRPr sz="1784"/>
            </a:lvl3pPr>
            <a:lvl4pPr marL="1359090" indent="0" algn="ctr">
              <a:buNone/>
              <a:defRPr sz="1585"/>
            </a:lvl4pPr>
            <a:lvl5pPr marL="1812120" indent="0" algn="ctr">
              <a:buNone/>
              <a:defRPr sz="1585"/>
            </a:lvl5pPr>
            <a:lvl6pPr marL="2265150" indent="0" algn="ctr">
              <a:buNone/>
              <a:defRPr sz="1585"/>
            </a:lvl6pPr>
            <a:lvl7pPr marL="2718179" indent="0" algn="ctr">
              <a:buNone/>
              <a:defRPr sz="1585"/>
            </a:lvl7pPr>
            <a:lvl8pPr marL="3171210" indent="0" algn="ctr">
              <a:buNone/>
              <a:defRPr sz="1585"/>
            </a:lvl8pPr>
            <a:lvl9pPr marL="3624239" indent="0" algn="ctr">
              <a:buNone/>
              <a:defRPr sz="1585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E88D3F5C-E814-45D2-99FA-E3F33033627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7301076" cy="3895213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2156"/>
            </a:lvl1pPr>
          </a:lstStyle>
          <a:p>
            <a:pPr lvl="0"/>
            <a:endParaRPr lang="en-US" noProof="0"/>
          </a:p>
        </p:txBody>
      </p:sp>
      <p:sp>
        <p:nvSpPr>
          <p:cNvPr id="31" name="Picture Placeholder 3">
            <a:extLst>
              <a:ext uri="{FF2B5EF4-FFF2-40B4-BE49-F238E27FC236}">
                <a16:creationId xmlns:a16="http://schemas.microsoft.com/office/drawing/2014/main" id="{E88D3F5C-E814-45D2-99FA-E3F33033627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-2" y="3972345"/>
            <a:ext cx="3598387" cy="1745131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2156"/>
            </a:lvl1pPr>
          </a:lstStyle>
          <a:p>
            <a:pPr lvl="0"/>
            <a:endParaRPr lang="en-US" noProof="0"/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E88D3F5C-E814-45D2-99FA-E3F33033627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702688" y="3972345"/>
            <a:ext cx="3598387" cy="1745131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2156"/>
            </a:lvl1pPr>
          </a:lstStyle>
          <a:p>
            <a:pPr lvl="0"/>
            <a:endParaRPr lang="en-US" noProof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E88D3F5C-E814-45D2-99FA-E3F33033627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97143" y="-1"/>
            <a:ext cx="4794858" cy="2819208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2156"/>
            </a:lvl1pPr>
          </a:lstStyle>
          <a:p>
            <a:pPr lvl="0"/>
            <a:endParaRPr lang="en-US" noProof="0"/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E88D3F5C-E814-45D2-99FA-E3F33033627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397143" y="2898268"/>
            <a:ext cx="4794858" cy="2819208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2156"/>
            </a:lvl1pPr>
          </a:lstStyle>
          <a:p>
            <a:pPr lvl="0"/>
            <a:endParaRPr lang="en-US" noProof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C9125BF-BCBC-4ABD-B8A1-4E8200527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2914" y="5867965"/>
            <a:ext cx="11306174" cy="3847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460774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52199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Only">
    <p:bg>
      <p:bgPr>
        <a:solidFill>
          <a:srgbClr val="F4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F835AD4-F804-140F-0EE9-F368CB6ED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256" y="1004879"/>
            <a:ext cx="5386739" cy="1009651"/>
          </a:xfrm>
        </p:spPr>
        <p:txBody>
          <a:bodyPr anchor="t">
            <a:noAutofit/>
          </a:bodyPr>
          <a:lstStyle>
            <a:lvl1pPr algn="l" defTabSz="8154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280" kern="1200" dirty="0">
                <a:solidFill>
                  <a:schemeClr val="tx1"/>
                </a:solidFill>
                <a:latin typeface="Bebas Neue" panose="020B0606020202050201" pitchFamily="34" charset="77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9469580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769497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7315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0062" y="763357"/>
            <a:ext cx="5192384" cy="48837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70061" y="1740103"/>
            <a:ext cx="5430664" cy="411956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991"/>
            </a:lvl1pPr>
            <a:lvl2pPr marL="452888" indent="0">
              <a:buNone/>
              <a:defRPr sz="991"/>
            </a:lvl2pPr>
            <a:lvl3pPr marL="905775" indent="0">
              <a:buNone/>
              <a:defRPr/>
            </a:lvl3pPr>
            <a:lvl4pPr marL="1358661" indent="0">
              <a:buNone/>
              <a:defRPr/>
            </a:lvl4pPr>
            <a:lvl5pPr marL="1811549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D6E9047-6FCD-4A44-A706-B728BC7D88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0061" y="1251730"/>
            <a:ext cx="3625405" cy="224142"/>
          </a:xfrm>
        </p:spPr>
        <p:txBody>
          <a:bodyPr>
            <a:noAutofit/>
          </a:bodyPr>
          <a:lstStyle>
            <a:lvl1pPr marL="0" indent="0">
              <a:buNone/>
              <a:defRPr sz="1189" b="0" i="0">
                <a:solidFill>
                  <a:schemeClr val="accent1"/>
                </a:solidFill>
                <a:latin typeface="Untitled Sans Medium" panose="020B0503030202060203" pitchFamily="34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7161040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Page">
    <p:bg>
      <p:bgPr>
        <a:solidFill>
          <a:srgbClr val="F3EB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46100" y="3892750"/>
            <a:ext cx="6057900" cy="1479351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280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369D0E-8C56-9017-89A2-2D565C45C5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6100" y="5509260"/>
            <a:ext cx="6057900" cy="852488"/>
          </a:xfrm>
        </p:spPr>
        <p:txBody>
          <a:bodyPr>
            <a:normAutofit/>
          </a:bodyPr>
          <a:lstStyle>
            <a:lvl1pPr marL="0" indent="0">
              <a:buNone/>
              <a:defRPr sz="1426" b="0" i="0">
                <a:latin typeface="Untitled Sans Light" panose="020B0303030202060203" pitchFamily="34" charset="77"/>
              </a:defRPr>
            </a:lvl1pPr>
            <a:lvl2pPr marL="407719" indent="0">
              <a:buNone/>
              <a:defRPr/>
            </a:lvl2pPr>
            <a:lvl3pPr marL="815438" indent="0">
              <a:buNone/>
              <a:defRPr/>
            </a:lvl3pPr>
            <a:lvl4pPr marL="1223158" indent="0">
              <a:buNone/>
              <a:defRPr/>
            </a:lvl4pPr>
            <a:lvl5pPr marL="1630877" indent="0">
              <a:buNone/>
              <a:defRPr/>
            </a:lvl5pPr>
          </a:lstStyle>
          <a:p>
            <a:pPr lvl="0"/>
            <a:r>
              <a:rPr lang="en-US"/>
              <a:t>Short section description</a:t>
            </a:r>
          </a:p>
        </p:txBody>
      </p:sp>
    </p:spTree>
    <p:extLst>
      <p:ext uri="{BB962C8B-B14F-4D97-AF65-F5344CB8AC3E}">
        <p14:creationId xmlns:p14="http://schemas.microsoft.com/office/powerpoint/2010/main" val="300783892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42282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4397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image" Target="../media/image2.png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0062" y="762002"/>
            <a:ext cx="5468774" cy="488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0062" y="1403045"/>
            <a:ext cx="5425900" cy="41121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AE7611-5563-3B4F-BC98-A478FBCD204E}"/>
              </a:ext>
            </a:extLst>
          </p:cNvPr>
          <p:cNvPicPr>
            <a:picLocks noChangeAspect="1"/>
          </p:cNvPicPr>
          <p:nvPr userDrawn="1"/>
        </p:nvPicPr>
        <p:blipFill>
          <a:blip r:embed="rId60"/>
          <a:stretch>
            <a:fillRect/>
          </a:stretch>
        </p:blipFill>
        <p:spPr>
          <a:xfrm>
            <a:off x="11685059" y="6341370"/>
            <a:ext cx="253471" cy="2534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0D4D0BE-0446-88CB-860C-13EDF8BBC2CC}"/>
              </a:ext>
            </a:extLst>
          </p:cNvPr>
          <p:cNvSpPr/>
          <p:nvPr userDrawn="1"/>
        </p:nvSpPr>
        <p:spPr>
          <a:xfrm>
            <a:off x="-517959" y="0"/>
            <a:ext cx="471660" cy="467576"/>
          </a:xfrm>
          <a:prstGeom prst="rect">
            <a:avLst/>
          </a:prstGeom>
          <a:solidFill>
            <a:srgbClr val="2D2A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32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80DF7E-C05B-38E6-FAB9-0DADB8F36AC6}"/>
              </a:ext>
            </a:extLst>
          </p:cNvPr>
          <p:cNvSpPr/>
          <p:nvPr userDrawn="1"/>
        </p:nvSpPr>
        <p:spPr>
          <a:xfrm>
            <a:off x="-517959" y="467576"/>
            <a:ext cx="471660" cy="467576"/>
          </a:xfrm>
          <a:prstGeom prst="rect">
            <a:avLst/>
          </a:prstGeom>
          <a:solidFill>
            <a:srgbClr val="797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32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EDD137-F722-6B8F-A54A-A36FCCE46356}"/>
              </a:ext>
            </a:extLst>
          </p:cNvPr>
          <p:cNvSpPr/>
          <p:nvPr userDrawn="1"/>
        </p:nvSpPr>
        <p:spPr>
          <a:xfrm>
            <a:off x="-517959" y="935152"/>
            <a:ext cx="471660" cy="467576"/>
          </a:xfrm>
          <a:prstGeom prst="rect">
            <a:avLst/>
          </a:prstGeom>
          <a:solidFill>
            <a:srgbClr val="D9D8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32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5CAA5C-EA80-3D65-B8F4-E9631A27F69C}"/>
              </a:ext>
            </a:extLst>
          </p:cNvPr>
          <p:cNvSpPr/>
          <p:nvPr userDrawn="1"/>
        </p:nvSpPr>
        <p:spPr>
          <a:xfrm>
            <a:off x="-517959" y="1402728"/>
            <a:ext cx="471660" cy="467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32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8DE14C-C42A-00B8-8B9E-AF43BAF239B6}"/>
              </a:ext>
            </a:extLst>
          </p:cNvPr>
          <p:cNvSpPr/>
          <p:nvPr userDrawn="1"/>
        </p:nvSpPr>
        <p:spPr>
          <a:xfrm>
            <a:off x="-517959" y="1870304"/>
            <a:ext cx="471660" cy="467576"/>
          </a:xfrm>
          <a:prstGeom prst="rect">
            <a:avLst/>
          </a:prstGeom>
          <a:solidFill>
            <a:srgbClr val="F125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32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A861C8-8F30-BAA8-FEC3-CF24D091A7B7}"/>
              </a:ext>
            </a:extLst>
          </p:cNvPr>
          <p:cNvSpPr/>
          <p:nvPr userDrawn="1"/>
        </p:nvSpPr>
        <p:spPr>
          <a:xfrm>
            <a:off x="-517959" y="2337880"/>
            <a:ext cx="471660" cy="467576"/>
          </a:xfrm>
          <a:prstGeom prst="rect">
            <a:avLst/>
          </a:prstGeom>
          <a:solidFill>
            <a:srgbClr val="FF8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32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281061-FBE8-0291-E791-C48699F3F193}"/>
              </a:ext>
            </a:extLst>
          </p:cNvPr>
          <p:cNvSpPr/>
          <p:nvPr userDrawn="1"/>
        </p:nvSpPr>
        <p:spPr>
          <a:xfrm>
            <a:off x="-517959" y="2781601"/>
            <a:ext cx="471660" cy="467576"/>
          </a:xfrm>
          <a:prstGeom prst="rect">
            <a:avLst/>
          </a:prstGeom>
          <a:solidFill>
            <a:srgbClr val="FFC5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32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853725-46FE-EE3E-94DC-852D72F928A5}"/>
              </a:ext>
            </a:extLst>
          </p:cNvPr>
          <p:cNvSpPr/>
          <p:nvPr userDrawn="1"/>
        </p:nvSpPr>
        <p:spPr>
          <a:xfrm>
            <a:off x="-517959" y="3225322"/>
            <a:ext cx="471660" cy="467576"/>
          </a:xfrm>
          <a:prstGeom prst="rect">
            <a:avLst/>
          </a:prstGeom>
          <a:solidFill>
            <a:srgbClr val="FEA5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32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EB84F6-4217-24B9-D51C-76F994F16EB0}"/>
              </a:ext>
            </a:extLst>
          </p:cNvPr>
          <p:cNvSpPr/>
          <p:nvPr userDrawn="1"/>
        </p:nvSpPr>
        <p:spPr>
          <a:xfrm>
            <a:off x="-517959" y="3669043"/>
            <a:ext cx="471660" cy="467576"/>
          </a:xfrm>
          <a:prstGeom prst="rect">
            <a:avLst/>
          </a:prstGeom>
          <a:solidFill>
            <a:srgbClr val="08C6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32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E492AE-57BE-D5B0-1AF2-4262AE7E14A1}"/>
              </a:ext>
            </a:extLst>
          </p:cNvPr>
          <p:cNvSpPr/>
          <p:nvPr userDrawn="1"/>
        </p:nvSpPr>
        <p:spPr>
          <a:xfrm>
            <a:off x="-517959" y="4112764"/>
            <a:ext cx="471660" cy="467576"/>
          </a:xfrm>
          <a:prstGeom prst="rect">
            <a:avLst/>
          </a:prstGeom>
          <a:solidFill>
            <a:srgbClr val="01A6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32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024D1E-8E41-1519-4DFE-C057A26ED800}"/>
              </a:ext>
            </a:extLst>
          </p:cNvPr>
          <p:cNvSpPr/>
          <p:nvPr userDrawn="1"/>
        </p:nvSpPr>
        <p:spPr>
          <a:xfrm>
            <a:off x="-517959" y="4556485"/>
            <a:ext cx="471660" cy="467576"/>
          </a:xfrm>
          <a:prstGeom prst="rect">
            <a:avLst/>
          </a:prstGeom>
          <a:solidFill>
            <a:srgbClr val="3FD3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32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5EEC4E-AC9D-37CD-A068-78039C37282E}"/>
              </a:ext>
            </a:extLst>
          </p:cNvPr>
          <p:cNvSpPr/>
          <p:nvPr userDrawn="1"/>
        </p:nvSpPr>
        <p:spPr>
          <a:xfrm>
            <a:off x="-517959" y="5000206"/>
            <a:ext cx="471660" cy="467576"/>
          </a:xfrm>
          <a:prstGeom prst="rect">
            <a:avLst/>
          </a:prstGeom>
          <a:solidFill>
            <a:srgbClr val="B5E8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32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EEA848D-5556-0BFC-2F98-0A192BEE39C5}"/>
              </a:ext>
            </a:extLst>
          </p:cNvPr>
          <p:cNvPicPr>
            <a:picLocks noChangeAspect="1"/>
          </p:cNvPicPr>
          <p:nvPr userDrawn="1"/>
        </p:nvPicPr>
        <p:blipFill>
          <a:blip r:embed="rId60"/>
          <a:stretch>
            <a:fillRect/>
          </a:stretch>
        </p:blipFill>
        <p:spPr>
          <a:xfrm>
            <a:off x="12305240" y="5660335"/>
            <a:ext cx="253471" cy="253404"/>
          </a:xfrm>
          <a:prstGeom prst="rect">
            <a:avLst/>
          </a:prstGeom>
        </p:spPr>
      </p:pic>
      <p:pic>
        <p:nvPicPr>
          <p:cNvPr id="22" name="Picture 21" descr="Text&#10;&#10;Description automatically generated with medium confidence">
            <a:extLst>
              <a:ext uri="{FF2B5EF4-FFF2-40B4-BE49-F238E27FC236}">
                <a16:creationId xmlns:a16="http://schemas.microsoft.com/office/drawing/2014/main" id="{5887E401-8CC7-DD0D-582B-18D40FE3DF5F}"/>
              </a:ext>
            </a:extLst>
          </p:cNvPr>
          <p:cNvPicPr>
            <a:picLocks noChangeAspect="1"/>
          </p:cNvPicPr>
          <p:nvPr userDrawn="1"/>
        </p:nvPicPr>
        <p:blipFill>
          <a:blip r:embed="rId6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4898" y="5913740"/>
            <a:ext cx="253471" cy="253471"/>
          </a:xfrm>
          <a:prstGeom prst="rect">
            <a:avLst/>
          </a:prstGeom>
        </p:spPr>
      </p:pic>
      <p:pic>
        <p:nvPicPr>
          <p:cNvPr id="23" name="Picture 22" descr="A picture containing icon&#10;&#10;Description automatically generated">
            <a:extLst>
              <a:ext uri="{FF2B5EF4-FFF2-40B4-BE49-F238E27FC236}">
                <a16:creationId xmlns:a16="http://schemas.microsoft.com/office/drawing/2014/main" id="{ED6D2329-99B8-A995-E25C-76BC6380D4DB}"/>
              </a:ext>
            </a:extLst>
          </p:cNvPr>
          <p:cNvPicPr>
            <a:picLocks noChangeAspect="1"/>
          </p:cNvPicPr>
          <p:nvPr userDrawn="1"/>
        </p:nvPicPr>
        <p:blipFill>
          <a:blip r:embed="rId6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04898" y="6167144"/>
            <a:ext cx="257381" cy="257381"/>
          </a:xfrm>
          <a:prstGeom prst="rect">
            <a:avLst/>
          </a:prstGeom>
        </p:spPr>
      </p:pic>
      <p:sp>
        <p:nvSpPr>
          <p:cNvPr id="24" name="Subtitle 2">
            <a:extLst>
              <a:ext uri="{FF2B5EF4-FFF2-40B4-BE49-F238E27FC236}">
                <a16:creationId xmlns:a16="http://schemas.microsoft.com/office/drawing/2014/main" id="{2E3B5D1A-B550-19F1-23B2-3EC612BF26E3}"/>
              </a:ext>
            </a:extLst>
          </p:cNvPr>
          <p:cNvSpPr txBox="1">
            <a:spLocks/>
          </p:cNvSpPr>
          <p:nvPr userDrawn="1"/>
        </p:nvSpPr>
        <p:spPr>
          <a:xfrm>
            <a:off x="12275129" y="1332393"/>
            <a:ext cx="4450080" cy="3150417"/>
          </a:xfrm>
          <a:prstGeom prst="rect">
            <a:avLst/>
          </a:prstGeom>
        </p:spPr>
        <p:txBody>
          <a:bodyPr vert="horz" lIns="90605" tIns="45303" rIns="90605" bIns="45303" rtlCol="0">
            <a:normAutofit fontScale="77500" lnSpcReduction="20000"/>
          </a:bodyPr>
          <a:lstStyle>
            <a:lvl1pPr marL="0" indent="0" algn="ctr" defTabSz="91413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rgbClr val="333333"/>
                </a:solidFill>
                <a:latin typeface="Untitled Sans Regular" panose="020B0503030202060203" pitchFamily="34" charset="77"/>
                <a:ea typeface="+mn-ea"/>
                <a:cs typeface="+mn-cs"/>
              </a:defRPr>
            </a:lvl1pPr>
            <a:lvl2pPr marL="457179" indent="0" algn="ctr" defTabSz="91413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rgbClr val="333333"/>
                </a:solidFill>
                <a:latin typeface="Untitled Sans Regular" panose="020B0503030202060203" pitchFamily="34" charset="77"/>
                <a:ea typeface="+mn-ea"/>
                <a:cs typeface="+mn-cs"/>
              </a:defRPr>
            </a:lvl2pPr>
            <a:lvl3pPr marL="914358" indent="0" algn="ctr" defTabSz="91413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rgbClr val="333333"/>
                </a:solidFill>
                <a:latin typeface="Untitled Sans Regular" panose="020B0503030202060203" pitchFamily="34" charset="77"/>
                <a:ea typeface="+mn-ea"/>
                <a:cs typeface="+mn-cs"/>
              </a:defRPr>
            </a:lvl3pPr>
            <a:lvl4pPr marL="1371536" indent="0" algn="ctr" defTabSz="91413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333333"/>
                </a:solidFill>
                <a:latin typeface="Untitled Sans Regular" panose="020B0503030202060203" pitchFamily="34" charset="77"/>
                <a:ea typeface="+mn-ea"/>
                <a:cs typeface="+mn-cs"/>
              </a:defRPr>
            </a:lvl4pPr>
            <a:lvl5pPr marL="1828715" indent="0" algn="ctr" defTabSz="91413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rgbClr val="333333"/>
                </a:solidFill>
                <a:latin typeface="Untitled Sans Regular" panose="020B0503030202060203" pitchFamily="34" charset="77"/>
                <a:ea typeface="+mn-ea"/>
                <a:cs typeface="+mn-cs"/>
              </a:defRPr>
            </a:lvl5pPr>
            <a:lvl6pPr marL="2285894" indent="0" algn="ctr" defTabSz="91413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073" indent="0" algn="ctr" defTabSz="91413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52" indent="0" algn="ctr" defTabSz="91413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430" indent="0" algn="ctr" defTabSz="91413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sz="2378" b="1">
                <a:solidFill>
                  <a:schemeClr val="tx1"/>
                </a:solidFill>
                <a:highlight>
                  <a:srgbClr val="FFFF00"/>
                </a:highlight>
              </a:rPr>
              <a:t>Proposal Key:</a:t>
            </a:r>
            <a:br>
              <a:rPr lang="en-US" sz="2378" b="1">
                <a:solidFill>
                  <a:schemeClr val="tx1"/>
                </a:solidFill>
                <a:highlight>
                  <a:srgbClr val="FFFF00"/>
                </a:highlight>
              </a:rPr>
            </a:br>
            <a:br>
              <a:rPr lang="en-US" sz="2378">
                <a:solidFill>
                  <a:schemeClr val="tx1"/>
                </a:solidFill>
                <a:highlight>
                  <a:srgbClr val="FFFF00"/>
                </a:highlight>
              </a:rPr>
            </a:br>
            <a:r>
              <a:rPr lang="en-US" sz="2378">
                <a:solidFill>
                  <a:schemeClr val="tx1"/>
                </a:solidFill>
                <a:highlight>
                  <a:srgbClr val="FFFF00"/>
                </a:highlight>
              </a:rPr>
              <a:t>Untitled Sans Font (please install if you do not have)</a:t>
            </a:r>
            <a:br>
              <a:rPr lang="en-US" sz="2378">
                <a:solidFill>
                  <a:schemeClr val="tx1"/>
                </a:solidFill>
                <a:highlight>
                  <a:srgbClr val="FFFF00"/>
                </a:highlight>
              </a:rPr>
            </a:br>
            <a:r>
              <a:rPr lang="en-US" sz="2378">
                <a:solidFill>
                  <a:schemeClr val="tx1"/>
                </a:solidFill>
                <a:highlight>
                  <a:srgbClr val="FFFF00"/>
                </a:highlight>
              </a:rPr>
              <a:t>Title Size: 22.7</a:t>
            </a:r>
            <a:br>
              <a:rPr lang="en-US" sz="2378">
                <a:solidFill>
                  <a:schemeClr val="tx1"/>
                </a:solidFill>
                <a:highlight>
                  <a:srgbClr val="FFFF00"/>
                </a:highlight>
              </a:rPr>
            </a:br>
            <a:r>
              <a:rPr lang="en-US" sz="2378">
                <a:solidFill>
                  <a:schemeClr val="tx1"/>
                </a:solidFill>
                <a:highlight>
                  <a:srgbClr val="FFFF00"/>
                </a:highlight>
              </a:rPr>
              <a:t>Subtitle: 12</a:t>
            </a:r>
            <a:br>
              <a:rPr lang="en-US" sz="2378">
                <a:solidFill>
                  <a:schemeClr val="tx1"/>
                </a:solidFill>
                <a:highlight>
                  <a:srgbClr val="FFFF00"/>
                </a:highlight>
              </a:rPr>
            </a:br>
            <a:r>
              <a:rPr lang="en-US" sz="2378">
                <a:solidFill>
                  <a:schemeClr val="tx1"/>
                </a:solidFill>
                <a:highlight>
                  <a:srgbClr val="FFFF00"/>
                </a:highlight>
              </a:rPr>
              <a:t>Body: 10 </a:t>
            </a:r>
            <a:br>
              <a:rPr lang="en-US" sz="2378">
                <a:solidFill>
                  <a:schemeClr val="tx1"/>
                </a:solidFill>
                <a:highlight>
                  <a:srgbClr val="FFFF00"/>
                </a:highlight>
              </a:rPr>
            </a:br>
            <a:br>
              <a:rPr lang="en-US" sz="2378">
                <a:solidFill>
                  <a:schemeClr val="tx1"/>
                </a:solidFill>
                <a:highlight>
                  <a:srgbClr val="FFFF00"/>
                </a:highlight>
              </a:rPr>
            </a:br>
            <a:r>
              <a:rPr lang="en-US" sz="2378">
                <a:solidFill>
                  <a:schemeClr val="tx1"/>
                </a:solidFill>
                <a:highlight>
                  <a:srgbClr val="FFFF00"/>
                </a:highlight>
              </a:rPr>
              <a:t>All titles should be Sentence case </a:t>
            </a:r>
            <a:br>
              <a:rPr lang="en-US" sz="2378">
                <a:solidFill>
                  <a:schemeClr val="tx1"/>
                </a:solidFill>
                <a:highlight>
                  <a:srgbClr val="FFFF00"/>
                </a:highlight>
              </a:rPr>
            </a:br>
            <a:r>
              <a:rPr lang="en-US" sz="2378">
                <a:solidFill>
                  <a:schemeClr val="tx1"/>
                </a:solidFill>
                <a:highlight>
                  <a:srgbClr val="FFFF00"/>
                </a:highlight>
              </a:rPr>
              <a:t>Normal spacing </a:t>
            </a:r>
            <a:br>
              <a:rPr lang="en-US" sz="2378">
                <a:solidFill>
                  <a:schemeClr val="tx1"/>
                </a:solidFill>
                <a:highlight>
                  <a:srgbClr val="FFFF00"/>
                </a:highlight>
              </a:rPr>
            </a:br>
            <a:r>
              <a:rPr lang="en-US" sz="2378">
                <a:solidFill>
                  <a:schemeClr val="tx1"/>
                </a:solidFill>
                <a:highlight>
                  <a:srgbClr val="FFFF00"/>
                </a:highlight>
              </a:rPr>
              <a:t>1.0 line spacing (CVs ok 1.5)</a:t>
            </a:r>
          </a:p>
        </p:txBody>
      </p:sp>
    </p:spTree>
    <p:extLst>
      <p:ext uri="{BB962C8B-B14F-4D97-AF65-F5344CB8AC3E}">
        <p14:creationId xmlns:p14="http://schemas.microsoft.com/office/powerpoint/2010/main" val="198377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693" r:id="rId18"/>
    <p:sldLayoutId id="2147483694" r:id="rId19"/>
    <p:sldLayoutId id="2147483695" r:id="rId20"/>
    <p:sldLayoutId id="2147483696" r:id="rId21"/>
    <p:sldLayoutId id="2147483697" r:id="rId22"/>
    <p:sldLayoutId id="2147483698" r:id="rId23"/>
    <p:sldLayoutId id="2147483699" r:id="rId24"/>
    <p:sldLayoutId id="2147483700" r:id="rId25"/>
    <p:sldLayoutId id="2147483701" r:id="rId26"/>
    <p:sldLayoutId id="2147483702" r:id="rId27"/>
    <p:sldLayoutId id="2147483703" r:id="rId28"/>
    <p:sldLayoutId id="2147483704" r:id="rId29"/>
    <p:sldLayoutId id="2147483705" r:id="rId30"/>
    <p:sldLayoutId id="2147483706" r:id="rId31"/>
    <p:sldLayoutId id="2147483707" r:id="rId32"/>
    <p:sldLayoutId id="2147483708" r:id="rId33"/>
    <p:sldLayoutId id="2147483709" r:id="rId34"/>
    <p:sldLayoutId id="2147483710" r:id="rId35"/>
    <p:sldLayoutId id="2147483711" r:id="rId36"/>
    <p:sldLayoutId id="2147483712" r:id="rId37"/>
    <p:sldLayoutId id="2147483713" r:id="rId38"/>
    <p:sldLayoutId id="2147483714" r:id="rId39"/>
    <p:sldLayoutId id="2147483715" r:id="rId40"/>
    <p:sldLayoutId id="2147483716" r:id="rId41"/>
    <p:sldLayoutId id="2147483717" r:id="rId42"/>
    <p:sldLayoutId id="2147483718" r:id="rId43"/>
    <p:sldLayoutId id="2147483719" r:id="rId44"/>
    <p:sldLayoutId id="2147483720" r:id="rId45"/>
    <p:sldLayoutId id="2147483721" r:id="rId46"/>
    <p:sldLayoutId id="2147483722" r:id="rId47"/>
    <p:sldLayoutId id="2147483723" r:id="rId48"/>
    <p:sldLayoutId id="2147483724" r:id="rId49"/>
    <p:sldLayoutId id="2147483725" r:id="rId50"/>
    <p:sldLayoutId id="2147483726" r:id="rId51"/>
    <p:sldLayoutId id="2147483727" r:id="rId52"/>
    <p:sldLayoutId id="2147483728" r:id="rId53"/>
    <p:sldLayoutId id="2147483729" r:id="rId54"/>
    <p:sldLayoutId id="2147483730" r:id="rId55"/>
    <p:sldLayoutId id="2147483731" r:id="rId56"/>
    <p:sldLayoutId id="2147483732" r:id="rId57"/>
    <p:sldLayoutId id="2147483733" r:id="rId58"/>
  </p:sldLayoutIdLst>
  <p:hf hdr="0" ftr="0" dt="0"/>
  <p:txStyles>
    <p:titleStyle>
      <a:lvl1pPr algn="l" defTabSz="905775" rtl="0" eaLnBrk="1" latinLnBrk="0" hangingPunct="1">
        <a:lnSpc>
          <a:spcPct val="90000"/>
        </a:lnSpc>
        <a:spcBef>
          <a:spcPct val="0"/>
        </a:spcBef>
        <a:buNone/>
        <a:defRPr sz="2249" b="1" i="0" kern="1200" spc="-99" baseline="0">
          <a:solidFill>
            <a:schemeClr val="tx1"/>
          </a:solidFill>
          <a:latin typeface="Untitled Sans Bold" panose="020B0503030202060203" pitchFamily="34" charset="0"/>
          <a:ea typeface="+mj-ea"/>
          <a:cs typeface="+mj-cs"/>
        </a:defRPr>
      </a:lvl1pPr>
    </p:titleStyle>
    <p:bodyStyle>
      <a:lvl1pPr marL="0" indent="0" algn="l" defTabSz="905775" rtl="0" eaLnBrk="1" latinLnBrk="0" hangingPunct="1">
        <a:lnSpc>
          <a:spcPct val="90000"/>
        </a:lnSpc>
        <a:spcBef>
          <a:spcPts val="991"/>
        </a:spcBef>
        <a:buFont typeface="Arial" panose="020B0604020202020204" pitchFamily="34" charset="0"/>
        <a:buNone/>
        <a:defRPr sz="1189" kern="1200">
          <a:solidFill>
            <a:schemeClr val="tx1"/>
          </a:solidFill>
          <a:latin typeface="Untitled Sans Regular" panose="020B0503030202060203" pitchFamily="34" charset="77"/>
          <a:ea typeface="+mn-ea"/>
          <a:cs typeface="+mn-cs"/>
        </a:defRPr>
      </a:lvl1pPr>
      <a:lvl2pPr marL="679331" indent="-226443" algn="l" defTabSz="905775" rtl="0" eaLnBrk="1" latinLnBrk="0" hangingPunct="1">
        <a:lnSpc>
          <a:spcPct val="90000"/>
        </a:lnSpc>
        <a:spcBef>
          <a:spcPts val="495"/>
        </a:spcBef>
        <a:buFont typeface="Arial" panose="020B0604020202020204" pitchFamily="34" charset="0"/>
        <a:buChar char="•"/>
        <a:defRPr sz="991" kern="1200">
          <a:solidFill>
            <a:schemeClr val="tx1"/>
          </a:solidFill>
          <a:latin typeface="Untitled Sans Regular" panose="020B0503030202060203" pitchFamily="34" charset="77"/>
          <a:ea typeface="+mn-ea"/>
          <a:cs typeface="+mn-cs"/>
        </a:defRPr>
      </a:lvl2pPr>
      <a:lvl3pPr marL="1132219" indent="-226443" algn="l" defTabSz="905775" rtl="0" eaLnBrk="1" latinLnBrk="0" hangingPunct="1">
        <a:lnSpc>
          <a:spcPct val="90000"/>
        </a:lnSpc>
        <a:spcBef>
          <a:spcPts val="495"/>
        </a:spcBef>
        <a:buFont typeface="Arial" panose="020B0604020202020204" pitchFamily="34" charset="0"/>
        <a:buChar char="•"/>
        <a:defRPr sz="991" kern="1200">
          <a:solidFill>
            <a:schemeClr val="tx1"/>
          </a:solidFill>
          <a:latin typeface="Untitled Sans Regular" panose="020B0503030202060203" pitchFamily="34" charset="77"/>
          <a:ea typeface="+mn-ea"/>
          <a:cs typeface="+mn-cs"/>
        </a:defRPr>
      </a:lvl3pPr>
      <a:lvl4pPr marL="1585105" indent="-226443" algn="l" defTabSz="905775" rtl="0" eaLnBrk="1" latinLnBrk="0" hangingPunct="1">
        <a:lnSpc>
          <a:spcPct val="90000"/>
        </a:lnSpc>
        <a:spcBef>
          <a:spcPts val="495"/>
        </a:spcBef>
        <a:buFont typeface="Arial" panose="020B0604020202020204" pitchFamily="34" charset="0"/>
        <a:buChar char="•"/>
        <a:defRPr sz="991" kern="1200">
          <a:solidFill>
            <a:schemeClr val="tx1"/>
          </a:solidFill>
          <a:latin typeface="Untitled Sans Regular" panose="020B0503030202060203" pitchFamily="34" charset="77"/>
          <a:ea typeface="+mn-ea"/>
          <a:cs typeface="+mn-cs"/>
        </a:defRPr>
      </a:lvl4pPr>
      <a:lvl5pPr marL="2037993" indent="-226443" algn="l" defTabSz="905775" rtl="0" eaLnBrk="1" latinLnBrk="0" hangingPunct="1">
        <a:lnSpc>
          <a:spcPct val="90000"/>
        </a:lnSpc>
        <a:spcBef>
          <a:spcPts val="495"/>
        </a:spcBef>
        <a:buFont typeface="Arial" panose="020B0604020202020204" pitchFamily="34" charset="0"/>
        <a:buChar char="•"/>
        <a:defRPr sz="991" kern="1200">
          <a:solidFill>
            <a:schemeClr val="tx1"/>
          </a:solidFill>
          <a:latin typeface="Untitled Sans Regular" panose="020B0503030202060203" pitchFamily="34" charset="77"/>
          <a:ea typeface="+mn-ea"/>
          <a:cs typeface="+mn-cs"/>
        </a:defRPr>
      </a:lvl5pPr>
      <a:lvl6pPr marL="2490879" indent="-226443" algn="l" defTabSz="905775" rtl="0" eaLnBrk="1" latinLnBrk="0" hangingPunct="1">
        <a:lnSpc>
          <a:spcPct val="90000"/>
        </a:lnSpc>
        <a:spcBef>
          <a:spcPts val="495"/>
        </a:spcBef>
        <a:buFont typeface="Arial" panose="020B0604020202020204" pitchFamily="34" charset="0"/>
        <a:buChar char="•"/>
        <a:defRPr sz="1784" kern="1200">
          <a:solidFill>
            <a:schemeClr val="tx1"/>
          </a:solidFill>
          <a:latin typeface="+mn-lt"/>
          <a:ea typeface="+mn-ea"/>
          <a:cs typeface="+mn-cs"/>
        </a:defRPr>
      </a:lvl6pPr>
      <a:lvl7pPr marL="2943766" indent="-226443" algn="l" defTabSz="905775" rtl="0" eaLnBrk="1" latinLnBrk="0" hangingPunct="1">
        <a:lnSpc>
          <a:spcPct val="90000"/>
        </a:lnSpc>
        <a:spcBef>
          <a:spcPts val="495"/>
        </a:spcBef>
        <a:buFont typeface="Arial" panose="020B0604020202020204" pitchFamily="34" charset="0"/>
        <a:buChar char="•"/>
        <a:defRPr sz="1784" kern="1200">
          <a:solidFill>
            <a:schemeClr val="tx1"/>
          </a:solidFill>
          <a:latin typeface="+mn-lt"/>
          <a:ea typeface="+mn-ea"/>
          <a:cs typeface="+mn-cs"/>
        </a:defRPr>
      </a:lvl7pPr>
      <a:lvl8pPr marL="3396653" indent="-226443" algn="l" defTabSz="905775" rtl="0" eaLnBrk="1" latinLnBrk="0" hangingPunct="1">
        <a:lnSpc>
          <a:spcPct val="90000"/>
        </a:lnSpc>
        <a:spcBef>
          <a:spcPts val="495"/>
        </a:spcBef>
        <a:buFont typeface="Arial" panose="020B0604020202020204" pitchFamily="34" charset="0"/>
        <a:buChar char="•"/>
        <a:defRPr sz="1784" kern="1200">
          <a:solidFill>
            <a:schemeClr val="tx1"/>
          </a:solidFill>
          <a:latin typeface="+mn-lt"/>
          <a:ea typeface="+mn-ea"/>
          <a:cs typeface="+mn-cs"/>
        </a:defRPr>
      </a:lvl8pPr>
      <a:lvl9pPr marL="3849541" indent="-226443" algn="l" defTabSz="905775" rtl="0" eaLnBrk="1" latinLnBrk="0" hangingPunct="1">
        <a:lnSpc>
          <a:spcPct val="90000"/>
        </a:lnSpc>
        <a:spcBef>
          <a:spcPts val="495"/>
        </a:spcBef>
        <a:buFont typeface="Arial" panose="020B0604020202020204" pitchFamily="34" charset="0"/>
        <a:buChar char="•"/>
        <a:defRPr sz="17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5775" rtl="0" eaLnBrk="1" latinLnBrk="0" hangingPunct="1">
        <a:defRPr sz="1784" kern="1200">
          <a:solidFill>
            <a:schemeClr val="tx1"/>
          </a:solidFill>
          <a:latin typeface="+mn-lt"/>
          <a:ea typeface="+mn-ea"/>
          <a:cs typeface="+mn-cs"/>
        </a:defRPr>
      </a:lvl1pPr>
      <a:lvl2pPr marL="452888" algn="l" defTabSz="905775" rtl="0" eaLnBrk="1" latinLnBrk="0" hangingPunct="1">
        <a:defRPr sz="1784" kern="1200">
          <a:solidFill>
            <a:schemeClr val="tx1"/>
          </a:solidFill>
          <a:latin typeface="+mn-lt"/>
          <a:ea typeface="+mn-ea"/>
          <a:cs typeface="+mn-cs"/>
        </a:defRPr>
      </a:lvl2pPr>
      <a:lvl3pPr marL="905775" algn="l" defTabSz="905775" rtl="0" eaLnBrk="1" latinLnBrk="0" hangingPunct="1">
        <a:defRPr sz="1784" kern="1200">
          <a:solidFill>
            <a:schemeClr val="tx1"/>
          </a:solidFill>
          <a:latin typeface="+mn-lt"/>
          <a:ea typeface="+mn-ea"/>
          <a:cs typeface="+mn-cs"/>
        </a:defRPr>
      </a:lvl3pPr>
      <a:lvl4pPr marL="1358661" algn="l" defTabSz="905775" rtl="0" eaLnBrk="1" latinLnBrk="0" hangingPunct="1">
        <a:defRPr sz="1784" kern="1200">
          <a:solidFill>
            <a:schemeClr val="tx1"/>
          </a:solidFill>
          <a:latin typeface="+mn-lt"/>
          <a:ea typeface="+mn-ea"/>
          <a:cs typeface="+mn-cs"/>
        </a:defRPr>
      </a:lvl4pPr>
      <a:lvl5pPr marL="1811549" algn="l" defTabSz="905775" rtl="0" eaLnBrk="1" latinLnBrk="0" hangingPunct="1">
        <a:defRPr sz="1784" kern="1200">
          <a:solidFill>
            <a:schemeClr val="tx1"/>
          </a:solidFill>
          <a:latin typeface="+mn-lt"/>
          <a:ea typeface="+mn-ea"/>
          <a:cs typeface="+mn-cs"/>
        </a:defRPr>
      </a:lvl5pPr>
      <a:lvl6pPr marL="2264436" algn="l" defTabSz="905775" rtl="0" eaLnBrk="1" latinLnBrk="0" hangingPunct="1">
        <a:defRPr sz="1784" kern="1200">
          <a:solidFill>
            <a:schemeClr val="tx1"/>
          </a:solidFill>
          <a:latin typeface="+mn-lt"/>
          <a:ea typeface="+mn-ea"/>
          <a:cs typeface="+mn-cs"/>
        </a:defRPr>
      </a:lvl6pPr>
      <a:lvl7pPr marL="2717322" algn="l" defTabSz="905775" rtl="0" eaLnBrk="1" latinLnBrk="0" hangingPunct="1">
        <a:defRPr sz="1784" kern="1200">
          <a:solidFill>
            <a:schemeClr val="tx1"/>
          </a:solidFill>
          <a:latin typeface="+mn-lt"/>
          <a:ea typeface="+mn-ea"/>
          <a:cs typeface="+mn-cs"/>
        </a:defRPr>
      </a:lvl7pPr>
      <a:lvl8pPr marL="3170209" algn="l" defTabSz="905775" rtl="0" eaLnBrk="1" latinLnBrk="0" hangingPunct="1">
        <a:defRPr sz="1784" kern="1200">
          <a:solidFill>
            <a:schemeClr val="tx1"/>
          </a:solidFill>
          <a:latin typeface="+mn-lt"/>
          <a:ea typeface="+mn-ea"/>
          <a:cs typeface="+mn-cs"/>
        </a:defRPr>
      </a:lvl8pPr>
      <a:lvl9pPr marL="3623097" algn="l" defTabSz="905775" rtl="0" eaLnBrk="1" latinLnBrk="0" hangingPunct="1">
        <a:defRPr sz="17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12">
          <p15:clr>
            <a:srgbClr val="F26B43"/>
          </p15:clr>
        </p15:guide>
        <p15:guide id="2" pos="18373">
          <p15:clr>
            <a:srgbClr val="F26B43"/>
          </p15:clr>
        </p15:guide>
        <p15:guide id="3" pos="766">
          <p15:clr>
            <a:srgbClr val="F26B43"/>
          </p15:clr>
        </p15:guide>
        <p15:guide id="4" orient="horz" pos="720">
          <p15:clr>
            <a:srgbClr val="F26B43"/>
          </p15:clr>
        </p15:guide>
        <p15:guide id="5" orient="horz" pos="8136">
          <p15:clr>
            <a:srgbClr val="F26B43"/>
          </p15:clr>
        </p15:guide>
        <p15:guide id="6" pos="35596">
          <p15:clr>
            <a:srgbClr val="F26B43"/>
          </p15:clr>
        </p15:guide>
        <p15:guide id="7" pos="7606">
          <p15:clr>
            <a:srgbClr val="F26B43"/>
          </p15:clr>
        </p15:guide>
        <p15:guide id="8" pos="9982">
          <p15:clr>
            <a:srgbClr val="F26B43"/>
          </p15:clr>
        </p15:guide>
        <p15:guide id="9" pos="7750">
          <p15:clr>
            <a:srgbClr val="F26B43"/>
          </p15:clr>
        </p15:guide>
        <p15:guide id="11" pos="14590">
          <p15:clr>
            <a:srgbClr val="F26B43"/>
          </p15:clr>
        </p15:guide>
        <p15:guide id="12" pos="18785">
          <p15:clr>
            <a:srgbClr val="F26B43"/>
          </p15:clr>
        </p15:guide>
        <p15:guide id="13" pos="24076">
          <p15:clr>
            <a:srgbClr val="F26B43"/>
          </p15:clr>
        </p15:guide>
        <p15:guide id="14" pos="24423">
          <p15:clr>
            <a:srgbClr val="F26B43"/>
          </p15:clr>
        </p15:guide>
        <p15:guide id="15" pos="29774">
          <p15:clr>
            <a:srgbClr val="F26B43"/>
          </p15:clr>
        </p15:guide>
        <p15:guide id="16" pos="30067">
          <p15:clr>
            <a:srgbClr val="F26B43"/>
          </p15:clr>
        </p15:guide>
        <p15:guide id="17" orient="horz" pos="2287">
          <p15:clr>
            <a:srgbClr val="F26B43"/>
          </p15:clr>
        </p15:guide>
        <p15:guide id="18" orient="horz" pos="5336">
          <p15:clr>
            <a:srgbClr val="F26B43"/>
          </p15:clr>
        </p15:guide>
        <p15:guide id="19" orient="horz" pos="2012">
          <p15:clr>
            <a:srgbClr val="F26B43"/>
          </p15:clr>
        </p15:guide>
        <p15:guide id="20" pos="3070">
          <p15:clr>
            <a:srgbClr val="F26B43"/>
          </p15:clr>
        </p15:guide>
        <p15:guide id="21" pos="5374">
          <p15:clr>
            <a:srgbClr val="F26B43"/>
          </p15:clr>
        </p15:guide>
        <p15:guide id="22" pos="12286">
          <p15:clr>
            <a:srgbClr val="F26B43"/>
          </p15:clr>
        </p15:guide>
        <p15:guide id="23" orient="horz" pos="259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mmoser1.sharepoint.com/:w:/s/EUNA_ResourceLibrary/IQCn1q6isg2xQL-sS5pp5ZC1AasZ5AQjv8vH8XNikLCsaVg?e=xMbiTs" TargetMode="External"/><Relationship Id="rId3" Type="http://schemas.microsoft.com/office/2018/10/relationships/comments" Target="../comments/modernComment_107_1438DA64.xml"/><Relationship Id="rId7" Type="http://schemas.openxmlformats.org/officeDocument/2006/relationships/hyperlink" Target="https://mmoser1.sharepoint.com/:p:/s/EUNA_ResourceLibrary/IQCdwhGUchUeSoMcRPkKt-YKAddpgDss3hRkvtuTW5OnJMM?e=buiR54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Relationship Id="rId6" Type="http://schemas.openxmlformats.org/officeDocument/2006/relationships/hyperlink" Target="https://mmoser1.sharepoint.com/:f:/s/EUNA_ResourceLibrary/IgCDfFD_1uMPSavewHF1hTtUAfq9PELpqiqbevvX53s5qqA?e=PTcdXg" TargetMode="External"/><Relationship Id="rId5" Type="http://schemas.openxmlformats.org/officeDocument/2006/relationships/hyperlink" Target="https://mmoser1.sharepoint.com/:f:/s/EUNA_ResourceLibrary/IgB2tx-iFnVWT6_PLuxMOlFpARq9RsAX04N3Mk89XWzzyrU?e=qMWTkD" TargetMode="External"/><Relationship Id="rId4" Type="http://schemas.openxmlformats.org/officeDocument/2006/relationships/hyperlink" Target="https://mmoser1.sharepoint.com/:x:/s/EUNA_ResourceLibrary/IQCoooh06NlqRZLkJw-Q4R9uAbTaBCL0cBFKW_c2Fg33PIE?e=X1hlOJ" TargetMode="External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8/10/relationships/comments" Target="../comments/modernComment_109_A454975D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rid-v1">
            <a:extLst>
              <a:ext uri="{FF2B5EF4-FFF2-40B4-BE49-F238E27FC236}">
                <a16:creationId xmlns:a16="http://schemas.microsoft.com/office/drawing/2014/main" id="{7D74A92D-C471-77D3-F8DD-6AA03265DD76}"/>
              </a:ext>
            </a:extLst>
          </p:cNvPr>
          <p:cNvSpPr/>
          <p:nvPr/>
        </p:nvSpPr>
        <p:spPr>
          <a:xfrm>
            <a:off x="12192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grid-v2">
            <a:extLst>
              <a:ext uri="{FF2B5EF4-FFF2-40B4-BE49-F238E27FC236}">
                <a16:creationId xmlns:a16="http://schemas.microsoft.com/office/drawing/2014/main" id="{C8C4D03B-7CAB-2B81-01B6-26C6E4555F13}"/>
              </a:ext>
            </a:extLst>
          </p:cNvPr>
          <p:cNvSpPr/>
          <p:nvPr/>
        </p:nvSpPr>
        <p:spPr>
          <a:xfrm>
            <a:off x="24384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grid-v3">
            <a:extLst>
              <a:ext uri="{FF2B5EF4-FFF2-40B4-BE49-F238E27FC236}">
                <a16:creationId xmlns:a16="http://schemas.microsoft.com/office/drawing/2014/main" id="{58A80513-7EA0-4C63-C8BB-1F6EF2A1EACE}"/>
              </a:ext>
            </a:extLst>
          </p:cNvPr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grid-v4">
            <a:extLst>
              <a:ext uri="{FF2B5EF4-FFF2-40B4-BE49-F238E27FC236}">
                <a16:creationId xmlns:a16="http://schemas.microsoft.com/office/drawing/2014/main" id="{BD585BE6-7D3C-66AD-BD3B-C4F171F33E4A}"/>
              </a:ext>
            </a:extLst>
          </p:cNvPr>
          <p:cNvSpPr/>
          <p:nvPr/>
        </p:nvSpPr>
        <p:spPr>
          <a:xfrm>
            <a:off x="48768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grid-v5">
            <a:extLst>
              <a:ext uri="{FF2B5EF4-FFF2-40B4-BE49-F238E27FC236}">
                <a16:creationId xmlns:a16="http://schemas.microsoft.com/office/drawing/2014/main" id="{090C291C-1FDC-FC6B-1EB1-30A946FF76E0}"/>
              </a:ext>
            </a:extLst>
          </p:cNvPr>
          <p:cNvSpPr/>
          <p:nvPr/>
        </p:nvSpPr>
        <p:spPr>
          <a:xfrm>
            <a:off x="60960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grid-v6">
            <a:extLst>
              <a:ext uri="{FF2B5EF4-FFF2-40B4-BE49-F238E27FC236}">
                <a16:creationId xmlns:a16="http://schemas.microsoft.com/office/drawing/2014/main" id="{75B31E2C-D5D8-9A0D-25AD-F596CDD4F275}"/>
              </a:ext>
            </a:extLst>
          </p:cNvPr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grid-v7">
            <a:extLst>
              <a:ext uri="{FF2B5EF4-FFF2-40B4-BE49-F238E27FC236}">
                <a16:creationId xmlns:a16="http://schemas.microsoft.com/office/drawing/2014/main" id="{C5AF6C4C-AC8B-FD72-5A34-E03009F5C42F}"/>
              </a:ext>
            </a:extLst>
          </p:cNvPr>
          <p:cNvSpPr/>
          <p:nvPr/>
        </p:nvSpPr>
        <p:spPr>
          <a:xfrm>
            <a:off x="85344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grid-v8">
            <a:extLst>
              <a:ext uri="{FF2B5EF4-FFF2-40B4-BE49-F238E27FC236}">
                <a16:creationId xmlns:a16="http://schemas.microsoft.com/office/drawing/2014/main" id="{7F36A8CB-3F68-8367-0A4D-76E3462D1E1A}"/>
              </a:ext>
            </a:extLst>
          </p:cNvPr>
          <p:cNvSpPr/>
          <p:nvPr/>
        </p:nvSpPr>
        <p:spPr>
          <a:xfrm>
            <a:off x="97536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grid-v9">
            <a:extLst>
              <a:ext uri="{FF2B5EF4-FFF2-40B4-BE49-F238E27FC236}">
                <a16:creationId xmlns:a16="http://schemas.microsoft.com/office/drawing/2014/main" id="{D0251B28-6483-A153-BFFE-C1B2A28FA845}"/>
              </a:ext>
            </a:extLst>
          </p:cNvPr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grid-h1">
            <a:extLst>
              <a:ext uri="{FF2B5EF4-FFF2-40B4-BE49-F238E27FC236}">
                <a16:creationId xmlns:a16="http://schemas.microsoft.com/office/drawing/2014/main" id="{39B8BC4D-6C47-F0B1-5CA8-4C2DD1C64102}"/>
              </a:ext>
            </a:extLst>
          </p:cNvPr>
          <p:cNvSpPr/>
          <p:nvPr/>
        </p:nvSpPr>
        <p:spPr>
          <a:xfrm>
            <a:off x="10287000" y="6829425"/>
            <a:ext cx="12192000" cy="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grid-h2">
            <a:extLst>
              <a:ext uri="{FF2B5EF4-FFF2-40B4-BE49-F238E27FC236}">
                <a16:creationId xmlns:a16="http://schemas.microsoft.com/office/drawing/2014/main" id="{3CF85C3A-87BD-E280-FEE6-4F370C967504}"/>
              </a:ext>
            </a:extLst>
          </p:cNvPr>
          <p:cNvSpPr/>
          <p:nvPr/>
        </p:nvSpPr>
        <p:spPr>
          <a:xfrm>
            <a:off x="0" y="2286000"/>
            <a:ext cx="12192000" cy="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grid-h3">
            <a:extLst>
              <a:ext uri="{FF2B5EF4-FFF2-40B4-BE49-F238E27FC236}">
                <a16:creationId xmlns:a16="http://schemas.microsoft.com/office/drawing/2014/main" id="{68962699-1CCE-26FC-6464-14013DE52E2D}"/>
              </a:ext>
            </a:extLst>
          </p:cNvPr>
          <p:cNvSpPr/>
          <p:nvPr/>
        </p:nvSpPr>
        <p:spPr>
          <a:xfrm>
            <a:off x="0" y="3429000"/>
            <a:ext cx="12192000" cy="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grid-h4">
            <a:extLst>
              <a:ext uri="{FF2B5EF4-FFF2-40B4-BE49-F238E27FC236}">
                <a16:creationId xmlns:a16="http://schemas.microsoft.com/office/drawing/2014/main" id="{F8AD7E73-B0AD-2813-2303-BF841534A886}"/>
              </a:ext>
            </a:extLst>
          </p:cNvPr>
          <p:cNvSpPr/>
          <p:nvPr/>
        </p:nvSpPr>
        <p:spPr>
          <a:xfrm>
            <a:off x="0" y="4572000"/>
            <a:ext cx="12192000" cy="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" name="grid-h5">
            <a:extLst>
              <a:ext uri="{FF2B5EF4-FFF2-40B4-BE49-F238E27FC236}">
                <a16:creationId xmlns:a16="http://schemas.microsoft.com/office/drawing/2014/main" id="{FA8F9E69-54C8-CA79-AA0B-628CEFB27FBA}"/>
              </a:ext>
            </a:extLst>
          </p:cNvPr>
          <p:cNvSpPr/>
          <p:nvPr/>
        </p:nvSpPr>
        <p:spPr>
          <a:xfrm>
            <a:off x="0" y="5715000"/>
            <a:ext cx="12192000" cy="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Eyebrow"/>
          <p:cNvSpPr txBox="1"/>
          <p:nvPr/>
        </p:nvSpPr>
        <p:spPr>
          <a:xfrm>
            <a:off x="2596000" y="1925773"/>
            <a:ext cx="7000000" cy="4000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chemeClr val="bg1"/>
                </a:solidFill>
                <a:latin typeface="Untitled Sans"/>
              </a:rPr>
              <a:t>PROPOSAL CONTENT INITIATIVE</a:t>
            </a:r>
          </a:p>
        </p:txBody>
      </p:sp>
      <p:sp>
        <p:nvSpPr>
          <p:cNvPr id="13" name="Subtitle"/>
          <p:cNvSpPr txBox="1"/>
          <p:nvPr/>
        </p:nvSpPr>
        <p:spPr>
          <a:xfrm>
            <a:off x="2207260" y="4644573"/>
            <a:ext cx="7777480" cy="2682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chemeClr val="bg1"/>
                </a:solidFill>
                <a:latin typeface="Untitled Sans Light" panose="020B0303030202060203" pitchFamily="34" charset="0"/>
              </a:rPr>
              <a:t>THE END OF “I KNOW  IVE SEEN THAT SLIDE …” |  PROPOSED AI-ASSIT TOOL </a:t>
            </a:r>
          </a:p>
          <a:p>
            <a:pPr algn="ctr"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  <a:latin typeface="Untitled Sans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67B736-E06D-A363-36E2-C46AB5F7A6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05354" y="6347561"/>
            <a:ext cx="2706721" cy="24753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54B487F-2B6D-A123-2547-8CC522E6464F}"/>
              </a:ext>
            </a:extLst>
          </p:cNvPr>
          <p:cNvSpPr txBox="1"/>
          <p:nvPr/>
        </p:nvSpPr>
        <p:spPr>
          <a:xfrm>
            <a:off x="1666869" y="2170648"/>
            <a:ext cx="8858263" cy="247697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>
              <a:lnSpc>
                <a:spcPts val="12000"/>
              </a:lnSpc>
            </a:pPr>
            <a:r>
              <a:rPr lang="en-US" sz="9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Less searching.</a:t>
            </a:r>
            <a:endParaRPr lang="en-US" sz="7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bas Neue" panose="020B0606020202050201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82D2E29-FF42-EAA5-92B0-89EEAFD65828}"/>
              </a:ext>
            </a:extLst>
          </p:cNvPr>
          <p:cNvSpPr txBox="1"/>
          <p:nvPr/>
        </p:nvSpPr>
        <p:spPr>
          <a:xfrm>
            <a:off x="1666869" y="3237448"/>
            <a:ext cx="8858263" cy="138985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ts val="12000"/>
              </a:lnSpc>
            </a:pPr>
            <a:r>
              <a:rPr lang="en-US" sz="9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bas Neue" panose="020B0606020202050201" pitchFamily="34" charset="0"/>
              </a:rPr>
              <a:t>More storytelling. </a:t>
            </a:r>
          </a:p>
        </p:txBody>
      </p:sp>
    </p:spTree>
    <p:extLst>
      <p:ext uri="{BB962C8B-B14F-4D97-AF65-F5344CB8AC3E}">
        <p14:creationId xmlns:p14="http://schemas.microsoft.com/office/powerpoint/2010/main" val="3886289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9FB8DB9-7CE8-8460-B570-518B46808F8F}"/>
              </a:ext>
            </a:extLst>
          </p:cNvPr>
          <p:cNvSpPr txBox="1"/>
          <p:nvPr/>
        </p:nvSpPr>
        <p:spPr>
          <a:xfrm>
            <a:off x="446710" y="981582"/>
            <a:ext cx="3170249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000"/>
              </a:lnSpc>
            </a:pPr>
            <a:r>
              <a:rPr lang="en-CA" sz="6000" b="1" dirty="0">
                <a:latin typeface="Bebas Neue Bold" panose="020B0606020202050201" pitchFamily="34" charset="77"/>
              </a:rPr>
              <a:t>TABLE OF CONTENTS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3C5947-C093-6516-0C68-2A09F0F6BC0D}"/>
              </a:ext>
            </a:extLst>
          </p:cNvPr>
          <p:cNvSpPr/>
          <p:nvPr/>
        </p:nvSpPr>
        <p:spPr>
          <a:xfrm>
            <a:off x="4054667" y="1821287"/>
            <a:ext cx="1648592" cy="2101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4C59B72-ACBF-77C8-DD36-713723414FEE}"/>
              </a:ext>
            </a:extLst>
          </p:cNvPr>
          <p:cNvSpPr/>
          <p:nvPr/>
        </p:nvSpPr>
        <p:spPr>
          <a:xfrm>
            <a:off x="4054667" y="2854957"/>
            <a:ext cx="1648592" cy="2101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B4D37DE-B257-8545-6BD5-8FED5872B931}"/>
              </a:ext>
            </a:extLst>
          </p:cNvPr>
          <p:cNvSpPr/>
          <p:nvPr/>
        </p:nvSpPr>
        <p:spPr>
          <a:xfrm>
            <a:off x="4054667" y="3888627"/>
            <a:ext cx="1648592" cy="2101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7ADFCC7-FEEF-7CFB-E9E0-086AB604F541}"/>
              </a:ext>
            </a:extLst>
          </p:cNvPr>
          <p:cNvSpPr/>
          <p:nvPr/>
        </p:nvSpPr>
        <p:spPr>
          <a:xfrm>
            <a:off x="4054667" y="4922297"/>
            <a:ext cx="1648592" cy="2101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6E8F562-9498-4F75-0EAE-C4984E991C25}"/>
              </a:ext>
            </a:extLst>
          </p:cNvPr>
          <p:cNvGrpSpPr/>
          <p:nvPr/>
        </p:nvGrpSpPr>
        <p:grpSpPr>
          <a:xfrm>
            <a:off x="4921027" y="1030483"/>
            <a:ext cx="6146366" cy="738664"/>
            <a:chOff x="4932090" y="1030483"/>
            <a:chExt cx="6146366" cy="73866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5EA3486-DF3D-F00A-75BA-A9D0C99ADD77}"/>
                </a:ext>
              </a:extLst>
            </p:cNvPr>
            <p:cNvSpPr txBox="1"/>
            <p:nvPr/>
          </p:nvSpPr>
          <p:spPr>
            <a:xfrm>
              <a:off x="5761573" y="1030483"/>
              <a:ext cx="5316883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sz="1400" b="1" dirty="0">
                  <a:latin typeface="Untitled Sans" panose="020B0503030202060203" pitchFamily="34" charset="77"/>
                </a:rPr>
                <a:t>Role &amp; current environment </a:t>
              </a:r>
              <a:br>
                <a:rPr lang="en-CA" sz="1400" dirty="0">
                  <a:latin typeface="Untitled Sans" panose="020B0503030202060203" pitchFamily="34" charset="77"/>
                </a:rPr>
              </a:br>
              <a:r>
                <a:rPr lang="en-CA" sz="1400" dirty="0">
                  <a:latin typeface="Untitled Sans Light" panose="020B0303030202060203" pitchFamily="34" charset="0"/>
                </a:rPr>
                <a:t>What we own, who we work with, and the tools and content sources we use today.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295988D2-9FBF-903D-B6D5-D876A1B37E41}"/>
                </a:ext>
              </a:extLst>
            </p:cNvPr>
            <p:cNvSpPr txBox="1"/>
            <p:nvPr/>
          </p:nvSpPr>
          <p:spPr>
            <a:xfrm>
              <a:off x="4932090" y="1215149"/>
              <a:ext cx="53992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A" b="1" dirty="0">
                  <a:latin typeface="Untitled Sans" panose="020B0503030202060203" pitchFamily="34" charset="77"/>
                </a:rPr>
                <a:t>01</a:t>
              </a:r>
              <a:endParaRPr lang="en-CA" dirty="0">
                <a:latin typeface="Untitled Sans" panose="020B0503030202060203" pitchFamily="34" charset="77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A76554A-9013-9FF6-845A-148EB3795E1E}"/>
              </a:ext>
            </a:extLst>
          </p:cNvPr>
          <p:cNvGrpSpPr/>
          <p:nvPr/>
        </p:nvGrpSpPr>
        <p:grpSpPr>
          <a:xfrm>
            <a:off x="4879521" y="2045076"/>
            <a:ext cx="5667713" cy="738664"/>
            <a:chOff x="4890584" y="2031457"/>
            <a:chExt cx="5667713" cy="738664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A3C361E-83BC-29B3-6A75-AA4604E25028}"/>
                </a:ext>
              </a:extLst>
            </p:cNvPr>
            <p:cNvSpPr txBox="1"/>
            <p:nvPr/>
          </p:nvSpPr>
          <p:spPr>
            <a:xfrm>
              <a:off x="5761573" y="2031457"/>
              <a:ext cx="4796724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sz="1400" b="1" dirty="0">
                  <a:latin typeface="Untitled Sans" panose="020B0503030202060203" pitchFamily="34" charset="77"/>
                </a:rPr>
                <a:t>Current proposal production process </a:t>
              </a:r>
              <a:br>
                <a:rPr lang="en-CA" sz="1400" dirty="0">
                  <a:latin typeface="Untitled Sans" panose="020B0503030202060203" pitchFamily="34" charset="77"/>
                </a:rPr>
              </a:br>
              <a:r>
                <a:rPr lang="en-CA" sz="1400" dirty="0">
                  <a:latin typeface="Untitled Sans Light" panose="020B0303030202060203" pitchFamily="34" charset="0"/>
                </a:rPr>
                <a:t>The proposal workflow and the three main types of content used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267D26B-0FB4-C5E4-B97F-EC5FC5D11E50}"/>
                </a:ext>
              </a:extLst>
            </p:cNvPr>
            <p:cNvSpPr txBox="1"/>
            <p:nvPr/>
          </p:nvSpPr>
          <p:spPr>
            <a:xfrm>
              <a:off x="4890584" y="2216123"/>
              <a:ext cx="64882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A" b="1" dirty="0">
                  <a:latin typeface="Untitled Sans" panose="020B0503030202060203" pitchFamily="34" charset="77"/>
                </a:rPr>
                <a:t>02</a:t>
              </a:r>
              <a:endParaRPr lang="en-CA" dirty="0">
                <a:latin typeface="Untitled Sans" panose="020B0503030202060203" pitchFamily="34" charset="77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4B19458-7388-84FE-9F9C-0FDB624A639C}"/>
              </a:ext>
            </a:extLst>
          </p:cNvPr>
          <p:cNvGrpSpPr/>
          <p:nvPr/>
        </p:nvGrpSpPr>
        <p:grpSpPr>
          <a:xfrm>
            <a:off x="4862586" y="3244335"/>
            <a:ext cx="5508728" cy="1569613"/>
            <a:chOff x="4873649" y="3217097"/>
            <a:chExt cx="5508728" cy="1569613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618FAE9-669F-D61E-AFB7-265D1D8067EF}"/>
                </a:ext>
              </a:extLst>
            </p:cNvPr>
            <p:cNvSpPr txBox="1"/>
            <p:nvPr/>
          </p:nvSpPr>
          <p:spPr>
            <a:xfrm>
              <a:off x="5761573" y="4048046"/>
              <a:ext cx="4620804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sz="1400" b="1" dirty="0">
                  <a:latin typeface="Untitled Sans" panose="020B0503030202060203" pitchFamily="34" charset="77"/>
                </a:rPr>
                <a:t>Success requirements &amp; pain points</a:t>
              </a:r>
              <a:br>
                <a:rPr lang="en-CA" sz="1400" dirty="0">
                  <a:latin typeface="Untitled Sans" panose="020B0503030202060203" pitchFamily="34" charset="77"/>
                </a:rPr>
              </a:br>
              <a:r>
                <a:rPr lang="en-CA" sz="1400" dirty="0">
                  <a:latin typeface="Untitled Sans Light" panose="020B0303030202060203" pitchFamily="34" charset="0"/>
                </a:rPr>
                <a:t>Where the current process creates friction and what an effective solution must deliver.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79B3371-2511-DA70-3FFE-6C16D00247D3}"/>
                </a:ext>
              </a:extLst>
            </p:cNvPr>
            <p:cNvSpPr txBox="1"/>
            <p:nvPr/>
          </p:nvSpPr>
          <p:spPr>
            <a:xfrm>
              <a:off x="4873649" y="3217097"/>
              <a:ext cx="69325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A" b="1" dirty="0">
                  <a:latin typeface="Untitled Sans" panose="020B0503030202060203" pitchFamily="34" charset="77"/>
                </a:rPr>
                <a:t>03</a:t>
              </a:r>
              <a:endParaRPr lang="en-CA" dirty="0">
                <a:latin typeface="Untitled Sans" panose="020B0503030202060203" pitchFamily="34" charset="77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8FE6F66-A205-FA00-9FAE-843F39C65436}"/>
              </a:ext>
            </a:extLst>
          </p:cNvPr>
          <p:cNvGrpSpPr/>
          <p:nvPr/>
        </p:nvGrpSpPr>
        <p:grpSpPr>
          <a:xfrm>
            <a:off x="4879522" y="4258927"/>
            <a:ext cx="5911485" cy="1568590"/>
            <a:chOff x="4890585" y="4272545"/>
            <a:chExt cx="5911485" cy="156859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144A21F-E8E5-900B-BDA6-A7D523BB6ACC}"/>
                </a:ext>
              </a:extLst>
            </p:cNvPr>
            <p:cNvSpPr txBox="1"/>
            <p:nvPr/>
          </p:nvSpPr>
          <p:spPr>
            <a:xfrm>
              <a:off x="5761573" y="5102471"/>
              <a:ext cx="5040497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CA" sz="1400" b="1" dirty="0">
                  <a:latin typeface="Untitled Sans" panose="020B0503030202060203" pitchFamily="34" charset="77"/>
                </a:rPr>
                <a:t>What an ideal solution would enable</a:t>
              </a:r>
              <a:br>
                <a:rPr lang="en-CA" sz="1400" dirty="0">
                  <a:latin typeface="Untitled Sans" panose="020B0503030202060203" pitchFamily="34" charset="77"/>
                </a:rPr>
              </a:br>
              <a:r>
                <a:rPr lang="en-CA" sz="1400" dirty="0">
                  <a:latin typeface="Untitled Sans Light" panose="020B0303030202060203" pitchFamily="34" charset="0"/>
                </a:rPr>
                <a:t>The future capabilities that would meaningfully improve proposal development.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2D401F0-00D6-B741-1629-754E951797CB}"/>
                </a:ext>
              </a:extLst>
            </p:cNvPr>
            <p:cNvSpPr txBox="1"/>
            <p:nvPr/>
          </p:nvSpPr>
          <p:spPr>
            <a:xfrm>
              <a:off x="4890585" y="4272545"/>
              <a:ext cx="64882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CA" b="1" dirty="0">
                  <a:latin typeface="Untitled Sans" panose="020B0503030202060203" pitchFamily="34" charset="77"/>
                </a:rPr>
                <a:t>04</a:t>
              </a:r>
              <a:endParaRPr lang="en-CA" dirty="0">
                <a:latin typeface="Untitled Sans" panose="020B0503030202060203" pitchFamily="34" charset="77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2278001-6BAF-53E0-55EA-1094255A1AAB}"/>
              </a:ext>
            </a:extLst>
          </p:cNvPr>
          <p:cNvSpPr txBox="1"/>
          <p:nvPr/>
        </p:nvSpPr>
        <p:spPr>
          <a:xfrm>
            <a:off x="4862586" y="5273519"/>
            <a:ext cx="69325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 b="1" dirty="0">
                <a:latin typeface="Untitled Sans" panose="020B0503030202060203" pitchFamily="34" charset="77"/>
              </a:rPr>
              <a:t>05</a:t>
            </a:r>
            <a:endParaRPr lang="en-CA" dirty="0">
              <a:latin typeface="Untitled Sans" panose="020B0503030202060203" pitchFamily="34" charset="7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45A1C0-F43C-D7DE-C1E1-F0C582582EB8}"/>
              </a:ext>
            </a:extLst>
          </p:cNvPr>
          <p:cNvSpPr txBox="1"/>
          <p:nvPr/>
        </p:nvSpPr>
        <p:spPr>
          <a:xfrm>
            <a:off x="5750510" y="3153396"/>
            <a:ext cx="489890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b="1" dirty="0">
                <a:latin typeface="Untitled Sans" panose="020B0503030202060203" pitchFamily="34" charset="77"/>
              </a:rPr>
              <a:t>Where the proposed tool fits today</a:t>
            </a:r>
            <a:br>
              <a:rPr lang="en-CA" sz="1400" dirty="0">
                <a:latin typeface="Untitled Sans" panose="020B0503030202060203" pitchFamily="34" charset="77"/>
              </a:rPr>
            </a:br>
            <a:r>
              <a:rPr lang="en-CA" sz="1400" dirty="0">
                <a:latin typeface="Untitled Sans Light" panose="020B0303030202060203" pitchFamily="34" charset="0"/>
              </a:rPr>
              <a:t>Where the proposed tool can add value to our current workflow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05F980-6087-CAD0-9FD6-6F9F155E0CCA}"/>
              </a:ext>
            </a:extLst>
          </p:cNvPr>
          <p:cNvSpPr txBox="1"/>
          <p:nvPr/>
        </p:nvSpPr>
        <p:spPr>
          <a:xfrm>
            <a:off x="425447" y="195156"/>
            <a:ext cx="3957710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800" dirty="0">
                <a:latin typeface="Untitled Sans Light" panose="020B0303030202060203" pitchFamily="34" charset="77"/>
              </a:rPr>
              <a:t>M MOSER ASSOCIATES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200858-D66D-D6FC-57E6-35F12C4C76AC}"/>
              </a:ext>
            </a:extLst>
          </p:cNvPr>
          <p:cNvSpPr txBox="1"/>
          <p:nvPr/>
        </p:nvSpPr>
        <p:spPr>
          <a:xfrm>
            <a:off x="8647621" y="195156"/>
            <a:ext cx="3086256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800" b="1">
                <a:latin typeface="Untitled Sans" panose="020B0503030202060203" pitchFamily="34" charset="77"/>
              </a:rPr>
              <a:t>2026</a:t>
            </a:r>
            <a:endParaRPr lang="en-CA" sz="800" b="1">
              <a:latin typeface="Untitled Sans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172452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200267-0A87-6236-2CCC-4A36C0E7C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rid-v1"/>
          <p:cNvSpPr/>
          <p:nvPr/>
        </p:nvSpPr>
        <p:spPr>
          <a:xfrm>
            <a:off x="12192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grid-v2"/>
          <p:cNvSpPr/>
          <p:nvPr/>
        </p:nvSpPr>
        <p:spPr>
          <a:xfrm>
            <a:off x="24384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grid-v3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grid-v4"/>
          <p:cNvSpPr/>
          <p:nvPr/>
        </p:nvSpPr>
        <p:spPr>
          <a:xfrm>
            <a:off x="48768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grid-v5"/>
          <p:cNvSpPr/>
          <p:nvPr/>
        </p:nvSpPr>
        <p:spPr>
          <a:xfrm>
            <a:off x="60960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grid-v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grid-v7"/>
          <p:cNvSpPr/>
          <p:nvPr/>
        </p:nvSpPr>
        <p:spPr>
          <a:xfrm>
            <a:off x="85344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grid-v8"/>
          <p:cNvSpPr/>
          <p:nvPr/>
        </p:nvSpPr>
        <p:spPr>
          <a:xfrm>
            <a:off x="97536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grid-v9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grid-h1"/>
          <p:cNvSpPr/>
          <p:nvPr/>
        </p:nvSpPr>
        <p:spPr>
          <a:xfrm>
            <a:off x="0" y="1143000"/>
            <a:ext cx="12192000" cy="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grid-h2"/>
          <p:cNvSpPr/>
          <p:nvPr/>
        </p:nvSpPr>
        <p:spPr>
          <a:xfrm>
            <a:off x="0" y="2286000"/>
            <a:ext cx="12192000" cy="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grid-h3"/>
          <p:cNvSpPr/>
          <p:nvPr/>
        </p:nvSpPr>
        <p:spPr>
          <a:xfrm>
            <a:off x="0" y="3429000"/>
            <a:ext cx="12192000" cy="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grid-h4"/>
          <p:cNvSpPr/>
          <p:nvPr/>
        </p:nvSpPr>
        <p:spPr>
          <a:xfrm>
            <a:off x="0" y="4572000"/>
            <a:ext cx="12192000" cy="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grid-h5"/>
          <p:cNvSpPr/>
          <p:nvPr/>
        </p:nvSpPr>
        <p:spPr>
          <a:xfrm>
            <a:off x="0" y="5715000"/>
            <a:ext cx="12192000" cy="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6FBF9F-9B6F-2297-54D4-74D0683A6936}"/>
              </a:ext>
            </a:extLst>
          </p:cNvPr>
          <p:cNvSpPr txBox="1"/>
          <p:nvPr/>
        </p:nvSpPr>
        <p:spPr>
          <a:xfrm>
            <a:off x="3048000" y="2409377"/>
            <a:ext cx="6096000" cy="317112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lnSpc>
                <a:spcPts val="6000"/>
              </a:lnSpc>
            </a:pPr>
            <a:r>
              <a:rPr lang="en-CA" sz="7200" dirty="0">
                <a:solidFill>
                  <a:schemeClr val="bg1"/>
                </a:solidFill>
                <a:latin typeface="Bebas Neue" panose="020B0606020202050201" pitchFamily="34" charset="77"/>
              </a:rPr>
              <a:t>Role &amp; </a:t>
            </a:r>
          </a:p>
          <a:p>
            <a:pPr algn="ctr">
              <a:lnSpc>
                <a:spcPts val="6000"/>
              </a:lnSpc>
            </a:pPr>
            <a:r>
              <a:rPr lang="en-CA" sz="7200" dirty="0">
                <a:solidFill>
                  <a:schemeClr val="bg1"/>
                </a:solidFill>
                <a:latin typeface="Bebas Neue" panose="020B0606020202050201" pitchFamily="34" charset="77"/>
              </a:rPr>
              <a:t>Current </a:t>
            </a:r>
          </a:p>
          <a:p>
            <a:pPr algn="ctr">
              <a:lnSpc>
                <a:spcPts val="6000"/>
              </a:lnSpc>
            </a:pPr>
            <a:r>
              <a:rPr lang="en-CA" sz="7200" dirty="0">
                <a:solidFill>
                  <a:schemeClr val="bg1"/>
                </a:solidFill>
                <a:latin typeface="Bebas Neue" panose="020B0606020202050201" pitchFamily="34" charset="77"/>
              </a:rPr>
              <a:t>Environment</a:t>
            </a:r>
            <a:endParaRPr lang="en-US" sz="7200" dirty="0">
              <a:solidFill>
                <a:schemeClr val="bg1"/>
              </a:solidFill>
              <a:latin typeface="Bebas Neue" panose="020B0606020202050201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A3863B-5137-9759-49F4-2E743A85CFBE}"/>
              </a:ext>
            </a:extLst>
          </p:cNvPr>
          <p:cNvSpPr txBox="1"/>
          <p:nvPr/>
        </p:nvSpPr>
        <p:spPr>
          <a:xfrm>
            <a:off x="425447" y="195156"/>
            <a:ext cx="3957710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Untitled Sans Light" panose="020B0303030202060203" pitchFamily="34" charset="77"/>
              </a:rPr>
              <a:t>M MOSER ASSOCIATES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30F64D-EDF6-3016-D39C-502690C8C964}"/>
              </a:ext>
            </a:extLst>
          </p:cNvPr>
          <p:cNvSpPr txBox="1"/>
          <p:nvPr/>
        </p:nvSpPr>
        <p:spPr>
          <a:xfrm>
            <a:off x="8647621" y="195156"/>
            <a:ext cx="3086256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800" b="1">
                <a:solidFill>
                  <a:schemeClr val="bg1"/>
                </a:solidFill>
                <a:latin typeface="Untitled Sans" panose="020B0503030202060203" pitchFamily="34" charset="77"/>
              </a:rPr>
              <a:t>2026</a:t>
            </a:r>
            <a:endParaRPr lang="en-CA" sz="800" b="1">
              <a:solidFill>
                <a:schemeClr val="bg1"/>
              </a:solidFill>
              <a:latin typeface="Untitled Sans" panose="020B0503030202060203" pitchFamily="34" charset="77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B4094A-C293-87EC-89D6-3561EA7D1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5059" y="6341370"/>
            <a:ext cx="253471" cy="253404"/>
          </a:xfrm>
          <a:prstGeom prst="rect">
            <a:avLst/>
          </a:prstGeom>
        </p:spPr>
      </p:pic>
      <p:pic>
        <p:nvPicPr>
          <p:cNvPr id="11" name="Picture 10" descr="Text&#10;&#10;Description automatically generated with medium confidence">
            <a:extLst>
              <a:ext uri="{FF2B5EF4-FFF2-40B4-BE49-F238E27FC236}">
                <a16:creationId xmlns:a16="http://schemas.microsoft.com/office/drawing/2014/main" id="{E2473643-FC6D-8F6F-9F16-AA492FAE5558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3860" y="6331126"/>
            <a:ext cx="276393" cy="27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528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AC658F3-A1C7-A28B-2E5A-1887BABDAB9B}"/>
              </a:ext>
            </a:extLst>
          </p:cNvPr>
          <p:cNvSpPr txBox="1"/>
          <p:nvPr/>
        </p:nvSpPr>
        <p:spPr>
          <a:xfrm>
            <a:off x="507670" y="1851983"/>
            <a:ext cx="348342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dirty="0">
                <a:latin typeface="Untitled Sans Light" panose="020B0303030202060203" pitchFamily="34" charset="0"/>
              </a:rPr>
              <a:t>Our role is to </a:t>
            </a:r>
            <a:r>
              <a:rPr lang="en-CA" sz="1200" b="1" dirty="0">
                <a:latin typeface="Untitled Sans" panose="020B0503030202060203" pitchFamily="34" charset="77"/>
              </a:rPr>
              <a:t>translate team's</a:t>
            </a:r>
            <a:r>
              <a:rPr lang="en-CA" sz="1200" dirty="0">
                <a:latin typeface="Untitled Sans" panose="020B0503030202060203" pitchFamily="34" charset="77"/>
              </a:rPr>
              <a:t> </a:t>
            </a:r>
            <a:r>
              <a:rPr lang="en-CA" sz="1200" dirty="0">
                <a:latin typeface="Untitled Sans Light" panose="020B0303030202060203" pitchFamily="34" charset="0"/>
              </a:rPr>
              <a:t>pursuit strategy into a clear, compelling, client-facing proposal or presentation.</a:t>
            </a:r>
          </a:p>
          <a:p>
            <a:endParaRPr lang="en-CA" sz="1200" dirty="0">
              <a:latin typeface="Untitled Sans" panose="020B0503030202060203" pitchFamily="34" charset="77"/>
            </a:endParaRPr>
          </a:p>
          <a:p>
            <a:r>
              <a:rPr lang="en-CA" sz="1200" u="sng" dirty="0">
                <a:latin typeface="Untitled Sans Light" panose="020B0303030202060203" pitchFamily="34" charset="0"/>
              </a:rPr>
              <a:t>We do not simply retrieve content. We evaluate, contextualize, connect, tailor and transform it into compelling responses for each opportunity </a:t>
            </a:r>
            <a:endParaRPr lang="en-US" sz="1200" u="sng" dirty="0">
              <a:latin typeface="Untitled Sans Light" panose="020B030303020206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276BAA-5BCC-7E86-AA00-2EECC1A65B66}"/>
              </a:ext>
            </a:extLst>
          </p:cNvPr>
          <p:cNvSpPr txBox="1"/>
          <p:nvPr/>
        </p:nvSpPr>
        <p:spPr>
          <a:xfrm>
            <a:off x="507671" y="1275497"/>
            <a:ext cx="3483428" cy="488094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</a:pPr>
            <a:r>
              <a:rPr lang="en-CA" sz="4800" b="1" dirty="0">
                <a:latin typeface="Bebas Neue Bold" panose="020B0606020202050201" pitchFamily="34" charset="77"/>
              </a:rPr>
              <a:t>Proposals role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167556-1082-651E-3C37-6EC297CE75AA}"/>
              </a:ext>
            </a:extLst>
          </p:cNvPr>
          <p:cNvSpPr txBox="1"/>
          <p:nvPr/>
        </p:nvSpPr>
        <p:spPr>
          <a:xfrm>
            <a:off x="5346462" y="1194942"/>
            <a:ext cx="5778738" cy="5001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100" dirty="0">
                <a:latin typeface="Untitled Sans Light" panose="020B0303030202060203" pitchFamily="34" charset="0"/>
              </a:rPr>
              <a:t>Interpret the RFP to identify requirements, evaluation drivers, risks, client priorities, and the real ask behind the brief.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100" dirty="0">
                <a:latin typeface="Untitled Sans Light" panose="020B0303030202060203" pitchFamily="34" charset="0"/>
              </a:rPr>
              <a:t>Understand what leadership wants the client to believe, remember, and do.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100" dirty="0">
                <a:latin typeface="Untitled Sans Light" panose="020B0303030202060203" pitchFamily="34" charset="0"/>
              </a:rPr>
              <a:t>Develop the response strategy, win themes, key messages, structure, and narrative.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2"/>
                </a:solidFill>
                <a:latin typeface="Untitled Sans Light" panose="020B0303030202060203" pitchFamily="34" charset="0"/>
              </a:rPr>
              <a:t>Facilitate kickoffs and working sessions to align the pursuit team.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100" dirty="0">
                <a:latin typeface="Untitled Sans Light" panose="020B0303030202060203" pitchFamily="34" charset="0"/>
              </a:rPr>
              <a:t>Identify the most relevant projects, people, capabilities, and proof points, and explain why they matter.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100" dirty="0">
                <a:latin typeface="Untitled Sans Light" panose="020B0303030202060203" pitchFamily="34" charset="0"/>
              </a:rPr>
              <a:t>Gather existing content and determine what should be reused, adapted, updated, or created.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100" dirty="0">
                <a:latin typeface="Untitled Sans Light" panose="020B0303030202060203" pitchFamily="34" charset="0"/>
              </a:rPr>
              <a:t>Translate technical and multidisciplinary input into clear, concise, client-facing language.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100" dirty="0">
                <a:latin typeface="Untitled Sans Light" panose="020B0303030202060203" pitchFamily="34" charset="0"/>
              </a:rPr>
              <a:t>Turn different inputs into one cohesive story and visual approach.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100" dirty="0">
                <a:latin typeface="Untitled Sans Light" panose="020B0303030202060203" pitchFamily="34" charset="0"/>
              </a:rPr>
              <a:t>Shape page hierarchy, layouts, diagrams, presentations, and other visual storytelling.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2"/>
                </a:solidFill>
                <a:latin typeface="Untitled Sans Light" panose="020B0303030202060203" pitchFamily="34" charset="0"/>
              </a:rPr>
              <a:t>Coordinate directors, marketing, local teams, and subject-matter experts; assign responsibilities and follow up on missing information.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100" dirty="0">
                <a:latin typeface="Untitled Sans Light" panose="020B0303030202060203" pitchFamily="34" charset="0"/>
              </a:rPr>
              <a:t>Challenge generic claims, weak logic, repetition, unsupported statements, and content that does not advance the response.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100" dirty="0">
                <a:latin typeface="Untitled Sans Light" panose="020B0303030202060203" pitchFamily="34" charset="0"/>
              </a:rPr>
              <a:t>Adapt the approach to different clients, opportunities, leadership styles, and team preferences.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100" dirty="0">
                <a:latin typeface="Untitled Sans Light" panose="020B0303030202060203" pitchFamily="34" charset="0"/>
              </a:rPr>
              <a:t>Manage compliance, including requirements, attachments, page limits, forms, deadlines, and submission instructions.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accent2"/>
                </a:solidFill>
                <a:latin typeface="Untitled Sans Light" panose="020B0303030202060203" pitchFamily="34" charset="0"/>
              </a:rPr>
              <a:t>Protect the schedule and maintain momentum from kickoff through final delivery</a:t>
            </a:r>
            <a:r>
              <a:rPr lang="en-US" sz="1100" dirty="0">
                <a:solidFill>
                  <a:schemeClr val="accent5">
                    <a:lumMod val="60000"/>
                    <a:lumOff val="40000"/>
                  </a:schemeClr>
                </a:solidFill>
                <a:latin typeface="Untitled Sans Light" panose="020B0303030202060203" pitchFamily="34" charset="0"/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100" dirty="0">
                <a:latin typeface="Untitled Sans Light" panose="020B0303030202060203" pitchFamily="34" charset="0"/>
              </a:rPr>
              <a:t>Lead editing, quality control, proofreading, production, and submission.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100" dirty="0">
                <a:latin typeface="Untitled Sans Light" panose="020B0303030202060203" pitchFamily="34" charset="0"/>
              </a:rPr>
              <a:t>Identify outdated, duplicated, missing, or underdeveloped content within the library.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100" dirty="0">
                <a:latin typeface="Untitled Sans Light" panose="020B0303030202060203" pitchFamily="34" charset="0"/>
              </a:rPr>
              <a:t>Improve reusable content, templates, processes, and proposal best practices.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100" dirty="0">
              <a:solidFill>
                <a:schemeClr val="bg1"/>
              </a:solidFill>
              <a:latin typeface="Untitled Sans Light" panose="020B030303020206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EFA5D8-02F7-26C6-B887-1F1B13541977}"/>
              </a:ext>
            </a:extLst>
          </p:cNvPr>
          <p:cNvSpPr txBox="1"/>
          <p:nvPr/>
        </p:nvSpPr>
        <p:spPr>
          <a:xfrm>
            <a:off x="12404159" y="1205452"/>
            <a:ext cx="5778738" cy="4278094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  <a:latin typeface="Untitled Sans" panose="020B0503030202060203" pitchFamily="34" charset="77"/>
              </a:rPr>
              <a:t>Ensure the proposal meets RFP requirements and quality standards.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  <a:latin typeface="Untitled Sans" panose="020B0503030202060203" pitchFamily="34" charset="77"/>
              </a:rPr>
              <a:t>Work with directors, marketing, subject-matter experts, and local teams.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  <a:latin typeface="Untitled Sans" panose="020B0503030202060203" pitchFamily="34" charset="77"/>
              </a:rPr>
              <a:t>Understand what leadership wants the client to believe, remember, or 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  <a:latin typeface="Untitled Sans" panose="020B0503030202060203" pitchFamily="34" charset="77"/>
              </a:rPr>
              <a:t>Gather existing content and identify what is relevant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  <a:latin typeface="Untitled Sans" panose="020B0503030202060203" pitchFamily="34" charset="77"/>
              </a:rPr>
              <a:t>Decide what to reuse, adapt, or create.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  <a:latin typeface="Untitled Sans" panose="020B0503030202060203" pitchFamily="34" charset="77"/>
              </a:rPr>
              <a:t>Coordinate contributors and follow up on missing content.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  <a:latin typeface="Untitled Sans" panose="020B0503030202060203" pitchFamily="34" charset="77"/>
              </a:rPr>
              <a:t>Turn different inputs into one clear story and visual approach.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  <a:latin typeface="Untitled Sans" panose="020B0503030202060203" pitchFamily="34" charset="77"/>
              </a:rPr>
              <a:t>Adapt to different leadership, team, and client preferences.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  <a:latin typeface="Untitled Sans" panose="020B0503030202060203" pitchFamily="34" charset="77"/>
              </a:rPr>
              <a:t>Protect the schedule and deliver on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  <a:latin typeface="Untitled Sans" panose="020B0503030202060203" pitchFamily="34" charset="77"/>
              </a:rPr>
              <a:t>Manage final production, review, and submission.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>
                <a:solidFill>
                  <a:schemeClr val="bg1"/>
                </a:solidFill>
                <a:latin typeface="Untitled Sans" panose="020B0503030202060203" pitchFamily="34" charset="77"/>
              </a:rPr>
              <a:t>Quality control of document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089DB0-AE39-BAE3-069B-07E36AA69973}"/>
              </a:ext>
            </a:extLst>
          </p:cNvPr>
          <p:cNvSpPr txBox="1"/>
          <p:nvPr/>
        </p:nvSpPr>
        <p:spPr>
          <a:xfrm>
            <a:off x="425447" y="195156"/>
            <a:ext cx="3957710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800" dirty="0">
                <a:latin typeface="Untitled Sans Light" panose="020B0303030202060203" pitchFamily="34" charset="77"/>
              </a:rPr>
              <a:t>M MOSER ASSOCIATES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D6F501-D100-9B55-D145-B211A45C13A6}"/>
              </a:ext>
            </a:extLst>
          </p:cNvPr>
          <p:cNvSpPr txBox="1"/>
          <p:nvPr/>
        </p:nvSpPr>
        <p:spPr>
          <a:xfrm>
            <a:off x="8647621" y="195156"/>
            <a:ext cx="3086256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800" b="1">
                <a:latin typeface="Untitled Sans" panose="020B0503030202060203" pitchFamily="34" charset="77"/>
              </a:rPr>
              <a:t>2026</a:t>
            </a:r>
            <a:endParaRPr lang="en-CA" sz="800" b="1">
              <a:latin typeface="Untitled Sans" panose="020B0503030202060203" pitchFamily="34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CC5B6E-9841-D63A-6EC6-2380FB959D91}"/>
              </a:ext>
            </a:extLst>
          </p:cNvPr>
          <p:cNvSpPr/>
          <p:nvPr/>
        </p:nvSpPr>
        <p:spPr>
          <a:xfrm>
            <a:off x="614363" y="6339597"/>
            <a:ext cx="500062" cy="1537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F58634-3B2A-9530-B11A-E2B338B85593}"/>
              </a:ext>
            </a:extLst>
          </p:cNvPr>
          <p:cNvSpPr txBox="1"/>
          <p:nvPr/>
        </p:nvSpPr>
        <p:spPr>
          <a:xfrm>
            <a:off x="1114425" y="6284703"/>
            <a:ext cx="93868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100" dirty="0">
                <a:solidFill>
                  <a:srgbClr val="3F3F3F"/>
                </a:solidFill>
                <a:latin typeface="Helvetica" pitchFamily="2" charset="0"/>
              </a:rPr>
              <a:t>A</a:t>
            </a:r>
            <a:r>
              <a:rPr lang="en-CA" sz="1100" dirty="0">
                <a:solidFill>
                  <a:srgbClr val="3F3F3F"/>
                </a:solidFill>
                <a:effectLst/>
                <a:latin typeface="Helvetica" pitchFamily="2" charset="0"/>
              </a:rPr>
              <a:t>dmin tasks</a:t>
            </a:r>
          </a:p>
        </p:txBody>
      </p:sp>
    </p:spTree>
    <p:extLst>
      <p:ext uri="{BB962C8B-B14F-4D97-AF65-F5344CB8AC3E}">
        <p14:creationId xmlns:p14="http://schemas.microsoft.com/office/powerpoint/2010/main" val="1835893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B80B09-C072-AEB8-7B21-C9B061C189ED}"/>
              </a:ext>
            </a:extLst>
          </p:cNvPr>
          <p:cNvSpPr txBox="1"/>
          <p:nvPr/>
        </p:nvSpPr>
        <p:spPr>
          <a:xfrm>
            <a:off x="394519" y="-1000967"/>
            <a:ext cx="60984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 dirty="0"/>
              <a:t>tools and content sources I use today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E79BE1-5DA7-E168-9F86-29AE5E64BFE4}"/>
              </a:ext>
            </a:extLst>
          </p:cNvPr>
          <p:cNvSpPr txBox="1"/>
          <p:nvPr/>
        </p:nvSpPr>
        <p:spPr>
          <a:xfrm>
            <a:off x="507670" y="1687408"/>
            <a:ext cx="4147457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latin typeface="Untitled Sans Light" panose="020B0303030202060203" pitchFamily="34" charset="0"/>
              </a:rPr>
              <a:t>Email – Request comes in. We also gather client info, intel and track correspondence.</a:t>
            </a:r>
            <a:endParaRPr lang="en-CA" sz="1400" dirty="0">
              <a:latin typeface="Untitled Sans Light" panose="020B0303030202060203" pitchFamily="34" charset="0"/>
              <a:hlinkClick r:id="rId4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latin typeface="Untitled Sans Light" panose="020B0303030202060203" pitchFamily="34" charset="0"/>
                <a:hlinkClick r:id="rId4"/>
              </a:rPr>
              <a:t>Proposal Tracker  </a:t>
            </a:r>
            <a:r>
              <a:rPr lang="en-CA" sz="1400" dirty="0">
                <a:latin typeface="Untitled Sans Light" panose="020B0303030202060203" pitchFamily="34" charset="0"/>
              </a:rPr>
              <a:t>- Excel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latin typeface="Untitled Sans Light" panose="020B0303030202060203" pitchFamily="34" charset="0"/>
              </a:rPr>
              <a:t>Intake 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latin typeface="Untitled Sans Light" panose="020B0303030202060203" pitchFamily="34" charset="0"/>
              </a:rPr>
              <a:t>Project Folder/Channel (RFP Docs, Draft presentation &amp; Final Response)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latin typeface="Untitled Sans Light" panose="020B0303030202060203" pitchFamily="34" charset="0"/>
              </a:rPr>
              <a:t>Share point </a:t>
            </a:r>
          </a:p>
          <a:p>
            <a:pPr marL="742950" lvl="1" indent="-285750">
              <a:buFont typeface="Wingdings" pitchFamily="2" charset="2"/>
              <a:buChar char="§"/>
            </a:pPr>
            <a:r>
              <a:rPr lang="en-CA" sz="1400" dirty="0">
                <a:latin typeface="Untitled Sans Light" panose="020B0303030202060203" pitchFamily="34" charset="0"/>
                <a:hlinkClick r:id="rId5"/>
              </a:rPr>
              <a:t>Submittal Per Year</a:t>
            </a:r>
            <a:endParaRPr lang="en-CA" sz="1400" dirty="0">
              <a:latin typeface="Untitled Sans Light" panose="020B0303030202060203" pitchFamily="34" charset="0"/>
            </a:endParaRPr>
          </a:p>
          <a:p>
            <a:pPr marL="742950" lvl="1" indent="-285750">
              <a:buFont typeface="Wingdings" pitchFamily="2" charset="2"/>
              <a:buChar char="§"/>
            </a:pPr>
            <a:r>
              <a:rPr lang="en-CA" sz="1400" dirty="0">
                <a:latin typeface="Untitled Sans Light" panose="020B0303030202060203" pitchFamily="34" charset="0"/>
                <a:hlinkClick r:id="rId6"/>
              </a:rPr>
              <a:t>Best of the Best (IDD, MSA, DESIGN) </a:t>
            </a:r>
            <a:endParaRPr lang="en-CA" sz="1400" dirty="0">
              <a:latin typeface="Untitled Sans Light" panose="020B030303020206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latin typeface="Untitled Sans Light" panose="020B0303030202060203" pitchFamily="34" charset="0"/>
                <a:hlinkClick r:id="rId7"/>
              </a:rPr>
              <a:t>Monster Deck (library)</a:t>
            </a:r>
            <a:endParaRPr lang="en-CA" sz="1400" dirty="0">
              <a:latin typeface="Untitled Sans Light" panose="020B030303020206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latin typeface="Untitled Sans Light" panose="020B0303030202060203" pitchFamily="34" charset="0"/>
                <a:hlinkClick r:id="rId8"/>
              </a:rPr>
              <a:t>Post RFP De-Brief</a:t>
            </a:r>
            <a:endParaRPr lang="en-CA" sz="1400" dirty="0">
              <a:latin typeface="Untitled Sans Light" panose="020B030303020206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latin typeface="Untitled Sans Light" panose="020B0303030202060203" pitchFamily="34" charset="0"/>
              </a:rPr>
              <a:t>Case studies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latin typeface="Untitled Sans Light" panose="020B0303030202060203" pitchFamily="34" charset="0"/>
              </a:rPr>
              <a:t>KC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latin typeface="Untitled Sans Light" panose="020B0303030202060203" pitchFamily="34" charset="0"/>
              </a:rPr>
              <a:t>Website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400" dirty="0">
                <a:latin typeface="Untitled Sans Light" panose="020B0303030202060203" pitchFamily="34" charset="0"/>
              </a:rPr>
              <a:t>ChatGPT &amp; Claude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400" dirty="0">
              <a:latin typeface="Untitled Sans Light" panose="020B030303020206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400" b="1" dirty="0">
              <a:latin typeface="Untitled Sans Light" panose="020B030303020206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0DC16E-4DFB-0A48-C74D-1D0DF6D49B20}"/>
              </a:ext>
            </a:extLst>
          </p:cNvPr>
          <p:cNvSpPr txBox="1"/>
          <p:nvPr/>
        </p:nvSpPr>
        <p:spPr>
          <a:xfrm>
            <a:off x="5482712" y="7125080"/>
            <a:ext cx="60984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The opportunity is to make that content easier to find, trust, reuse and maintain.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D63785-55C9-AF6F-D6C5-1F903C3E7A60}"/>
              </a:ext>
            </a:extLst>
          </p:cNvPr>
          <p:cNvSpPr txBox="1"/>
          <p:nvPr/>
        </p:nvSpPr>
        <p:spPr>
          <a:xfrm>
            <a:off x="507670" y="740313"/>
            <a:ext cx="3856511" cy="91966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</a:pPr>
            <a:r>
              <a:rPr lang="en-CA" sz="4400" b="1" dirty="0">
                <a:latin typeface="Bebas Neue Bold" panose="020B0606020202050201" pitchFamily="34" charset="77"/>
              </a:rPr>
              <a:t>Tools &amp; content sources we use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807F7DE-3811-98C4-B29F-D21773617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9524732"/>
              </p:ext>
            </p:extLst>
          </p:nvPr>
        </p:nvGraphicFramePr>
        <p:xfrm>
          <a:off x="4921828" y="636059"/>
          <a:ext cx="6494318" cy="2995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7737">
                  <a:extLst>
                    <a:ext uri="{9D8B030D-6E8A-4147-A177-3AD203B41FA5}">
                      <a16:colId xmlns:a16="http://schemas.microsoft.com/office/drawing/2014/main" val="922516576"/>
                    </a:ext>
                  </a:extLst>
                </a:gridCol>
                <a:gridCol w="1422541">
                  <a:extLst>
                    <a:ext uri="{9D8B030D-6E8A-4147-A177-3AD203B41FA5}">
                      <a16:colId xmlns:a16="http://schemas.microsoft.com/office/drawing/2014/main" val="117784384"/>
                    </a:ext>
                  </a:extLst>
                </a:gridCol>
                <a:gridCol w="3354040">
                  <a:extLst>
                    <a:ext uri="{9D8B030D-6E8A-4147-A177-3AD203B41FA5}">
                      <a16:colId xmlns:a16="http://schemas.microsoft.com/office/drawing/2014/main" val="2418182270"/>
                    </a:ext>
                  </a:extLst>
                </a:gridCol>
              </a:tblGrid>
              <a:tr h="216372">
                <a:tc>
                  <a:txBody>
                    <a:bodyPr/>
                    <a:lstStyle/>
                    <a:p>
                      <a:pPr marL="0" marR="0" lvl="0" indent="0" algn="l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kern="1200" dirty="0">
                          <a:solidFill>
                            <a:schemeClr val="tx1"/>
                          </a:solidFill>
                          <a:latin typeface="Untitled Sans" panose="020B0503030202060203" pitchFamily="34" charset="0"/>
                          <a:ea typeface="+mn-ea"/>
                          <a:cs typeface="+mn-cs"/>
                        </a:rPr>
                        <a:t>RFP/RFQ Name: </a:t>
                      </a:r>
                    </a:p>
                  </a:txBody>
                  <a:tcPr marL="64912" marR="64912" marT="32456" marB="32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en-CA" sz="10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912" marR="64912" marT="32456" marB="32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>
                        <a:solidFill>
                          <a:schemeClr val="tx1"/>
                        </a:solidFill>
                        <a:latin typeface="Untitled Sans" panose="020B050303020206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121463"/>
                  </a:ext>
                </a:extLst>
              </a:tr>
              <a:tr h="178507">
                <a:tc>
                  <a:txBody>
                    <a:bodyPr/>
                    <a:lstStyle/>
                    <a:p>
                      <a:pPr marL="0" marR="0" lvl="0" indent="0" algn="l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kern="1200">
                          <a:solidFill>
                            <a:schemeClr val="tx1"/>
                          </a:solidFill>
                          <a:latin typeface="Untitled Sans" panose="020B0503030202060203" pitchFamily="34" charset="0"/>
                          <a:ea typeface="+mn-ea"/>
                          <a:cs typeface="+mn-cs"/>
                        </a:rPr>
                        <a:t>MMA Project No.:</a:t>
                      </a:r>
                    </a:p>
                  </a:txBody>
                  <a:tcPr marL="64912" marR="64912" marT="32456" marB="32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en-US" sz="700" b="1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912" marR="64912" marT="32456" marB="32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>
                        <a:solidFill>
                          <a:schemeClr val="tx1"/>
                        </a:solidFill>
                        <a:latin typeface="Untitled Sans" panose="020B050303020206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213103"/>
                  </a:ext>
                </a:extLst>
              </a:tr>
              <a:tr h="173098">
                <a:tc>
                  <a:txBody>
                    <a:bodyPr/>
                    <a:lstStyle/>
                    <a:p>
                      <a:r>
                        <a:rPr lang="en-US" sz="700" b="1">
                          <a:solidFill>
                            <a:schemeClr val="tx1"/>
                          </a:solidFill>
                          <a:latin typeface="Untitled Sans" panose="020B0503030202060203" pitchFamily="34" charset="0"/>
                        </a:rPr>
                        <a:t>MILESTONE </a:t>
                      </a:r>
                    </a:p>
                  </a:txBody>
                  <a:tcPr marL="64912" marR="64912" marT="32456" marB="32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>
                          <a:solidFill>
                            <a:schemeClr val="tx1"/>
                          </a:solidFill>
                          <a:latin typeface="Untitled Sans" panose="020B0503030202060203" pitchFamily="34" charset="0"/>
                        </a:rPr>
                        <a:t>DATE </a:t>
                      </a:r>
                    </a:p>
                  </a:txBody>
                  <a:tcPr marL="64912" marR="64912" marT="32456" marB="32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700" b="1">
                          <a:solidFill>
                            <a:schemeClr val="tx1"/>
                          </a:solidFill>
                          <a:latin typeface="Untitled Sans" panose="020B0503030202060203" pitchFamily="34" charset="0"/>
                        </a:rPr>
                        <a:t>COMMENT </a:t>
                      </a:r>
                    </a:p>
                  </a:txBody>
                  <a:tcPr marL="64912" marR="64912" marT="32456" marB="32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932405"/>
                  </a:ext>
                </a:extLst>
              </a:tr>
              <a:tr h="173098">
                <a:tc>
                  <a:txBody>
                    <a:bodyPr/>
                    <a:lstStyle/>
                    <a:p>
                      <a:pPr marL="0" marR="0" lvl="0" indent="0" algn="l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solidFill>
                            <a:schemeClr val="tx1"/>
                          </a:solidFill>
                          <a:latin typeface="Untitled Sans" panose="020B0503030202060203" pitchFamily="34" charset="0"/>
                        </a:rPr>
                        <a:t>Issue Date:</a:t>
                      </a:r>
                    </a:p>
                  </a:txBody>
                  <a:tcPr marL="64912" marR="64912" marT="32456" marB="32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7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808" marR="3380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>
                        <a:solidFill>
                          <a:schemeClr val="tx1"/>
                        </a:solidFill>
                        <a:latin typeface="Untitled Sans" panose="020B0503030202060203" pitchFamily="34" charset="0"/>
                      </a:endParaRPr>
                    </a:p>
                  </a:txBody>
                  <a:tcPr marL="64912" marR="64912" marT="32456" marB="32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671287"/>
                  </a:ext>
                </a:extLst>
              </a:tr>
              <a:tr h="173098">
                <a:tc>
                  <a:txBody>
                    <a:bodyPr/>
                    <a:lstStyle/>
                    <a:p>
                      <a:r>
                        <a:rPr lang="en-US" sz="700" dirty="0">
                          <a:solidFill>
                            <a:schemeClr val="tx1"/>
                          </a:solidFill>
                          <a:latin typeface="Untitled Sans" panose="020B0503030202060203" pitchFamily="34" charset="0"/>
                        </a:rPr>
                        <a:t>Site Meeting:</a:t>
                      </a:r>
                    </a:p>
                  </a:txBody>
                  <a:tcPr marL="64912" marR="64912" marT="32456" marB="32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CA" sz="7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912" marR="64912" marT="32456" marB="324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7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4912" marR="64912" marT="32456" marB="32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628796"/>
                  </a:ext>
                </a:extLst>
              </a:tr>
              <a:tr h="178507">
                <a:tc>
                  <a:txBody>
                    <a:bodyPr/>
                    <a:lstStyle/>
                    <a:p>
                      <a:r>
                        <a:rPr lang="en-US" sz="700" dirty="0">
                          <a:solidFill>
                            <a:schemeClr val="tx1"/>
                          </a:solidFill>
                          <a:latin typeface="Untitled Sans" panose="020B0503030202060203" pitchFamily="34" charset="0"/>
                        </a:rPr>
                        <a:t>Questions Deadline:</a:t>
                      </a:r>
                    </a:p>
                  </a:txBody>
                  <a:tcPr marL="64912" marR="64912" marT="32456" marB="32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7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808" marR="3380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b="0" dirty="0">
                        <a:solidFill>
                          <a:schemeClr val="tx1"/>
                        </a:solidFill>
                        <a:latin typeface="Untitled Sans" panose="020B0503030202060203" pitchFamily="34" charset="0"/>
                      </a:endParaRPr>
                    </a:p>
                  </a:txBody>
                  <a:tcPr marL="64912" marR="64912" marT="32456" marB="32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108166"/>
                  </a:ext>
                </a:extLst>
              </a:tr>
              <a:tr h="178507">
                <a:tc>
                  <a:txBody>
                    <a:bodyPr/>
                    <a:lstStyle/>
                    <a:p>
                      <a:r>
                        <a:rPr lang="en-US" sz="700">
                          <a:solidFill>
                            <a:schemeClr val="tx1"/>
                          </a:solidFill>
                          <a:latin typeface="Untitled Sans" panose="020B0503030202060203" pitchFamily="34" charset="0"/>
                        </a:rPr>
                        <a:t>Addendum Deadline:</a:t>
                      </a:r>
                    </a:p>
                  </a:txBody>
                  <a:tcPr marL="64912" marR="64912" marT="32456" marB="32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CA" sz="7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3808" marR="33808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b="0" dirty="0">
                        <a:solidFill>
                          <a:schemeClr val="tx1"/>
                        </a:solidFill>
                        <a:latin typeface="Untitled Sans" panose="020B0503030202060203" pitchFamily="34" charset="0"/>
                      </a:endParaRPr>
                    </a:p>
                  </a:txBody>
                  <a:tcPr marL="64912" marR="64912" marT="32456" marB="32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624425"/>
                  </a:ext>
                </a:extLst>
              </a:tr>
              <a:tr h="173098">
                <a:tc>
                  <a:txBody>
                    <a:bodyPr/>
                    <a:lstStyle/>
                    <a:p>
                      <a:r>
                        <a:rPr lang="en-US" sz="700" dirty="0">
                          <a:solidFill>
                            <a:schemeClr val="tx1"/>
                          </a:solidFill>
                          <a:latin typeface="Untitled Sans" panose="020B0503030202060203" pitchFamily="34" charset="0"/>
                        </a:rPr>
                        <a:t>Deadline: </a:t>
                      </a:r>
                    </a:p>
                  </a:txBody>
                  <a:tcPr marL="64912" marR="64912" marT="32456" marB="32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7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808" marR="3380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700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4912" marR="64912" marT="32456" marB="32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443031"/>
                  </a:ext>
                </a:extLst>
              </a:tr>
              <a:tr h="173098">
                <a:tc>
                  <a:txBody>
                    <a:bodyPr/>
                    <a:lstStyle/>
                    <a:p>
                      <a:r>
                        <a:rPr lang="en-US" sz="700">
                          <a:solidFill>
                            <a:schemeClr val="tx1"/>
                          </a:solidFill>
                          <a:latin typeface="Untitled Sans" panose="020B0503030202060203" pitchFamily="34" charset="0"/>
                        </a:rPr>
                        <a:t>Interviews:</a:t>
                      </a:r>
                    </a:p>
                  </a:txBody>
                  <a:tcPr marL="64912" marR="64912" marT="32456" marB="32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7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808" marR="3380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solidFill>
                          <a:schemeClr val="tx1"/>
                        </a:solidFill>
                        <a:latin typeface="Untitled Sans" panose="020B0503030202060203" pitchFamily="34" charset="0"/>
                      </a:endParaRPr>
                    </a:p>
                  </a:txBody>
                  <a:tcPr marL="64912" marR="64912" marT="32456" marB="32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7019278"/>
                  </a:ext>
                </a:extLst>
              </a:tr>
              <a:tr h="173098">
                <a:tc>
                  <a:txBody>
                    <a:bodyPr/>
                    <a:lstStyle/>
                    <a:p>
                      <a:r>
                        <a:rPr lang="en-US" sz="700">
                          <a:solidFill>
                            <a:schemeClr val="tx1"/>
                          </a:solidFill>
                          <a:latin typeface="Untitled Sans" panose="020B0503030202060203" pitchFamily="34" charset="0"/>
                        </a:rPr>
                        <a:t>Award:</a:t>
                      </a:r>
                    </a:p>
                  </a:txBody>
                  <a:tcPr marL="64912" marR="64912" marT="32456" marB="32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700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3808" marR="33808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700" dirty="0">
                        <a:solidFill>
                          <a:schemeClr val="tx1"/>
                        </a:solidFill>
                        <a:latin typeface="Untitled Sans" panose="020B0503030202060203" pitchFamily="34" charset="0"/>
                      </a:endParaRPr>
                    </a:p>
                  </a:txBody>
                  <a:tcPr marL="64912" marR="64912" marT="32456" marB="32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002224"/>
                  </a:ext>
                </a:extLst>
              </a:tr>
              <a:tr h="173098">
                <a:tc>
                  <a:txBody>
                    <a:bodyPr/>
                    <a:lstStyle/>
                    <a:p>
                      <a:pPr marL="0" marR="0" lvl="0" indent="0" algn="l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kern="1200" dirty="0">
                          <a:solidFill>
                            <a:schemeClr val="tx1"/>
                          </a:solidFill>
                          <a:latin typeface="Untitled Sans" panose="020B0503030202060203" pitchFamily="34" charset="0"/>
                          <a:ea typeface="+mn-ea"/>
                          <a:cs typeface="+mn-cs"/>
                        </a:rPr>
                        <a:t>PROJECT DETAILS </a:t>
                      </a:r>
                      <a:endParaRPr lang="en-US" sz="700" dirty="0">
                        <a:solidFill>
                          <a:schemeClr val="tx1"/>
                        </a:solidFill>
                        <a:latin typeface="Untitled Sans" panose="020B0503030202060203" pitchFamily="34" charset="0"/>
                      </a:endParaRPr>
                    </a:p>
                  </a:txBody>
                  <a:tcPr marL="48684" marR="486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l" defTabSz="1371600" rtl="0" eaLnBrk="1" latinLnBrk="0" hangingPunct="1"/>
                      <a:r>
                        <a:rPr lang="en-US" sz="700" b="1" kern="1200" dirty="0">
                          <a:solidFill>
                            <a:schemeClr val="tx1"/>
                          </a:solidFill>
                          <a:latin typeface="Untitled Sans" panose="020B0503030202060203" pitchFamily="34" charset="0"/>
                          <a:ea typeface="+mn-ea"/>
                          <a:cs typeface="+mn-cs"/>
                        </a:rPr>
                        <a:t>INFORMATION </a:t>
                      </a:r>
                    </a:p>
                  </a:txBody>
                  <a:tcPr marL="48684" marR="48684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930482"/>
                  </a:ext>
                </a:extLst>
              </a:tr>
              <a:tr h="162279">
                <a:tc>
                  <a:txBody>
                    <a:bodyPr/>
                    <a:lstStyle/>
                    <a:p>
                      <a:pPr marL="0" marR="0" lvl="0" indent="0" algn="l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700" kern="1200">
                          <a:solidFill>
                            <a:schemeClr val="tx1"/>
                          </a:solidFill>
                          <a:latin typeface="Untitled Sans" panose="020B0503030202060203" pitchFamily="34" charset="0"/>
                          <a:ea typeface="+mn-ea"/>
                          <a:cs typeface="+mn-cs"/>
                        </a:rPr>
                        <a:t>Size:</a:t>
                      </a:r>
                      <a:endParaRPr lang="en-US" sz="700" kern="1200">
                        <a:solidFill>
                          <a:schemeClr val="tx1"/>
                        </a:solidFill>
                        <a:latin typeface="Untitled Sans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48684" marR="486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en-CA" sz="600" kern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64912" marR="64912" marT="32456" marB="32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88539"/>
                  </a:ext>
                </a:extLst>
              </a:tr>
              <a:tr h="173098">
                <a:tc>
                  <a:txBody>
                    <a:bodyPr/>
                    <a:lstStyle/>
                    <a:p>
                      <a:pPr marL="0" marR="0" lvl="0" indent="0" algn="l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700" kern="1200" dirty="0">
                          <a:solidFill>
                            <a:schemeClr val="tx1"/>
                          </a:solidFill>
                          <a:latin typeface="Untitled Sans" panose="020B0503030202060203" pitchFamily="34" charset="0"/>
                          <a:ea typeface="+mn-ea"/>
                          <a:cs typeface="+mn-cs"/>
                        </a:rPr>
                        <a:t>Value, cost: 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Untitled Sans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48684" marR="486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en-US" sz="700" i="1" dirty="0">
                        <a:solidFill>
                          <a:schemeClr val="tx1"/>
                        </a:solidFill>
                        <a:latin typeface="Untitled Sans" panose="020B0503030202060203" pitchFamily="34" charset="0"/>
                      </a:endParaRPr>
                    </a:p>
                  </a:txBody>
                  <a:tcPr marL="64912" marR="64912" marT="32456" marB="32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588024"/>
                  </a:ext>
                </a:extLst>
              </a:tr>
              <a:tr h="162279">
                <a:tc>
                  <a:txBody>
                    <a:bodyPr/>
                    <a:lstStyle/>
                    <a:p>
                      <a:pPr marL="0" marR="0" lvl="0" indent="0" algn="l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700" kern="1200">
                          <a:solidFill>
                            <a:schemeClr val="tx1"/>
                          </a:solidFill>
                          <a:latin typeface="Untitled Sans" panose="020B0503030202060203" pitchFamily="34" charset="0"/>
                          <a:ea typeface="+mn-ea"/>
                          <a:cs typeface="+mn-cs"/>
                        </a:rPr>
                        <a:t>Services required:</a:t>
                      </a:r>
                      <a:endParaRPr lang="en-US" sz="700" kern="1200">
                        <a:solidFill>
                          <a:schemeClr val="tx1"/>
                        </a:solidFill>
                        <a:latin typeface="Untitled Sans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48684" marR="486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en-CA" sz="600" b="0" kern="1200" dirty="0">
                        <a:solidFill>
                          <a:schemeClr val="tx1"/>
                        </a:solidFill>
                        <a:latin typeface="Untitled Sans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64912" marR="64912" marT="32456" marB="32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8929828"/>
                  </a:ext>
                </a:extLst>
              </a:tr>
              <a:tr h="183916">
                <a:tc>
                  <a:txBody>
                    <a:bodyPr/>
                    <a:lstStyle/>
                    <a:p>
                      <a:pPr marL="0" marR="0" lvl="0" indent="0" algn="l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700" kern="1200" dirty="0">
                          <a:solidFill>
                            <a:schemeClr val="tx1"/>
                          </a:solidFill>
                          <a:latin typeface="Untitled Sans" panose="020B0503030202060203" pitchFamily="34" charset="0"/>
                          <a:ea typeface="+mn-ea"/>
                          <a:cs typeface="+mn-cs"/>
                        </a:rPr>
                        <a:t>Project schedule: 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Untitled Sans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48684" marR="486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CA" sz="80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912" marR="64912" marT="32456" marB="32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0549596"/>
                  </a:ext>
                </a:extLst>
              </a:tr>
              <a:tr h="173098">
                <a:tc>
                  <a:txBody>
                    <a:bodyPr/>
                    <a:lstStyle/>
                    <a:p>
                      <a:pPr marL="0" marR="0" lvl="0" indent="0" algn="l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700" kern="1200" dirty="0">
                          <a:solidFill>
                            <a:schemeClr val="tx1"/>
                          </a:solidFill>
                          <a:latin typeface="Untitled Sans" panose="020B0503030202060203" pitchFamily="34" charset="0"/>
                          <a:ea typeface="+mn-ea"/>
                          <a:cs typeface="+mn-cs"/>
                        </a:rPr>
                        <a:t>Sustainability: 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Untitled Sans" panose="020B0503030202060203" pitchFamily="34" charset="0"/>
                        <a:ea typeface="+mn-ea"/>
                        <a:cs typeface="+mn-cs"/>
                      </a:endParaRPr>
                    </a:p>
                  </a:txBody>
                  <a:tcPr marL="48684" marR="486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en-CA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912" marR="64912" marT="32456" marB="32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3873507"/>
                  </a:ext>
                </a:extLst>
              </a:tr>
              <a:tr h="173098">
                <a:tc>
                  <a:txBody>
                    <a:bodyPr/>
                    <a:lstStyle/>
                    <a:p>
                      <a:pPr marL="0" marR="0" lvl="0" indent="0" algn="l" defTabSz="13716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kern="1200">
                          <a:solidFill>
                            <a:schemeClr val="tx1"/>
                          </a:solidFill>
                          <a:latin typeface="Untitled Sans" panose="020B0503030202060203" pitchFamily="34" charset="0"/>
                          <a:ea typeface="+mn-ea"/>
                          <a:cs typeface="+mn-cs"/>
                        </a:rPr>
                        <a:t>Sub-Consultants Required:</a:t>
                      </a:r>
                    </a:p>
                  </a:txBody>
                  <a:tcPr marL="48684" marR="4868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en-US" sz="700" dirty="0">
                        <a:solidFill>
                          <a:schemeClr val="tx1"/>
                        </a:solidFill>
                        <a:latin typeface="Untitled Sans" panose="020B0503030202060203" pitchFamily="34" charset="0"/>
                      </a:endParaRPr>
                    </a:p>
                  </a:txBody>
                  <a:tcPr marL="64912" marR="64912" marT="32456" marB="32456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973302"/>
                  </a:ext>
                </a:extLst>
              </a:tr>
            </a:tbl>
          </a:graphicData>
        </a:graphic>
      </p:graphicFrame>
      <p:graphicFrame>
        <p:nvGraphicFramePr>
          <p:cNvPr id="9" name="Table 3">
            <a:extLst>
              <a:ext uri="{FF2B5EF4-FFF2-40B4-BE49-F238E27FC236}">
                <a16:creationId xmlns:a16="http://schemas.microsoft.com/office/drawing/2014/main" id="{02FE06F6-F20B-FEA6-B33D-165BB326D7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351811"/>
              </p:ext>
            </p:extLst>
          </p:nvPr>
        </p:nvGraphicFramePr>
        <p:xfrm>
          <a:off x="4921828" y="3808090"/>
          <a:ext cx="6594756" cy="9435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7667">
                  <a:extLst>
                    <a:ext uri="{9D8B030D-6E8A-4147-A177-3AD203B41FA5}">
                      <a16:colId xmlns:a16="http://schemas.microsoft.com/office/drawing/2014/main" val="922516576"/>
                    </a:ext>
                  </a:extLst>
                </a:gridCol>
                <a:gridCol w="414318">
                  <a:extLst>
                    <a:ext uri="{9D8B030D-6E8A-4147-A177-3AD203B41FA5}">
                      <a16:colId xmlns:a16="http://schemas.microsoft.com/office/drawing/2014/main" val="3299178225"/>
                    </a:ext>
                  </a:extLst>
                </a:gridCol>
                <a:gridCol w="3123442">
                  <a:extLst>
                    <a:ext uri="{9D8B030D-6E8A-4147-A177-3AD203B41FA5}">
                      <a16:colId xmlns:a16="http://schemas.microsoft.com/office/drawing/2014/main" val="3460487549"/>
                    </a:ext>
                  </a:extLst>
                </a:gridCol>
                <a:gridCol w="749329">
                  <a:extLst>
                    <a:ext uri="{9D8B030D-6E8A-4147-A177-3AD203B41FA5}">
                      <a16:colId xmlns:a16="http://schemas.microsoft.com/office/drawing/2014/main" val="2318645123"/>
                    </a:ext>
                  </a:extLst>
                </a:gridCol>
              </a:tblGrid>
              <a:tr h="137091">
                <a:tc gridSpan="4">
                  <a:txBody>
                    <a:bodyPr/>
                    <a:lstStyle/>
                    <a:p>
                      <a:pPr algn="l"/>
                      <a:r>
                        <a:rPr lang="en-US" sz="600" b="1" dirty="0">
                          <a:solidFill>
                            <a:schemeClr val="tx1"/>
                          </a:solidFill>
                          <a:latin typeface="Untitled Sans" panose="020B0503030202060203" pitchFamily="34" charset="0"/>
                        </a:rPr>
                        <a:t>SUBMISSION REQUIREMENTS </a:t>
                      </a:r>
                    </a:p>
                  </a:txBody>
                  <a:tcPr marL="51409" marR="51409" marT="25704" marB="25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000" b="1" dirty="0">
                        <a:solidFill>
                          <a:schemeClr val="tx1"/>
                        </a:solidFill>
                        <a:latin typeface="Untitled Sans" panose="020B050303020206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000" b="1" dirty="0">
                        <a:solidFill>
                          <a:schemeClr val="tx1"/>
                        </a:solidFill>
                        <a:latin typeface="Untitled Sans" panose="020B050303020206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000" b="1" dirty="0">
                        <a:solidFill>
                          <a:schemeClr val="tx1"/>
                        </a:solidFill>
                        <a:latin typeface="Untitled Sans" panose="020B0503030202060203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932405"/>
                  </a:ext>
                </a:extLst>
              </a:tr>
              <a:tr h="145659">
                <a:tc>
                  <a:txBody>
                    <a:bodyPr/>
                    <a:lstStyle/>
                    <a:p>
                      <a:r>
                        <a:rPr lang="en-US" sz="600" b="1" dirty="0">
                          <a:solidFill>
                            <a:schemeClr val="tx1"/>
                          </a:solidFill>
                          <a:latin typeface="Untitled Sans" panose="020B0503030202060203" pitchFamily="34" charset="0"/>
                        </a:rPr>
                        <a:t>Requirement </a:t>
                      </a:r>
                    </a:p>
                  </a:txBody>
                  <a:tcPr marL="51409" marR="51409" marT="25704" marB="25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1">
                          <a:solidFill>
                            <a:schemeClr val="tx1"/>
                          </a:solidFill>
                          <a:latin typeface="Untitled Sans" panose="020B0503030202060203" pitchFamily="34" charset="0"/>
                        </a:rPr>
                        <a:t>Lead </a:t>
                      </a:r>
                    </a:p>
                  </a:txBody>
                  <a:tcPr marL="51409" marR="51409" marT="25704" marB="25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1">
                          <a:solidFill>
                            <a:schemeClr val="tx1"/>
                          </a:solidFill>
                          <a:latin typeface="Untitled Sans" panose="020B0503030202060203" pitchFamily="34" charset="0"/>
                        </a:rPr>
                        <a:t>Notes </a:t>
                      </a:r>
                    </a:p>
                  </a:txBody>
                  <a:tcPr marL="51409" marR="51409" marT="25704" marB="25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1">
                          <a:solidFill>
                            <a:schemeClr val="tx1"/>
                          </a:solidFill>
                          <a:latin typeface="Untitled Sans" panose="020B0503030202060203" pitchFamily="34" charset="0"/>
                        </a:rPr>
                        <a:t>Status </a:t>
                      </a:r>
                    </a:p>
                  </a:txBody>
                  <a:tcPr marL="51409" marR="51409" marT="25704" marB="25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3671287"/>
                  </a:ext>
                </a:extLst>
              </a:tr>
              <a:tr h="257045">
                <a:tc>
                  <a:txBody>
                    <a:bodyPr/>
                    <a:lstStyle/>
                    <a:p>
                      <a:endParaRPr lang="en-CA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09" marR="51409" marT="25704" marB="25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>
                        <a:solidFill>
                          <a:schemeClr val="tx1"/>
                        </a:solidFill>
                        <a:latin typeface="Untitled Sans" panose="020B0503030202060203" pitchFamily="34" charset="0"/>
                      </a:endParaRPr>
                    </a:p>
                  </a:txBody>
                  <a:tcPr marL="51409" marR="51409" marT="25704" marB="25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09" marR="51409" marT="25704" marB="25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1">
                          <a:solidFill>
                            <a:schemeClr val="tx1"/>
                          </a:solidFill>
                          <a:latin typeface="Untitled Sans" panose="020B0503030202060203" pitchFamily="34" charset="0"/>
                        </a:rPr>
                        <a:t>complete </a:t>
                      </a:r>
                    </a:p>
                  </a:txBody>
                  <a:tcPr marL="51409" marR="51409" marT="25704" marB="25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2396772"/>
                  </a:ext>
                </a:extLst>
              </a:tr>
              <a:tr h="154227">
                <a:tc>
                  <a:txBody>
                    <a:bodyPr/>
                    <a:lstStyle/>
                    <a:p>
                      <a:endParaRPr lang="en-CA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09" marR="51409" marT="25704" marB="25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>
                        <a:solidFill>
                          <a:schemeClr val="tx1"/>
                        </a:solidFill>
                        <a:latin typeface="Untitled Sans" panose="020B0503030202060203" pitchFamily="34" charset="0"/>
                      </a:endParaRPr>
                    </a:p>
                  </a:txBody>
                  <a:tcPr marL="51409" marR="51409" marT="25704" marB="25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09" marR="51409" marT="25704" marB="25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1">
                          <a:solidFill>
                            <a:schemeClr val="tx1"/>
                          </a:solidFill>
                          <a:latin typeface="Untitled Sans" panose="020B0503030202060203" pitchFamily="34" charset="0"/>
                        </a:rPr>
                        <a:t>in progress </a:t>
                      </a:r>
                    </a:p>
                  </a:txBody>
                  <a:tcPr marL="51409" marR="51409" marT="25704" marB="25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628796"/>
                  </a:ext>
                </a:extLst>
              </a:tr>
              <a:tr h="239909">
                <a:tc>
                  <a:txBody>
                    <a:bodyPr/>
                    <a:lstStyle/>
                    <a:p>
                      <a:endParaRPr lang="en-CA" sz="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09" marR="51409" marT="25704" marB="25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>
                        <a:solidFill>
                          <a:schemeClr val="tx1"/>
                        </a:solidFill>
                        <a:latin typeface="Untitled Sans" panose="020B0503030202060203" pitchFamily="34" charset="0"/>
                      </a:endParaRPr>
                    </a:p>
                  </a:txBody>
                  <a:tcPr marL="51409" marR="51409" marT="25704" marB="25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CA" sz="6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1409" marR="51409" marT="25704" marB="25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600" b="1" dirty="0">
                          <a:solidFill>
                            <a:schemeClr val="tx1"/>
                          </a:solidFill>
                          <a:latin typeface="Untitled Sans" panose="020B0503030202060203" pitchFamily="34" charset="0"/>
                        </a:rPr>
                        <a:t>off target / challenge </a:t>
                      </a:r>
                    </a:p>
                  </a:txBody>
                  <a:tcPr marL="51409" marR="51409" marT="25704" marB="25704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108166"/>
                  </a:ext>
                </a:extLst>
              </a:tr>
            </a:tbl>
          </a:graphicData>
        </a:graphic>
      </p:graphicFrame>
      <p:pic>
        <p:nvPicPr>
          <p:cNvPr id="11" name="Picture 10" descr="A screenshot of a phone&#10;&#10;Description automatically generated">
            <a:extLst>
              <a:ext uri="{FF2B5EF4-FFF2-40B4-BE49-F238E27FC236}">
                <a16:creationId xmlns:a16="http://schemas.microsoft.com/office/drawing/2014/main" id="{7BAB58D2-F854-EA6B-B009-07A3B777850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45800" y="1194942"/>
            <a:ext cx="3140673" cy="444928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946C1E-F3AD-8D37-8C68-18E40F46CA7F}"/>
              </a:ext>
            </a:extLst>
          </p:cNvPr>
          <p:cNvSpPr txBox="1"/>
          <p:nvPr/>
        </p:nvSpPr>
        <p:spPr>
          <a:xfrm>
            <a:off x="425447" y="195156"/>
            <a:ext cx="3957710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800" dirty="0">
                <a:latin typeface="Untitled Sans Light" panose="020B0303030202060203" pitchFamily="34" charset="77"/>
              </a:rPr>
              <a:t>M MOSER ASSOCIATES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51687E-DEF1-DED4-6CC8-20816D409AB5}"/>
              </a:ext>
            </a:extLst>
          </p:cNvPr>
          <p:cNvSpPr txBox="1"/>
          <p:nvPr/>
        </p:nvSpPr>
        <p:spPr>
          <a:xfrm>
            <a:off x="8647621" y="195156"/>
            <a:ext cx="3086256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800" b="1">
                <a:latin typeface="Untitled Sans" panose="020B0503030202060203" pitchFamily="34" charset="77"/>
              </a:rPr>
              <a:t>2026</a:t>
            </a:r>
            <a:endParaRPr lang="en-CA" sz="800" b="1">
              <a:latin typeface="Untitled Sans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927024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200267-0A87-6236-2CCC-4A36C0E7C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rid-v1"/>
          <p:cNvSpPr/>
          <p:nvPr/>
        </p:nvSpPr>
        <p:spPr>
          <a:xfrm>
            <a:off x="12192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grid-v2"/>
          <p:cNvSpPr/>
          <p:nvPr/>
        </p:nvSpPr>
        <p:spPr>
          <a:xfrm>
            <a:off x="24384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grid-v3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grid-v4"/>
          <p:cNvSpPr/>
          <p:nvPr/>
        </p:nvSpPr>
        <p:spPr>
          <a:xfrm>
            <a:off x="48768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grid-v5"/>
          <p:cNvSpPr/>
          <p:nvPr/>
        </p:nvSpPr>
        <p:spPr>
          <a:xfrm>
            <a:off x="60960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grid-v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grid-v7"/>
          <p:cNvSpPr/>
          <p:nvPr/>
        </p:nvSpPr>
        <p:spPr>
          <a:xfrm>
            <a:off x="85344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grid-v8"/>
          <p:cNvSpPr/>
          <p:nvPr/>
        </p:nvSpPr>
        <p:spPr>
          <a:xfrm>
            <a:off x="97536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grid-v9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grid-h1"/>
          <p:cNvSpPr/>
          <p:nvPr/>
        </p:nvSpPr>
        <p:spPr>
          <a:xfrm>
            <a:off x="0" y="1143000"/>
            <a:ext cx="12192000" cy="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grid-h2"/>
          <p:cNvSpPr/>
          <p:nvPr/>
        </p:nvSpPr>
        <p:spPr>
          <a:xfrm>
            <a:off x="0" y="2286000"/>
            <a:ext cx="12192000" cy="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grid-h3"/>
          <p:cNvSpPr/>
          <p:nvPr/>
        </p:nvSpPr>
        <p:spPr>
          <a:xfrm>
            <a:off x="0" y="3429000"/>
            <a:ext cx="12192000" cy="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grid-h4"/>
          <p:cNvSpPr/>
          <p:nvPr/>
        </p:nvSpPr>
        <p:spPr>
          <a:xfrm>
            <a:off x="0" y="4572000"/>
            <a:ext cx="12192000" cy="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grid-h5"/>
          <p:cNvSpPr/>
          <p:nvPr/>
        </p:nvSpPr>
        <p:spPr>
          <a:xfrm>
            <a:off x="0" y="5715000"/>
            <a:ext cx="12192000" cy="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6FBF9F-9B6F-2297-54D4-74D0683A6936}"/>
              </a:ext>
            </a:extLst>
          </p:cNvPr>
          <p:cNvSpPr txBox="1"/>
          <p:nvPr/>
        </p:nvSpPr>
        <p:spPr>
          <a:xfrm>
            <a:off x="2977300" y="2893361"/>
            <a:ext cx="6237399" cy="15643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6000"/>
              </a:lnSpc>
            </a:pPr>
            <a:r>
              <a:rPr lang="en-CA" sz="7200" dirty="0">
                <a:solidFill>
                  <a:schemeClr val="bg1"/>
                </a:solidFill>
                <a:latin typeface="Bebas Neue" panose="020B0606020202050201" pitchFamily="34" charset="77"/>
              </a:rPr>
              <a:t>Current proposal production process </a:t>
            </a:r>
            <a:endParaRPr lang="en-US" sz="7200" dirty="0">
              <a:solidFill>
                <a:schemeClr val="bg1"/>
              </a:solidFill>
              <a:latin typeface="Bebas Neue" panose="020B0606020202050201" pitchFamily="34" charset="77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9C3AFD-AC3E-3C3D-72E3-C1D4BBB68C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5059" y="6341370"/>
            <a:ext cx="253471" cy="25340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7C27350-9B39-BAF7-3F07-C5C64FE8D5C1}"/>
              </a:ext>
            </a:extLst>
          </p:cNvPr>
          <p:cNvSpPr txBox="1"/>
          <p:nvPr/>
        </p:nvSpPr>
        <p:spPr>
          <a:xfrm>
            <a:off x="425447" y="195156"/>
            <a:ext cx="3957710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Untitled Sans Light" panose="020B0303030202060203" pitchFamily="34" charset="77"/>
              </a:rPr>
              <a:t>M MOSER ASSOCIATES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CE4114-E963-91C1-077C-36ED31812FEE}"/>
              </a:ext>
            </a:extLst>
          </p:cNvPr>
          <p:cNvSpPr txBox="1"/>
          <p:nvPr/>
        </p:nvSpPr>
        <p:spPr>
          <a:xfrm>
            <a:off x="8647621" y="195156"/>
            <a:ext cx="3086256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800" b="1">
                <a:solidFill>
                  <a:schemeClr val="bg1"/>
                </a:solidFill>
                <a:latin typeface="Untitled Sans" panose="020B0503030202060203" pitchFamily="34" charset="77"/>
              </a:rPr>
              <a:t>2026</a:t>
            </a:r>
            <a:endParaRPr lang="en-CA" sz="800" b="1">
              <a:solidFill>
                <a:schemeClr val="bg1"/>
              </a:solidFill>
              <a:latin typeface="Untitled Sans" panose="020B0503030202060203" pitchFamily="34" charset="77"/>
            </a:endParaRPr>
          </a:p>
        </p:txBody>
      </p:sp>
      <p:pic>
        <p:nvPicPr>
          <p:cNvPr id="13" name="Picture 12" descr="Text&#10;&#10;Description automatically generated with medium confidence">
            <a:extLst>
              <a:ext uri="{FF2B5EF4-FFF2-40B4-BE49-F238E27FC236}">
                <a16:creationId xmlns:a16="http://schemas.microsoft.com/office/drawing/2014/main" id="{8FCE3E76-884D-39DF-B1E6-1807D85B855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3860" y="6331126"/>
            <a:ext cx="276393" cy="27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536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tep-1-proposal-drop">
            <a:extLst>
              <a:ext uri="{FF2B5EF4-FFF2-40B4-BE49-F238E27FC236}">
                <a16:creationId xmlns:a16="http://schemas.microsoft.com/office/drawing/2014/main" id="{85ECF8D5-87CF-4CD6-B3A4-4BDFDE940296}"/>
              </a:ext>
            </a:extLst>
          </p:cNvPr>
          <p:cNvSpPr>
            <a:spLocks noGrp="1"/>
          </p:cNvSpPr>
          <p:nvPr/>
        </p:nvSpPr>
        <p:spPr>
          <a:xfrm>
            <a:off x="337424" y="1204954"/>
            <a:ext cx="1904126" cy="1066800"/>
          </a:xfrm>
          <a:prstGeom prst="rect">
            <a:avLst/>
          </a:prstGeom>
          <a:solidFill>
            <a:schemeClr val="accent5">
              <a:lumMod val="20000"/>
              <a:lumOff val="80000"/>
              <a:alpha val="18000"/>
            </a:schemeClr>
          </a:solidFill>
          <a:ln w="28575">
            <a:solidFill>
              <a:schemeClr val="accent5"/>
            </a:solidFill>
            <a:prstDash val="solid"/>
          </a:ln>
        </p:spPr>
        <p:txBody>
          <a:bodyPr lIns="114300" tIns="104775" rIns="114300" bIns="95250" anchor="ctr">
            <a:normAutofit fontScale="95934"/>
          </a:bodyPr>
          <a:lstStyle/>
          <a:p>
            <a:pPr algn="l">
              <a:spcAft>
                <a:spcPts val="5"/>
              </a:spcAft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1 · RECEIVE</a:t>
            </a:r>
            <a:r>
              <a:rPr lang="en-US" sz="9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 &amp; ASSES</a:t>
            </a:r>
            <a:endParaRPr sz="900" b="1" dirty="0">
              <a:solidFill>
                <a:srgbClr val="000000"/>
              </a:solidFill>
              <a:latin typeface="Untitled Sans" panose="020B0503030202060203" pitchFamily="34" charset="77"/>
              <a:ea typeface="Helvetica Neue"/>
              <a:cs typeface="Helvetica Neue"/>
            </a:endParaRPr>
          </a:p>
          <a:p>
            <a:pPr algn="l">
              <a:spcAft>
                <a:spcPts val="4"/>
              </a:spcAft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700" b="1" dirty="0">
                <a:solidFill>
                  <a:schemeClr val="accent5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PROPOSAL DROPS</a:t>
            </a:r>
          </a:p>
          <a:p>
            <a:pPr algn="l"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The group receives the RFP and deadline</a:t>
            </a:r>
          </a:p>
        </p:txBody>
      </p:sp>
      <p:sp>
        <p:nvSpPr>
          <p:cNvPr id="4" name="step-2-assign">
            <a:extLst>
              <a:ext uri="{FF2B5EF4-FFF2-40B4-BE49-F238E27FC236}">
                <a16:creationId xmlns:a16="http://schemas.microsoft.com/office/drawing/2014/main" id="{2F8A9C08-91D8-463D-8119-5D7D6DB33CD5}"/>
              </a:ext>
            </a:extLst>
          </p:cNvPr>
          <p:cNvSpPr>
            <a:spLocks noGrp="1"/>
          </p:cNvSpPr>
          <p:nvPr/>
        </p:nvSpPr>
        <p:spPr>
          <a:xfrm>
            <a:off x="2787009" y="1204954"/>
            <a:ext cx="1892417" cy="1066800"/>
          </a:xfrm>
          <a:prstGeom prst="rect">
            <a:avLst/>
          </a:prstGeom>
          <a:solidFill>
            <a:schemeClr val="accent5">
              <a:lumMod val="20000"/>
              <a:lumOff val="80000"/>
              <a:alpha val="18000"/>
            </a:schemeClr>
          </a:solidFill>
          <a:ln w="28575">
            <a:solidFill>
              <a:schemeClr val="accent5"/>
            </a:solidFill>
            <a:prstDash val="solid"/>
          </a:ln>
        </p:spPr>
        <p:txBody>
          <a:bodyPr lIns="114300" tIns="104775" rIns="114300" bIns="95250" anchor="ctr">
            <a:noAutofit/>
          </a:bodyPr>
          <a:lstStyle/>
          <a:p>
            <a:pPr algn="l">
              <a:spcAft>
                <a:spcPts val="5"/>
              </a:spcAft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2 · ASSIGN</a:t>
            </a:r>
          </a:p>
          <a:p>
            <a:pPr algn="l">
              <a:spcAft>
                <a:spcPts val="4"/>
              </a:spcAft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700" dirty="0">
                <a:solidFill>
                  <a:schemeClr val="accent5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PROPOSAL SPECIALIST ASSIGNED</a:t>
            </a:r>
          </a:p>
          <a:p>
            <a:pPr algn="l"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A team member takes ownership of the response</a:t>
            </a:r>
            <a:r>
              <a:rPr lang="en-CA"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 and get involved with rest of team members</a:t>
            </a:r>
            <a:endParaRPr sz="900" dirty="0">
              <a:solidFill>
                <a:srgbClr val="000000"/>
              </a:solidFill>
              <a:latin typeface="Untitled Sans Light" panose="020B0303030202060203" pitchFamily="34" charset="0"/>
              <a:ea typeface="Helvetica Neue"/>
              <a:cs typeface="Helvetica Neue"/>
            </a:endParaRPr>
          </a:p>
        </p:txBody>
      </p:sp>
      <p:sp>
        <p:nvSpPr>
          <p:cNvPr id="5" name="step-3-intake">
            <a:extLst>
              <a:ext uri="{FF2B5EF4-FFF2-40B4-BE49-F238E27FC236}">
                <a16:creationId xmlns:a16="http://schemas.microsoft.com/office/drawing/2014/main" id="{FF7FAE35-D284-4FFC-9037-B7B2162EA99E}"/>
              </a:ext>
            </a:extLst>
          </p:cNvPr>
          <p:cNvSpPr>
            <a:spLocks noGrp="1"/>
          </p:cNvSpPr>
          <p:nvPr/>
        </p:nvSpPr>
        <p:spPr>
          <a:xfrm>
            <a:off x="5243936" y="1204954"/>
            <a:ext cx="1892417" cy="1066800"/>
          </a:xfrm>
          <a:prstGeom prst="rect">
            <a:avLst/>
          </a:prstGeom>
          <a:solidFill>
            <a:schemeClr val="accent5">
              <a:lumMod val="20000"/>
              <a:lumOff val="80000"/>
              <a:alpha val="18000"/>
            </a:schemeClr>
          </a:solidFill>
          <a:ln w="28575">
            <a:solidFill>
              <a:schemeClr val="accent5"/>
            </a:solidFill>
            <a:prstDash val="solid"/>
          </a:ln>
        </p:spPr>
        <p:txBody>
          <a:bodyPr lIns="114300" tIns="104775" rIns="114300" bIns="95250" anchor="ctr">
            <a:normAutofit fontScale="95934"/>
          </a:bodyPr>
          <a:lstStyle/>
          <a:p>
            <a:pPr>
              <a:spcAft>
                <a:spcPts val="5"/>
              </a:spcAft>
            </a:pPr>
            <a:r>
              <a:rPr sz="9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3 · PREPARE</a:t>
            </a:r>
          </a:p>
          <a:p>
            <a:pPr>
              <a:spcAft>
                <a:spcPts val="5"/>
              </a:spcAft>
            </a:pPr>
            <a:r>
              <a:rPr lang="en-CA"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Proposal Specialist </a:t>
            </a:r>
            <a:r>
              <a:rPr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analyzes the RFP</a:t>
            </a:r>
            <a:r>
              <a:rPr lang="en-CA"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 </a:t>
            </a:r>
            <a:r>
              <a:rPr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Intake brief: size, location, requirements, SMEs</a:t>
            </a:r>
            <a:r>
              <a:rPr lang="en-CA"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 </a:t>
            </a:r>
            <a:r>
              <a:rPr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deadline</a:t>
            </a:r>
            <a:r>
              <a:rPr lang="en-CA"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, </a:t>
            </a:r>
            <a:r>
              <a:rPr lang="en-CA" sz="900" dirty="0" err="1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etc</a:t>
            </a:r>
            <a:endParaRPr sz="900" dirty="0">
              <a:solidFill>
                <a:srgbClr val="000000"/>
              </a:solidFill>
              <a:latin typeface="Untitled Sans Light" panose="020B0303030202060203" pitchFamily="34" charset="0"/>
              <a:ea typeface="Helvetica Neue"/>
              <a:cs typeface="Helvetica Neue"/>
            </a:endParaRPr>
          </a:p>
        </p:txBody>
      </p:sp>
      <p:sp>
        <p:nvSpPr>
          <p:cNvPr id="6" name="step-4-kickoff">
            <a:extLst>
              <a:ext uri="{FF2B5EF4-FFF2-40B4-BE49-F238E27FC236}">
                <a16:creationId xmlns:a16="http://schemas.microsoft.com/office/drawing/2014/main" id="{0B6E307D-A3AA-435F-A8C4-F3A6300A81FF}"/>
              </a:ext>
            </a:extLst>
          </p:cNvPr>
          <p:cNvSpPr>
            <a:spLocks noGrp="1"/>
          </p:cNvSpPr>
          <p:nvPr/>
        </p:nvSpPr>
        <p:spPr>
          <a:xfrm>
            <a:off x="7668090" y="1204954"/>
            <a:ext cx="1892417" cy="1066800"/>
          </a:xfrm>
          <a:prstGeom prst="rect">
            <a:avLst/>
          </a:prstGeom>
          <a:solidFill>
            <a:schemeClr val="accent5">
              <a:lumMod val="20000"/>
              <a:lumOff val="80000"/>
              <a:alpha val="18000"/>
            </a:schemeClr>
          </a:solidFill>
          <a:ln w="28575">
            <a:solidFill>
              <a:schemeClr val="accent5"/>
            </a:solidFill>
            <a:prstDash val="solid"/>
          </a:ln>
        </p:spPr>
        <p:txBody>
          <a:bodyPr lIns="114300" tIns="104775" rIns="114300" bIns="95250" anchor="ctr">
            <a:normAutofit fontScale="95934"/>
          </a:bodyPr>
          <a:lstStyle/>
          <a:p>
            <a:pPr>
              <a:spcAft>
                <a:spcPts val="5"/>
              </a:spcAft>
            </a:pPr>
            <a:r>
              <a:rPr sz="9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4 · ALIGN</a:t>
            </a:r>
          </a:p>
          <a:p>
            <a:pPr>
              <a:spcAft>
                <a:spcPts val="5"/>
              </a:spcAft>
            </a:pPr>
            <a:r>
              <a:rPr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Kickoff and strategy</a:t>
            </a:r>
          </a:p>
          <a:p>
            <a:pPr>
              <a:spcAft>
                <a:spcPts val="5"/>
              </a:spcAft>
            </a:pPr>
            <a:r>
              <a:rPr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The </a:t>
            </a:r>
            <a:r>
              <a:rPr lang="en-CA"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team</a:t>
            </a:r>
            <a:r>
              <a:rPr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 confirms the win strategy</a:t>
            </a:r>
            <a:r>
              <a:rPr lang="en-CA"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. </a:t>
            </a:r>
            <a:r>
              <a:rPr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priorities and roles</a:t>
            </a:r>
            <a:r>
              <a:rPr lang="en-CA"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 are assigned</a:t>
            </a:r>
            <a:endParaRPr sz="900" dirty="0">
              <a:solidFill>
                <a:srgbClr val="000000"/>
              </a:solidFill>
              <a:latin typeface="Untitled Sans Light" panose="020B0303030202060203" pitchFamily="34" charset="0"/>
              <a:ea typeface="Helvetica Neue"/>
              <a:cs typeface="Helvetica Neue"/>
            </a:endParaRPr>
          </a:p>
        </p:txBody>
      </p:sp>
      <p:sp>
        <p:nvSpPr>
          <p:cNvPr id="7" name="step-5-storyline">
            <a:extLst>
              <a:ext uri="{FF2B5EF4-FFF2-40B4-BE49-F238E27FC236}">
                <a16:creationId xmlns:a16="http://schemas.microsoft.com/office/drawing/2014/main" id="{DBA48D0E-24C8-4674-B0DA-997E410793E2}"/>
              </a:ext>
            </a:extLst>
          </p:cNvPr>
          <p:cNvSpPr>
            <a:spLocks noGrp="1"/>
          </p:cNvSpPr>
          <p:nvPr/>
        </p:nvSpPr>
        <p:spPr>
          <a:xfrm>
            <a:off x="9537700" y="2658836"/>
            <a:ext cx="2381250" cy="1066800"/>
          </a:xfrm>
          <a:prstGeom prst="rect">
            <a:avLst/>
          </a:prstGeom>
          <a:solidFill>
            <a:schemeClr val="accent5">
              <a:lumMod val="20000"/>
              <a:lumOff val="80000"/>
              <a:alpha val="18000"/>
            </a:schemeClr>
          </a:solidFill>
          <a:ln w="28575">
            <a:solidFill>
              <a:schemeClr val="accent5"/>
            </a:solidFill>
            <a:prstDash val="solid"/>
          </a:ln>
        </p:spPr>
        <p:txBody>
          <a:bodyPr lIns="114300" tIns="104775" rIns="114300" bIns="95250" anchor="ctr">
            <a:normAutofit fontScale="95934"/>
          </a:bodyPr>
          <a:lstStyle/>
          <a:p>
            <a:pPr>
              <a:spcAft>
                <a:spcPts val="5"/>
              </a:spcAft>
            </a:pPr>
            <a:r>
              <a:rPr lang="en-US" sz="9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6</a:t>
            </a:r>
            <a:r>
              <a:rPr sz="9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 · TRANSLATE</a:t>
            </a:r>
          </a:p>
          <a:p>
            <a:pPr>
              <a:spcAft>
                <a:spcPts val="5"/>
              </a:spcAft>
            </a:pPr>
            <a:r>
              <a:rPr lang="en-CA"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our team</a:t>
            </a:r>
            <a:r>
              <a:rPr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 builds the storyline</a:t>
            </a:r>
            <a:r>
              <a:rPr lang="en-CA"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.</a:t>
            </a:r>
            <a:endParaRPr sz="900" dirty="0">
              <a:solidFill>
                <a:srgbClr val="000000"/>
              </a:solidFill>
              <a:latin typeface="Untitled Sans Light" panose="020B0303030202060203" pitchFamily="34" charset="0"/>
              <a:ea typeface="Helvetica Neue"/>
              <a:cs typeface="Helvetica Neue"/>
            </a:endParaRPr>
          </a:p>
          <a:p>
            <a:pPr>
              <a:spcAft>
                <a:spcPts val="5"/>
              </a:spcAft>
            </a:pPr>
            <a:r>
              <a:rPr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Narrative, slide plan, visual structure and content needs</a:t>
            </a:r>
          </a:p>
        </p:txBody>
      </p:sp>
      <p:sp>
        <p:nvSpPr>
          <p:cNvPr id="8" name="content-path-label">
            <a:extLst>
              <a:ext uri="{FF2B5EF4-FFF2-40B4-BE49-F238E27FC236}">
                <a16:creationId xmlns:a16="http://schemas.microsoft.com/office/drawing/2014/main" id="{0E960505-3967-4E34-B617-4868C099890D}"/>
              </a:ext>
            </a:extLst>
          </p:cNvPr>
          <p:cNvSpPr>
            <a:spLocks noGrp="1"/>
          </p:cNvSpPr>
          <p:nvPr/>
        </p:nvSpPr>
        <p:spPr>
          <a:xfrm>
            <a:off x="6299200" y="2449286"/>
            <a:ext cx="2762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1650" lnSpcReduction="10000"/>
          </a:bodyPr>
          <a:lstStyle/>
          <a:p>
            <a:pPr algn="l">
              <a:defRPr sz="975" b="1">
                <a:solidFill>
                  <a:srgbClr val="4F55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dirty="0">
                <a:solidFill>
                  <a:schemeClr val="accent5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MATCH EACH CONTENT NEED TO THE RIGHT PATH</a:t>
            </a:r>
          </a:p>
        </p:txBody>
      </p:sp>
      <p:sp>
        <p:nvSpPr>
          <p:cNvPr id="9" name="path-canonical">
            <a:extLst>
              <a:ext uri="{FF2B5EF4-FFF2-40B4-BE49-F238E27FC236}">
                <a16:creationId xmlns:a16="http://schemas.microsoft.com/office/drawing/2014/main" id="{2ED29EAC-872B-4DD4-9766-6850AF71432A}"/>
              </a:ext>
            </a:extLst>
          </p:cNvPr>
          <p:cNvSpPr>
            <a:spLocks noGrp="1"/>
          </p:cNvSpPr>
          <p:nvPr/>
        </p:nvSpPr>
        <p:spPr>
          <a:xfrm>
            <a:off x="6299200" y="2696936"/>
            <a:ext cx="2762250" cy="685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3335">
            <a:solidFill>
              <a:srgbClr val="B8BCC4"/>
            </a:solidFill>
            <a:prstDash val="solid"/>
          </a:ln>
        </p:spPr>
        <p:txBody>
          <a:bodyPr lIns="114300" tIns="104775" rIns="114300" bIns="95250" anchor="ctr">
            <a:normAutofit fontScale="95934"/>
          </a:bodyPr>
          <a:lstStyle/>
          <a:p>
            <a:pPr>
              <a:spcAft>
                <a:spcPts val="5"/>
              </a:spcAft>
            </a:pPr>
            <a:r>
              <a:rPr sz="9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Canonical M Moser content</a:t>
            </a:r>
          </a:p>
          <a:p>
            <a:pPr>
              <a:spcAft>
                <a:spcPts val="5"/>
              </a:spcAft>
            </a:pPr>
            <a:r>
              <a:rPr lang="en-CA"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Proposal specialist</a:t>
            </a:r>
            <a:r>
              <a:rPr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 retrieves approved source-of-truth slides</a:t>
            </a:r>
          </a:p>
        </p:txBody>
      </p:sp>
      <p:sp>
        <p:nvSpPr>
          <p:cNvPr id="10" name="path-reusable">
            <a:extLst>
              <a:ext uri="{FF2B5EF4-FFF2-40B4-BE49-F238E27FC236}">
                <a16:creationId xmlns:a16="http://schemas.microsoft.com/office/drawing/2014/main" id="{A024A805-D1D6-4BEB-B92F-CE1D132B63DA}"/>
              </a:ext>
            </a:extLst>
          </p:cNvPr>
          <p:cNvSpPr>
            <a:spLocks noGrp="1"/>
          </p:cNvSpPr>
          <p:nvPr/>
        </p:nvSpPr>
        <p:spPr>
          <a:xfrm>
            <a:off x="6299200" y="3497036"/>
            <a:ext cx="2762250" cy="685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3335">
            <a:solidFill>
              <a:srgbClr val="B8BCC4"/>
            </a:solidFill>
            <a:prstDash val="solid"/>
          </a:ln>
        </p:spPr>
        <p:txBody>
          <a:bodyPr lIns="114300" tIns="104775" rIns="114300" bIns="95250" anchor="ctr">
            <a:normAutofit fontScale="95934"/>
          </a:bodyPr>
          <a:lstStyle/>
          <a:p>
            <a:pPr>
              <a:spcAft>
                <a:spcPts val="5"/>
              </a:spcAft>
            </a:pPr>
            <a:r>
              <a:rPr sz="9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Reusable high-quality content</a:t>
            </a:r>
          </a:p>
          <a:p>
            <a:pPr>
              <a:spcAft>
                <a:spcPts val="5"/>
              </a:spcAft>
            </a:pPr>
            <a:r>
              <a:rPr lang="en-CA"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Proposal specialist</a:t>
            </a:r>
            <a:r>
              <a:rPr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 surfaces options; </a:t>
            </a:r>
            <a:r>
              <a:rPr lang="en-CA"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she then find,</a:t>
            </a:r>
            <a:r>
              <a:rPr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 selects and adapts</a:t>
            </a:r>
          </a:p>
        </p:txBody>
      </p:sp>
      <p:sp>
        <p:nvSpPr>
          <p:cNvPr id="11" name="path-one-off">
            <a:extLst>
              <a:ext uri="{FF2B5EF4-FFF2-40B4-BE49-F238E27FC236}">
                <a16:creationId xmlns:a16="http://schemas.microsoft.com/office/drawing/2014/main" id="{8F1D749D-7C46-4752-A84F-98D49025AA8E}"/>
              </a:ext>
            </a:extLst>
          </p:cNvPr>
          <p:cNvSpPr>
            <a:spLocks noGrp="1"/>
          </p:cNvSpPr>
          <p:nvPr/>
        </p:nvSpPr>
        <p:spPr>
          <a:xfrm>
            <a:off x="6299200" y="4297136"/>
            <a:ext cx="2762250" cy="685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3335">
            <a:solidFill>
              <a:srgbClr val="B8BCC4"/>
            </a:solidFill>
            <a:prstDash val="solid"/>
          </a:ln>
        </p:spPr>
        <p:txBody>
          <a:bodyPr lIns="114300" tIns="104775" rIns="114300" bIns="95250" anchor="ctr">
            <a:normAutofit fontScale="95934"/>
          </a:bodyPr>
          <a:lstStyle/>
          <a:p>
            <a:pPr>
              <a:spcAft>
                <a:spcPts val="5"/>
              </a:spcAft>
            </a:pPr>
            <a:r>
              <a:rPr sz="9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One-off proposal content</a:t>
            </a:r>
          </a:p>
          <a:p>
            <a:pPr>
              <a:spcAft>
                <a:spcPts val="5"/>
              </a:spcAft>
            </a:pPr>
            <a:r>
              <a:rPr lang="en-CA"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Proposal specialist </a:t>
            </a:r>
            <a:r>
              <a:rPr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creates the client-specific visual story</a:t>
            </a:r>
          </a:p>
        </p:txBody>
      </p:sp>
      <p:sp>
        <p:nvSpPr>
          <p:cNvPr id="12" name="step-6-build">
            <a:extLst>
              <a:ext uri="{FF2B5EF4-FFF2-40B4-BE49-F238E27FC236}">
                <a16:creationId xmlns:a16="http://schemas.microsoft.com/office/drawing/2014/main" id="{90E980D8-3CDB-4FF4-88CE-263A448835FB}"/>
              </a:ext>
            </a:extLst>
          </p:cNvPr>
          <p:cNvSpPr>
            <a:spLocks noGrp="1"/>
          </p:cNvSpPr>
          <p:nvPr/>
        </p:nvSpPr>
        <p:spPr>
          <a:xfrm>
            <a:off x="3536950" y="3497036"/>
            <a:ext cx="2305050" cy="1066800"/>
          </a:xfrm>
          <a:prstGeom prst="rect">
            <a:avLst/>
          </a:prstGeom>
          <a:solidFill>
            <a:schemeClr val="accent5">
              <a:lumMod val="20000"/>
              <a:lumOff val="80000"/>
              <a:alpha val="18000"/>
            </a:schemeClr>
          </a:solidFill>
          <a:ln w="28575">
            <a:solidFill>
              <a:schemeClr val="accent5"/>
            </a:solidFill>
            <a:prstDash val="solid"/>
          </a:ln>
        </p:spPr>
        <p:txBody>
          <a:bodyPr lIns="114300" tIns="104775" rIns="114300" bIns="95250" anchor="ctr">
            <a:normAutofit fontScale="95934"/>
          </a:bodyPr>
          <a:lstStyle/>
          <a:p>
            <a:pPr>
              <a:spcAft>
                <a:spcPts val="5"/>
              </a:spcAft>
            </a:pPr>
            <a:r>
              <a:rPr lang="en-US" sz="9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7</a:t>
            </a:r>
            <a:r>
              <a:rPr sz="9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 · BUILD</a:t>
            </a:r>
          </a:p>
          <a:p>
            <a:pPr>
              <a:spcAft>
                <a:spcPts val="5"/>
              </a:spcAft>
            </a:pPr>
            <a:r>
              <a:rPr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Assemble the proposal</a:t>
            </a:r>
          </a:p>
          <a:p>
            <a:pPr>
              <a:spcAft>
                <a:spcPts val="5"/>
              </a:spcAft>
            </a:pPr>
            <a:r>
              <a:rPr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Coordinate contributors and bring every slide into one story</a:t>
            </a:r>
            <a:r>
              <a:rPr lang="en-CA"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, clean it up visually</a:t>
            </a:r>
            <a:endParaRPr sz="900" dirty="0">
              <a:solidFill>
                <a:srgbClr val="000000"/>
              </a:solidFill>
              <a:latin typeface="Untitled Sans Light" panose="020B0303030202060203" pitchFamily="34" charset="0"/>
              <a:ea typeface="Helvetica Neue"/>
              <a:cs typeface="Helvetica Neue"/>
            </a:endParaRPr>
          </a:p>
        </p:txBody>
      </p:sp>
      <p:sp>
        <p:nvSpPr>
          <p:cNvPr id="13" name="step-7-review-submit">
            <a:extLst>
              <a:ext uri="{FF2B5EF4-FFF2-40B4-BE49-F238E27FC236}">
                <a16:creationId xmlns:a16="http://schemas.microsoft.com/office/drawing/2014/main" id="{6B5EB04F-1299-4692-B7E3-CD79A16C7A75}"/>
              </a:ext>
            </a:extLst>
          </p:cNvPr>
          <p:cNvSpPr>
            <a:spLocks noGrp="1"/>
          </p:cNvSpPr>
          <p:nvPr/>
        </p:nvSpPr>
        <p:spPr>
          <a:xfrm>
            <a:off x="3536950" y="4982936"/>
            <a:ext cx="2305050" cy="990600"/>
          </a:xfrm>
          <a:prstGeom prst="rect">
            <a:avLst/>
          </a:prstGeom>
          <a:solidFill>
            <a:schemeClr val="accent5">
              <a:lumMod val="20000"/>
              <a:lumOff val="80000"/>
              <a:alpha val="18000"/>
            </a:schemeClr>
          </a:solidFill>
          <a:ln w="28575">
            <a:solidFill>
              <a:schemeClr val="accent5"/>
            </a:solidFill>
            <a:prstDash val="solid"/>
          </a:ln>
        </p:spPr>
        <p:txBody>
          <a:bodyPr lIns="114300" tIns="104775" rIns="114300" bIns="95250" anchor="ctr">
            <a:normAutofit fontScale="94834"/>
          </a:bodyPr>
          <a:lstStyle/>
          <a:p>
            <a:pPr algn="l">
              <a:spcAft>
                <a:spcPts val="5"/>
              </a:spcAft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9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8</a:t>
            </a:r>
            <a:r>
              <a:rPr sz="9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 · DELIVER</a:t>
            </a:r>
          </a:p>
          <a:p>
            <a:pPr algn="l">
              <a:spcAft>
                <a:spcPts val="4"/>
              </a:spcAft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Review, refine and submit</a:t>
            </a:r>
          </a:p>
          <a:p>
            <a:pPr algn="l"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Confirm relevance and tone, revise, quality-check and deliver</a:t>
            </a:r>
          </a:p>
        </p:txBody>
      </p:sp>
      <p:sp>
        <p:nvSpPr>
          <p:cNvPr id="14" name="step-8-curate">
            <a:extLst>
              <a:ext uri="{FF2B5EF4-FFF2-40B4-BE49-F238E27FC236}">
                <a16:creationId xmlns:a16="http://schemas.microsoft.com/office/drawing/2014/main" id="{91ABA6C3-31FC-4DD9-8C67-FDBA20C3D91C}"/>
              </a:ext>
            </a:extLst>
          </p:cNvPr>
          <p:cNvSpPr>
            <a:spLocks noGrp="1"/>
          </p:cNvSpPr>
          <p:nvPr/>
        </p:nvSpPr>
        <p:spPr>
          <a:xfrm>
            <a:off x="869950" y="4982936"/>
            <a:ext cx="2209800" cy="990600"/>
          </a:xfrm>
          <a:prstGeom prst="rect">
            <a:avLst/>
          </a:prstGeom>
          <a:solidFill>
            <a:schemeClr val="accent5">
              <a:lumMod val="20000"/>
              <a:lumOff val="80000"/>
              <a:alpha val="18000"/>
            </a:schemeClr>
          </a:solidFill>
          <a:ln w="28575">
            <a:solidFill>
              <a:schemeClr val="accent5"/>
            </a:solidFill>
            <a:prstDash val="solid"/>
          </a:ln>
        </p:spPr>
        <p:txBody>
          <a:bodyPr lIns="114300" tIns="104775" rIns="114300" bIns="95250" anchor="ctr">
            <a:normAutofit fontScale="94834"/>
          </a:bodyPr>
          <a:lstStyle/>
          <a:p>
            <a:pPr>
              <a:spcAft>
                <a:spcPts val="5"/>
              </a:spcAft>
            </a:pPr>
            <a:r>
              <a:rPr lang="en-US" sz="10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9</a:t>
            </a:r>
            <a:r>
              <a:rPr sz="10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 · </a:t>
            </a:r>
            <a:r>
              <a:rPr lang="en-CA" sz="10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ARCHIVE</a:t>
            </a:r>
            <a:endParaRPr sz="1000" b="1" dirty="0">
              <a:solidFill>
                <a:srgbClr val="000000"/>
              </a:solidFill>
              <a:latin typeface="Untitled Sans" panose="020B0503030202060203" pitchFamily="34" charset="77"/>
              <a:ea typeface="Helvetica Neue"/>
              <a:cs typeface="Helvetica Neue"/>
            </a:endParaRPr>
          </a:p>
          <a:p>
            <a:pPr>
              <a:spcAft>
                <a:spcPts val="5"/>
              </a:spcAft>
            </a:pPr>
            <a:r>
              <a:rPr lang="en-CA" sz="10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Save in Share point submittals. Decide if it belongs in any other folder and/or monster deck.</a:t>
            </a:r>
            <a:endParaRPr sz="1000" dirty="0">
              <a:solidFill>
                <a:srgbClr val="000000"/>
              </a:solidFill>
              <a:latin typeface="Untitled Sans Light" panose="020B0303030202060203" pitchFamily="34" charset="0"/>
              <a:ea typeface="Helvetica Neue"/>
              <a:cs typeface="Helvetica Neue"/>
            </a:endParaRPr>
          </a:p>
        </p:txBody>
      </p:sp>
      <p:cxnSp>
        <p:nvCxnSpPr>
          <p:cNvPr id="48" name="Straight Arrow Connector 47"/>
          <p:cNvCxnSpPr>
            <a:cxnSpLocks/>
            <a:stCxn id="3" idx="3"/>
            <a:endCxn id="4" idx="1"/>
          </p:cNvCxnSpPr>
          <p:nvPr/>
        </p:nvCxnSpPr>
        <p:spPr>
          <a:xfrm>
            <a:off x="2241550" y="1738354"/>
            <a:ext cx="545459" cy="0"/>
          </a:xfrm>
          <a:prstGeom prst="straightConnector1">
            <a:avLst/>
          </a:prstGeom>
          <a:ln w="19050">
            <a:solidFill>
              <a:schemeClr val="accent5"/>
            </a:solidFill>
            <a:prstDash val="solid"/>
            <a:tailEnd type="arrow" w="sm" len="sm"/>
          </a:ln>
        </p:spPr>
      </p:cxnSp>
      <p:cxnSp>
        <p:nvCxnSpPr>
          <p:cNvPr id="49" name="Straight Arrow Connector 48"/>
          <p:cNvCxnSpPr>
            <a:cxnSpLocks/>
            <a:stCxn id="4" idx="3"/>
            <a:endCxn id="5" idx="1"/>
          </p:cNvCxnSpPr>
          <p:nvPr/>
        </p:nvCxnSpPr>
        <p:spPr>
          <a:xfrm>
            <a:off x="4679426" y="1738354"/>
            <a:ext cx="564510" cy="0"/>
          </a:xfrm>
          <a:prstGeom prst="straightConnector1">
            <a:avLst/>
          </a:prstGeom>
          <a:ln w="19050">
            <a:solidFill>
              <a:schemeClr val="accent5"/>
            </a:solidFill>
            <a:prstDash val="solid"/>
            <a:tailEnd type="arrow" w="sm" len="sm"/>
          </a:ln>
        </p:spPr>
      </p:cxnSp>
      <p:cxnSp>
        <p:nvCxnSpPr>
          <p:cNvPr id="50" name="Straight Arrow Connector 49"/>
          <p:cNvCxnSpPr>
            <a:cxnSpLocks/>
            <a:stCxn id="5" idx="3"/>
            <a:endCxn id="6" idx="1"/>
          </p:cNvCxnSpPr>
          <p:nvPr/>
        </p:nvCxnSpPr>
        <p:spPr>
          <a:xfrm>
            <a:off x="7136353" y="1738354"/>
            <a:ext cx="531737" cy="0"/>
          </a:xfrm>
          <a:prstGeom prst="straightConnector1">
            <a:avLst/>
          </a:prstGeom>
          <a:ln w="19050">
            <a:solidFill>
              <a:schemeClr val="accent5"/>
            </a:solidFill>
            <a:prstDash val="solid"/>
            <a:tailEnd type="arrow" w="sm" len="sm"/>
          </a:ln>
        </p:spPr>
      </p:cxnSp>
      <p:cxnSp>
        <p:nvCxnSpPr>
          <p:cNvPr id="51" name="Elbow Connector 50"/>
          <p:cNvCxnSpPr>
            <a:cxnSpLocks/>
            <a:stCxn id="6" idx="3"/>
            <a:endCxn id="19" idx="1"/>
          </p:cNvCxnSpPr>
          <p:nvPr/>
        </p:nvCxnSpPr>
        <p:spPr>
          <a:xfrm>
            <a:off x="9560507" y="1738354"/>
            <a:ext cx="380423" cy="832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5"/>
            </a:solidFill>
            <a:prstDash val="solid"/>
            <a:tailEnd type="arrow" w="sm" len="sm"/>
          </a:ln>
        </p:spPr>
      </p:cxnSp>
      <p:cxnSp>
        <p:nvCxnSpPr>
          <p:cNvPr id="52" name="Elbow Connector 51"/>
          <p:cNvCxnSpPr>
            <a:stCxn id="7" idx="1"/>
            <a:endCxn id="9" idx="3"/>
          </p:cNvCxnSpPr>
          <p:nvPr/>
        </p:nvCxnSpPr>
        <p:spPr>
          <a:xfrm flipH="1" flipV="1">
            <a:off x="9061450" y="3039836"/>
            <a:ext cx="476250" cy="15240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5"/>
            </a:solidFill>
            <a:prstDash val="solid"/>
            <a:tailEnd type="arrow" w="sm" len="sm"/>
          </a:ln>
        </p:spPr>
      </p:cxnSp>
      <p:cxnSp>
        <p:nvCxnSpPr>
          <p:cNvPr id="53" name="Elbow Connector 52"/>
          <p:cNvCxnSpPr>
            <a:stCxn id="7" idx="1"/>
            <a:endCxn id="10" idx="3"/>
          </p:cNvCxnSpPr>
          <p:nvPr/>
        </p:nvCxnSpPr>
        <p:spPr>
          <a:xfrm flipH="1">
            <a:off x="9061450" y="3192236"/>
            <a:ext cx="476250" cy="64770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5"/>
            </a:solidFill>
            <a:prstDash val="solid"/>
            <a:tailEnd type="arrow" w="sm" len="sm"/>
          </a:ln>
        </p:spPr>
      </p:cxnSp>
      <p:cxnSp>
        <p:nvCxnSpPr>
          <p:cNvPr id="54" name="Elbow Connector 53"/>
          <p:cNvCxnSpPr>
            <a:stCxn id="7" idx="1"/>
            <a:endCxn id="11" idx="3"/>
          </p:cNvCxnSpPr>
          <p:nvPr/>
        </p:nvCxnSpPr>
        <p:spPr>
          <a:xfrm flipH="1">
            <a:off x="9061450" y="3192236"/>
            <a:ext cx="476250" cy="144780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5"/>
            </a:solidFill>
            <a:prstDash val="solid"/>
            <a:tailEnd type="arrow" w="sm" len="sm"/>
          </a:ln>
        </p:spPr>
      </p:cxnSp>
      <p:cxnSp>
        <p:nvCxnSpPr>
          <p:cNvPr id="55" name="Elbow Connector 54"/>
          <p:cNvCxnSpPr>
            <a:stCxn id="9" idx="1"/>
            <a:endCxn id="12" idx="3"/>
          </p:cNvCxnSpPr>
          <p:nvPr/>
        </p:nvCxnSpPr>
        <p:spPr>
          <a:xfrm flipH="1">
            <a:off x="5842000" y="3039836"/>
            <a:ext cx="457200" cy="99060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5"/>
            </a:solidFill>
            <a:prstDash val="solid"/>
            <a:tailEnd type="arrow" w="sm" len="sm"/>
          </a:ln>
        </p:spPr>
      </p:cxnSp>
      <p:cxnSp>
        <p:nvCxnSpPr>
          <p:cNvPr id="56" name="Elbow Connector 55"/>
          <p:cNvCxnSpPr>
            <a:cxnSpLocks/>
            <a:stCxn id="10" idx="1"/>
            <a:endCxn id="12" idx="3"/>
          </p:cNvCxnSpPr>
          <p:nvPr/>
        </p:nvCxnSpPr>
        <p:spPr>
          <a:xfrm flipH="1">
            <a:off x="5842000" y="3839936"/>
            <a:ext cx="457200" cy="19050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5"/>
            </a:solidFill>
            <a:prstDash val="solid"/>
            <a:tailEnd type="arrow" w="sm" len="sm"/>
          </a:ln>
        </p:spPr>
      </p:cxnSp>
      <p:cxnSp>
        <p:nvCxnSpPr>
          <p:cNvPr id="57" name="Elbow Connector 56"/>
          <p:cNvCxnSpPr>
            <a:stCxn id="11" idx="1"/>
            <a:endCxn id="12" idx="3"/>
          </p:cNvCxnSpPr>
          <p:nvPr/>
        </p:nvCxnSpPr>
        <p:spPr>
          <a:xfrm flipH="1" flipV="1">
            <a:off x="5842000" y="4030436"/>
            <a:ext cx="457200" cy="609600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5"/>
            </a:solidFill>
            <a:prstDash val="solid"/>
            <a:tailEnd type="arrow" w="sm" len="sm"/>
          </a:ln>
        </p:spPr>
      </p:cxnSp>
      <p:cxnSp>
        <p:nvCxnSpPr>
          <p:cNvPr id="58" name="Straight Arrow Connector 57"/>
          <p:cNvCxnSpPr>
            <a:stCxn id="12" idx="2"/>
            <a:endCxn id="13" idx="0"/>
          </p:cNvCxnSpPr>
          <p:nvPr/>
        </p:nvCxnSpPr>
        <p:spPr>
          <a:xfrm>
            <a:off x="4689475" y="4563836"/>
            <a:ext cx="0" cy="419100"/>
          </a:xfrm>
          <a:prstGeom prst="straightConnector1">
            <a:avLst/>
          </a:prstGeom>
          <a:ln w="19050">
            <a:solidFill>
              <a:schemeClr val="accent5"/>
            </a:solidFill>
            <a:prstDash val="solid"/>
            <a:tailEnd type="arrow" w="sm" len="sm"/>
          </a:ln>
        </p:spPr>
      </p:cxnSp>
      <p:cxnSp>
        <p:nvCxnSpPr>
          <p:cNvPr id="59" name="Straight Arrow Connector 58"/>
          <p:cNvCxnSpPr>
            <a:stCxn id="13" idx="1"/>
            <a:endCxn id="14" idx="3"/>
          </p:cNvCxnSpPr>
          <p:nvPr/>
        </p:nvCxnSpPr>
        <p:spPr>
          <a:xfrm flipH="1">
            <a:off x="3079750" y="5478236"/>
            <a:ext cx="457200" cy="0"/>
          </a:xfrm>
          <a:prstGeom prst="straightConnector1">
            <a:avLst/>
          </a:prstGeom>
          <a:ln w="19050">
            <a:solidFill>
              <a:schemeClr val="accent5"/>
            </a:solidFill>
            <a:prstDash val="solid"/>
            <a:tailEnd type="arrow" w="sm" len="sm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BD9A188-668E-6631-395C-04C3703D03D1}"/>
              </a:ext>
            </a:extLst>
          </p:cNvPr>
          <p:cNvSpPr/>
          <p:nvPr/>
        </p:nvSpPr>
        <p:spPr>
          <a:xfrm>
            <a:off x="9837603" y="484340"/>
            <a:ext cx="2090238" cy="2878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>
                <a:solidFill>
                  <a:schemeClr val="tx1"/>
                </a:solidFill>
                <a:latin typeface="Untitled Sans" panose="020B0503030202060203" pitchFamily="34" charset="0"/>
              </a:rPr>
              <a:t>Take first pass at storyline </a:t>
            </a:r>
            <a:br>
              <a:rPr lang="en-US" sz="800" dirty="0">
                <a:solidFill>
                  <a:schemeClr val="tx1"/>
                </a:solidFill>
                <a:latin typeface="Untitled Sans Light" panose="020B0303030202060203" pitchFamily="34" charset="0"/>
              </a:rPr>
            </a:br>
            <a:r>
              <a:rPr lang="en-US" sz="800" dirty="0">
                <a:solidFill>
                  <a:schemeClr val="tx1"/>
                </a:solidFill>
                <a:latin typeface="Untitled Sans Light" panose="020B0303030202060203" pitchFamily="34" charset="0"/>
              </a:rPr>
              <a:t>*For </a:t>
            </a:r>
            <a:r>
              <a:rPr lang="en-US" sz="800" u="sng" dirty="0">
                <a:solidFill>
                  <a:schemeClr val="tx1"/>
                </a:solidFill>
                <a:latin typeface="Untitled Sans Light" panose="020B0303030202060203" pitchFamily="34" charset="0"/>
              </a:rPr>
              <a:t>complex</a:t>
            </a:r>
            <a:r>
              <a:rPr lang="en-US" sz="800" dirty="0">
                <a:solidFill>
                  <a:schemeClr val="tx1"/>
                </a:solidFill>
                <a:latin typeface="Untitled Sans Light" panose="020B0303030202060203" pitchFamily="34" charset="0"/>
              </a:rPr>
              <a:t> responses, proposals may take the first pass or co-develop the storyline with leaders and directors, translating strategic input into a clear narrative, key messages, and response structure for team review and refinement.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5EB51C-E75F-3427-4B53-7BADA9FF7B0A}"/>
              </a:ext>
            </a:extLst>
          </p:cNvPr>
          <p:cNvSpPr txBox="1"/>
          <p:nvPr/>
        </p:nvSpPr>
        <p:spPr>
          <a:xfrm>
            <a:off x="670886" y="2346296"/>
            <a:ext cx="162019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latin typeface="Untitled Sans" panose="020B0503030202060203" pitchFamily="34" charset="0"/>
              </a:rPr>
              <a:t>Analyze the RFP and establish the response plan:</a:t>
            </a:r>
            <a:endParaRPr lang="en-US" sz="800" dirty="0">
              <a:latin typeface="Untitled Sans" panose="020B0503030202060203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Untitled Sans Light" panose="020B0303030202060203" pitchFamily="34" charset="0"/>
              </a:rPr>
              <a:t>Requirements and evaluation criteria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Untitled Sans Light" panose="020B0303030202060203" pitchFamily="34" charset="0"/>
              </a:rPr>
              <a:t>Mandatory forms and attachments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Untitled Sans Light" panose="020B0303030202060203" pitchFamily="34" charset="0"/>
              </a:rPr>
              <a:t>Page limits and submission instructions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Untitled Sans Light" panose="020B0303030202060203" pitchFamily="34" charset="0"/>
              </a:rPr>
              <a:t>Questions and ambiguities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Untitled Sans Light" panose="020B0303030202060203" pitchFamily="34" charset="0"/>
              </a:rPr>
              <a:t>Deadlines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Untitled Sans Light" panose="020B0303030202060203" pitchFamily="34" charset="0"/>
              </a:rPr>
              <a:t>Review milestones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Untitled Sans Light" panose="020B0303030202060203" pitchFamily="34" charset="0"/>
              </a:rPr>
              <a:t>Risks and missing information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800" dirty="0">
                <a:latin typeface="Untitled Sans Light" panose="020B0303030202060203" pitchFamily="34" charset="0"/>
              </a:rPr>
              <a:t>Establish level of effort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9CBD75-9E44-4E23-FFF6-2E9158D05C7F}"/>
              </a:ext>
            </a:extLst>
          </p:cNvPr>
          <p:cNvSpPr txBox="1"/>
          <p:nvPr/>
        </p:nvSpPr>
        <p:spPr>
          <a:xfrm>
            <a:off x="9845040" y="3783598"/>
            <a:ext cx="21031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800" b="1" dirty="0">
                <a:latin typeface="Untitled Sans" panose="020B0503030202060203" pitchFamily="34" charset="0"/>
              </a:rPr>
              <a:t>Questions we ask ourselves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800" dirty="0">
                <a:latin typeface="Untitled Sans Light" panose="020B0303030202060203" pitchFamily="34" charset="0"/>
              </a:rPr>
              <a:t>Is it relevant to this client?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800" dirty="0">
                <a:latin typeface="Untitled Sans Light" panose="020B0303030202060203" pitchFamily="34" charset="0"/>
              </a:rPr>
              <a:t>Is it current and accurate?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800" dirty="0">
                <a:latin typeface="Untitled Sans Light" panose="020B0303030202060203" pitchFamily="34" charset="0"/>
              </a:rPr>
              <a:t>Is it approved for use?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800" dirty="0">
                <a:latin typeface="Untitled Sans Light" panose="020B0303030202060203" pitchFamily="34" charset="0"/>
              </a:rPr>
              <a:t>Is there evidence behind the claim?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800" dirty="0">
                <a:latin typeface="Untitled Sans Light" panose="020B0303030202060203" pitchFamily="34" charset="0"/>
              </a:rPr>
              <a:t>Does it need to be rewritten, combined, shortened, or replaced?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800" dirty="0">
                <a:latin typeface="Untitled Sans Light" panose="020B0303030202060203" pitchFamily="34" charset="0"/>
              </a:rPr>
              <a:t>Does it advance the win strategy?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26BD55-5725-3B79-028E-968120AFDAD1}"/>
              </a:ext>
            </a:extLst>
          </p:cNvPr>
          <p:cNvSpPr txBox="1"/>
          <p:nvPr/>
        </p:nvSpPr>
        <p:spPr>
          <a:xfrm>
            <a:off x="3427984" y="2576614"/>
            <a:ext cx="20314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latin typeface="Untitled Sans Light" panose="020B0303030202060203" pitchFamily="34" charset="0"/>
              </a:rPr>
              <a:t>Test the draft against the client priorities, RFP requirements, narrative strategy, evidence, tone, visual hierarchy, and readability. Resolve gaps, repetition, contradictions, and unsupported claims.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DCCFA1-139F-0641-3D62-8C39F38F0648}"/>
              </a:ext>
            </a:extLst>
          </p:cNvPr>
          <p:cNvSpPr txBox="1"/>
          <p:nvPr/>
        </p:nvSpPr>
        <p:spPr>
          <a:xfrm>
            <a:off x="817880" y="6027003"/>
            <a:ext cx="22402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latin typeface="Untitled Sans Light" panose="020B0303030202060203" pitchFamily="34" charset="0"/>
              </a:rPr>
              <a:t>Archive the submission, record the outcome and lessons learned </a:t>
            </a:r>
            <a:r>
              <a:rPr lang="en-US" sz="800" b="1" dirty="0">
                <a:latin typeface="Untitled Sans" panose="020B0503030202060203" pitchFamily="34" charset="0"/>
              </a:rPr>
              <a:t>(debrief),</a:t>
            </a:r>
            <a:r>
              <a:rPr lang="en-US" sz="800" dirty="0">
                <a:latin typeface="Untitled Sans Light" panose="020B0303030202060203" pitchFamily="34" charset="0"/>
              </a:rPr>
              <a:t> identify reusable content, update project and team information (as needed), and address gaps uncovered during the pursuit.</a:t>
            </a:r>
          </a:p>
          <a:p>
            <a:endParaRPr lang="en-US" sz="800" dirty="0">
              <a:latin typeface="Untitled Sans Light" panose="020B0303030202060203" pitchFamily="34" charset="0"/>
            </a:endParaRPr>
          </a:p>
        </p:txBody>
      </p:sp>
      <p:sp>
        <p:nvSpPr>
          <p:cNvPr id="128" name="intake-note">
            <a:extLst>
              <a:ext uri="{FF2B5EF4-FFF2-40B4-BE49-F238E27FC236}">
                <a16:creationId xmlns:a16="http://schemas.microsoft.com/office/drawing/2014/main" id="{0616E8B1-CF8B-A2BB-BD8D-02182A8E32B7}"/>
              </a:ext>
            </a:extLst>
          </p:cNvPr>
          <p:cNvSpPr>
            <a:spLocks noGrp="1"/>
          </p:cNvSpPr>
          <p:nvPr/>
        </p:nvSpPr>
        <p:spPr>
          <a:xfrm>
            <a:off x="5290820" y="172720"/>
            <a:ext cx="21463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>
              <a:defRPr sz="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br>
              <a:rPr lang="en-US" sz="800" dirty="0">
                <a:latin typeface="Untitled Sans Light" panose="020B0303030202060203" pitchFamily="34" charset="0"/>
              </a:rPr>
            </a:br>
            <a:endParaRPr sz="700" dirty="0">
              <a:solidFill>
                <a:srgbClr val="000000"/>
              </a:solidFill>
              <a:latin typeface="Untitled Sans Light" panose="020B0303030202060203" pitchFamily="34" charset="0"/>
              <a:ea typeface="Helvetica Neue"/>
              <a:cs typeface="Helvetica Neue"/>
            </a:endParaRPr>
          </a:p>
        </p:txBody>
      </p:sp>
      <p:cxnSp>
        <p:nvCxnSpPr>
          <p:cNvPr id="150" name="Connector: Curved 149">
            <a:extLst>
              <a:ext uri="{FF2B5EF4-FFF2-40B4-BE49-F238E27FC236}">
                <a16:creationId xmlns:a16="http://schemas.microsoft.com/office/drawing/2014/main" id="{A17E38A5-1491-27DF-EB09-39149D242EA7}"/>
              </a:ext>
            </a:extLst>
          </p:cNvPr>
          <p:cNvCxnSpPr>
            <a:cxnSpLocks/>
          </p:cNvCxnSpPr>
          <p:nvPr/>
        </p:nvCxnSpPr>
        <p:spPr>
          <a:xfrm rot="16200000" flipV="1">
            <a:off x="4734859" y="830879"/>
            <a:ext cx="875306" cy="94376"/>
          </a:xfrm>
          <a:prstGeom prst="curvedConnector4">
            <a:avLst>
              <a:gd name="adj1" fmla="val -202"/>
              <a:gd name="adj2" fmla="val 536001"/>
            </a:avLst>
          </a:prstGeom>
          <a:ln w="31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Rectangle 154">
            <a:extLst>
              <a:ext uri="{FF2B5EF4-FFF2-40B4-BE49-F238E27FC236}">
                <a16:creationId xmlns:a16="http://schemas.microsoft.com/office/drawing/2014/main" id="{A5CA6B90-9970-5EA9-6700-0DA6B63AEF15}"/>
              </a:ext>
            </a:extLst>
          </p:cNvPr>
          <p:cNvSpPr/>
          <p:nvPr/>
        </p:nvSpPr>
        <p:spPr>
          <a:xfrm>
            <a:off x="5166543" y="510248"/>
            <a:ext cx="2090238" cy="2878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>
                <a:solidFill>
                  <a:schemeClr val="tx1"/>
                </a:solidFill>
                <a:latin typeface="Untitled Sans Light" panose="020B0303030202060203" pitchFamily="34" charset="0"/>
              </a:rPr>
              <a:t>Use the </a:t>
            </a:r>
            <a:r>
              <a:rPr lang="en-US" sz="800" b="1" dirty="0">
                <a:solidFill>
                  <a:schemeClr val="tx1"/>
                </a:solidFill>
                <a:latin typeface="Untitled Sans" panose="020B0503030202060203" pitchFamily="34" charset="0"/>
              </a:rPr>
              <a:t>intake brief </a:t>
            </a:r>
            <a:r>
              <a:rPr lang="en-US" sz="800" dirty="0">
                <a:solidFill>
                  <a:schemeClr val="tx1"/>
                </a:solidFill>
                <a:latin typeface="Untitled Sans Light" panose="020B0303030202060203" pitchFamily="34" charset="0"/>
              </a:rPr>
              <a:t>&amp; analyze the RFP and client context to identify requirements, decision drivers, risks, responsibilities, deadlines, and the real ask, creating a clear, client-specific (not just compliant) response plan for kickoff. </a:t>
            </a:r>
          </a:p>
        </p:txBody>
      </p:sp>
      <p:cxnSp>
        <p:nvCxnSpPr>
          <p:cNvPr id="168" name="Connector: Curved 167">
            <a:extLst>
              <a:ext uri="{FF2B5EF4-FFF2-40B4-BE49-F238E27FC236}">
                <a16:creationId xmlns:a16="http://schemas.microsoft.com/office/drawing/2014/main" id="{3776E08B-96AC-0589-8254-B95280AB3923}"/>
              </a:ext>
            </a:extLst>
          </p:cNvPr>
          <p:cNvCxnSpPr>
            <a:cxnSpLocks/>
          </p:cNvCxnSpPr>
          <p:nvPr/>
        </p:nvCxnSpPr>
        <p:spPr>
          <a:xfrm rot="16200000" flipV="1">
            <a:off x="2918251" y="3476543"/>
            <a:ext cx="875306" cy="94376"/>
          </a:xfrm>
          <a:prstGeom prst="curvedConnector4">
            <a:avLst>
              <a:gd name="adj1" fmla="val -202"/>
              <a:gd name="adj2" fmla="val 536001"/>
            </a:avLst>
          </a:prstGeom>
          <a:ln w="31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: Curved 168">
            <a:extLst>
              <a:ext uri="{FF2B5EF4-FFF2-40B4-BE49-F238E27FC236}">
                <a16:creationId xmlns:a16="http://schemas.microsoft.com/office/drawing/2014/main" id="{76FBB5AF-4DC5-0E3E-E643-E2DADB41B074}"/>
              </a:ext>
            </a:extLst>
          </p:cNvPr>
          <p:cNvCxnSpPr>
            <a:cxnSpLocks/>
          </p:cNvCxnSpPr>
          <p:nvPr/>
        </p:nvCxnSpPr>
        <p:spPr>
          <a:xfrm rot="16200000" flipV="1">
            <a:off x="357931" y="5709203"/>
            <a:ext cx="875306" cy="94376"/>
          </a:xfrm>
          <a:prstGeom prst="curvedConnector4">
            <a:avLst>
              <a:gd name="adj1" fmla="val -202"/>
              <a:gd name="adj2" fmla="val 536001"/>
            </a:avLst>
          </a:prstGeom>
          <a:ln w="31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: Curved 173">
            <a:extLst>
              <a:ext uri="{FF2B5EF4-FFF2-40B4-BE49-F238E27FC236}">
                <a16:creationId xmlns:a16="http://schemas.microsoft.com/office/drawing/2014/main" id="{3E74859C-1F0E-BCE3-69D4-A7D61843C756}"/>
              </a:ext>
            </a:extLst>
          </p:cNvPr>
          <p:cNvCxnSpPr>
            <a:cxnSpLocks/>
          </p:cNvCxnSpPr>
          <p:nvPr/>
        </p:nvCxnSpPr>
        <p:spPr>
          <a:xfrm rot="16200000" flipH="1">
            <a:off x="218440" y="2555240"/>
            <a:ext cx="660400" cy="254000"/>
          </a:xfrm>
          <a:prstGeom prst="curvedConnector3">
            <a:avLst>
              <a:gd name="adj1" fmla="val 103846"/>
            </a:avLst>
          </a:prstGeom>
          <a:ln w="31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ep-4-kickoff">
            <a:extLst>
              <a:ext uri="{FF2B5EF4-FFF2-40B4-BE49-F238E27FC236}">
                <a16:creationId xmlns:a16="http://schemas.microsoft.com/office/drawing/2014/main" id="{DC943D61-C7DE-2DFC-070B-F27A6108A4EC}"/>
              </a:ext>
            </a:extLst>
          </p:cNvPr>
          <p:cNvSpPr>
            <a:spLocks noGrp="1"/>
          </p:cNvSpPr>
          <p:nvPr/>
        </p:nvSpPr>
        <p:spPr>
          <a:xfrm>
            <a:off x="9940930" y="1204954"/>
            <a:ext cx="1897799" cy="1068463"/>
          </a:xfrm>
          <a:prstGeom prst="rect">
            <a:avLst/>
          </a:prstGeom>
          <a:solidFill>
            <a:schemeClr val="accent5">
              <a:lumMod val="20000"/>
              <a:lumOff val="80000"/>
              <a:alpha val="18000"/>
            </a:schemeClr>
          </a:solidFill>
          <a:ln w="28575">
            <a:solidFill>
              <a:schemeClr val="accent5"/>
            </a:solidFill>
            <a:prstDash val="solid"/>
          </a:ln>
        </p:spPr>
        <p:txBody>
          <a:bodyPr lIns="114300" tIns="104775" rIns="114300" bIns="95250" anchor="ctr">
            <a:normAutofit fontScale="95934"/>
          </a:bodyPr>
          <a:lstStyle/>
          <a:p>
            <a:pPr>
              <a:spcAft>
                <a:spcPts val="5"/>
              </a:spcAft>
            </a:pPr>
            <a:r>
              <a:rPr lang="en-US" sz="900" b="1" dirty="0">
                <a:solidFill>
                  <a:srgbClr val="000000"/>
                </a:solidFill>
                <a:latin typeface="Untitled Sans" panose="020B0503030202060203" pitchFamily="34" charset="0"/>
                <a:ea typeface="Helvetica Neue"/>
                <a:cs typeface="Helvetica Neue"/>
              </a:rPr>
              <a:t>5</a:t>
            </a:r>
            <a:r>
              <a:rPr sz="900" b="1" dirty="0">
                <a:solidFill>
                  <a:srgbClr val="000000"/>
                </a:solidFill>
                <a:latin typeface="Untitled Sans" panose="020B0503030202060203" pitchFamily="34" charset="0"/>
                <a:ea typeface="Helvetica Neue"/>
                <a:cs typeface="Helvetica Neue"/>
              </a:rPr>
              <a:t> · </a:t>
            </a:r>
            <a:r>
              <a:rPr lang="en-US" sz="900" b="1" dirty="0">
                <a:solidFill>
                  <a:srgbClr val="000000"/>
                </a:solidFill>
                <a:latin typeface="Untitled Sans" panose="020B0503030202060203" pitchFamily="34" charset="0"/>
                <a:ea typeface="Helvetica Neue"/>
                <a:cs typeface="Helvetica Neue"/>
              </a:rPr>
              <a:t>FRAME</a:t>
            </a:r>
            <a:endParaRPr sz="900" b="1" dirty="0">
              <a:solidFill>
                <a:srgbClr val="000000"/>
              </a:solidFill>
              <a:latin typeface="Untitled Sans" panose="020B0503030202060203" pitchFamily="34" charset="0"/>
              <a:ea typeface="Helvetica Neue"/>
              <a:cs typeface="Helvetica Neue"/>
            </a:endParaRPr>
          </a:p>
          <a:p>
            <a:pPr>
              <a:spcAft>
                <a:spcPts val="5"/>
              </a:spcAft>
            </a:pPr>
            <a:r>
              <a:rPr lang="en-US" sz="900" dirty="0">
                <a:latin typeface="Untitled Sans Light" panose="020B0303030202060203" pitchFamily="34" charset="0"/>
              </a:rPr>
              <a:t>Define the central narrative, win themes, key messages, differentiators, proof points, section structure, and desired client takeaways.</a:t>
            </a:r>
            <a:endParaRPr sz="900" dirty="0">
              <a:solidFill>
                <a:srgbClr val="000000"/>
              </a:solidFill>
              <a:latin typeface="Untitled Sans Light" panose="020B0303030202060203" pitchFamily="34" charset="0"/>
              <a:ea typeface="Helvetica Neue"/>
              <a:cs typeface="Helvetica Neue"/>
            </a:endParaRPr>
          </a:p>
        </p:txBody>
      </p: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C771BB3B-2EE9-6946-830A-81851711330A}"/>
              </a:ext>
            </a:extLst>
          </p:cNvPr>
          <p:cNvCxnSpPr>
            <a:cxnSpLocks/>
          </p:cNvCxnSpPr>
          <p:nvPr/>
        </p:nvCxnSpPr>
        <p:spPr>
          <a:xfrm>
            <a:off x="10814050" y="2278380"/>
            <a:ext cx="0" cy="358140"/>
          </a:xfrm>
          <a:prstGeom prst="straightConnector1">
            <a:avLst/>
          </a:prstGeom>
          <a:ln>
            <a:solidFill>
              <a:schemeClr val="accent5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TextBox 192">
            <a:extLst>
              <a:ext uri="{FF2B5EF4-FFF2-40B4-BE49-F238E27FC236}">
                <a16:creationId xmlns:a16="http://schemas.microsoft.com/office/drawing/2014/main" id="{B47F9FA1-BF03-984A-68FC-071E708120D9}"/>
              </a:ext>
            </a:extLst>
          </p:cNvPr>
          <p:cNvSpPr txBox="1"/>
          <p:nvPr/>
        </p:nvSpPr>
        <p:spPr>
          <a:xfrm>
            <a:off x="294310" y="557433"/>
            <a:ext cx="5618810" cy="62008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ts val="3300"/>
              </a:lnSpc>
            </a:pPr>
            <a:r>
              <a:rPr lang="en-CA" sz="4400" b="1" dirty="0">
                <a:latin typeface="Bebas Neue Bold" panose="020B0606020202050201" pitchFamily="34" charset="77"/>
              </a:rPr>
              <a:t>Our current process </a:t>
            </a:r>
          </a:p>
        </p:txBody>
      </p:sp>
      <p:cxnSp>
        <p:nvCxnSpPr>
          <p:cNvPr id="203" name="Connector: Curved 202">
            <a:extLst>
              <a:ext uri="{FF2B5EF4-FFF2-40B4-BE49-F238E27FC236}">
                <a16:creationId xmlns:a16="http://schemas.microsoft.com/office/drawing/2014/main" id="{FF1F56FF-2C27-CC7B-75F1-FBBC8BAB610B}"/>
              </a:ext>
            </a:extLst>
          </p:cNvPr>
          <p:cNvCxnSpPr>
            <a:cxnSpLocks/>
          </p:cNvCxnSpPr>
          <p:nvPr/>
        </p:nvCxnSpPr>
        <p:spPr>
          <a:xfrm rot="16200000" flipV="1">
            <a:off x="9377979" y="881679"/>
            <a:ext cx="875306" cy="94376"/>
          </a:xfrm>
          <a:prstGeom prst="curvedConnector4">
            <a:avLst>
              <a:gd name="adj1" fmla="val -202"/>
              <a:gd name="adj2" fmla="val 245334"/>
            </a:avLst>
          </a:prstGeom>
          <a:ln w="31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: Curved 208">
            <a:extLst>
              <a:ext uri="{FF2B5EF4-FFF2-40B4-BE49-F238E27FC236}">
                <a16:creationId xmlns:a16="http://schemas.microsoft.com/office/drawing/2014/main" id="{7DE2FCDE-7ED1-8730-A35E-DF05EDE77B53}"/>
              </a:ext>
            </a:extLst>
          </p:cNvPr>
          <p:cNvCxnSpPr>
            <a:cxnSpLocks/>
          </p:cNvCxnSpPr>
          <p:nvPr/>
        </p:nvCxnSpPr>
        <p:spPr>
          <a:xfrm rot="16200000" flipH="1">
            <a:off x="9392920" y="4124960"/>
            <a:ext cx="660400" cy="254000"/>
          </a:xfrm>
          <a:prstGeom prst="curvedConnector3">
            <a:avLst>
              <a:gd name="adj1" fmla="val 103846"/>
            </a:avLst>
          </a:prstGeom>
          <a:ln w="3175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TextBox 210">
            <a:extLst>
              <a:ext uri="{FF2B5EF4-FFF2-40B4-BE49-F238E27FC236}">
                <a16:creationId xmlns:a16="http://schemas.microsoft.com/office/drawing/2014/main" id="{6ADC772F-8B13-90CE-9DD5-237B983F13A7}"/>
              </a:ext>
            </a:extLst>
          </p:cNvPr>
          <p:cNvSpPr txBox="1"/>
          <p:nvPr/>
        </p:nvSpPr>
        <p:spPr>
          <a:xfrm>
            <a:off x="425447" y="195156"/>
            <a:ext cx="3957710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800" dirty="0">
                <a:latin typeface="Untitled Sans Light" panose="020B0303030202060203" pitchFamily="34" charset="77"/>
              </a:rPr>
              <a:t>M MOSER ASSOCIATES</a:t>
            </a:r>
          </a:p>
        </p:txBody>
      </p:sp>
    </p:spTree>
    <p:extLst>
      <p:ext uri="{BB962C8B-B14F-4D97-AF65-F5344CB8AC3E}">
        <p14:creationId xmlns:p14="http://schemas.microsoft.com/office/powerpoint/2010/main" val="2930839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01CDC7-B07A-39CE-5295-B9E69EF14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80" y="596567"/>
            <a:ext cx="11302406" cy="536944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829176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5349C47-75B2-5209-81B4-C1CE8DCF4B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232108"/>
              </p:ext>
            </p:extLst>
          </p:nvPr>
        </p:nvGraphicFramePr>
        <p:xfrm>
          <a:off x="471055" y="2017725"/>
          <a:ext cx="11249892" cy="2560320"/>
        </p:xfrm>
        <a:graphic>
          <a:graphicData uri="http://schemas.openxmlformats.org/drawingml/2006/table">
            <a:tbl>
              <a:tblPr/>
              <a:tblGrid>
                <a:gridCol w="2812473">
                  <a:extLst>
                    <a:ext uri="{9D8B030D-6E8A-4147-A177-3AD203B41FA5}">
                      <a16:colId xmlns:a16="http://schemas.microsoft.com/office/drawing/2014/main" val="2486486847"/>
                    </a:ext>
                  </a:extLst>
                </a:gridCol>
                <a:gridCol w="2812473">
                  <a:extLst>
                    <a:ext uri="{9D8B030D-6E8A-4147-A177-3AD203B41FA5}">
                      <a16:colId xmlns:a16="http://schemas.microsoft.com/office/drawing/2014/main" val="2973749264"/>
                    </a:ext>
                  </a:extLst>
                </a:gridCol>
                <a:gridCol w="2978726">
                  <a:extLst>
                    <a:ext uri="{9D8B030D-6E8A-4147-A177-3AD203B41FA5}">
                      <a16:colId xmlns:a16="http://schemas.microsoft.com/office/drawing/2014/main" val="2721621403"/>
                    </a:ext>
                  </a:extLst>
                </a:gridCol>
                <a:gridCol w="2646220">
                  <a:extLst>
                    <a:ext uri="{9D8B030D-6E8A-4147-A177-3AD203B41FA5}">
                      <a16:colId xmlns:a16="http://schemas.microsoft.com/office/drawing/2014/main" val="37795692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CA" sz="1600" b="1" dirty="0">
                          <a:solidFill>
                            <a:schemeClr val="bg1"/>
                          </a:solidFill>
                          <a:latin typeface="Untitled Sans" panose="020B0503030202060203" pitchFamily="34" charset="77"/>
                        </a:rPr>
                        <a:t>CONTENT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b="1" dirty="0">
                          <a:solidFill>
                            <a:schemeClr val="bg1"/>
                          </a:solidFill>
                          <a:latin typeface="Untitled Sans" panose="020B0503030202060203" pitchFamily="34" charset="77"/>
                        </a:rPr>
                        <a:t>EXAMPLES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b="1" dirty="0">
                          <a:solidFill>
                            <a:schemeClr val="bg1"/>
                          </a:solidFill>
                          <a:latin typeface="Untitled Sans" panose="020B0503030202060203" pitchFamily="34" charset="77"/>
                        </a:rPr>
                        <a:t>BEST ROLE FOR THE 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b="1" dirty="0">
                          <a:solidFill>
                            <a:schemeClr val="bg1"/>
                          </a:solidFill>
                          <a:latin typeface="Untitled Sans" panose="020B0503030202060203" pitchFamily="34" charset="77"/>
                        </a:rPr>
                        <a:t>OUR TEAM’S ROLE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406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 sz="1600" b="0" dirty="0">
                          <a:solidFill>
                            <a:schemeClr val="bg1"/>
                          </a:solidFill>
                          <a:latin typeface="Untitled Sans" panose="020B0503030202060203" pitchFamily="34" charset="77"/>
                        </a:rPr>
                        <a:t>Canonical M Moser </a:t>
                      </a:r>
                      <a:br>
                        <a:rPr lang="en-CA" sz="1600" b="0" dirty="0">
                          <a:solidFill>
                            <a:schemeClr val="bg1"/>
                          </a:solidFill>
                          <a:latin typeface="Untitled Sans" panose="020B0503030202060203" pitchFamily="34" charset="77"/>
                        </a:rPr>
                      </a:br>
                      <a:r>
                        <a:rPr lang="en-CA" sz="1600" b="0" dirty="0">
                          <a:solidFill>
                            <a:schemeClr val="bg1"/>
                          </a:solidFill>
                          <a:latin typeface="Untitled Sans" panose="020B0503030202060203" pitchFamily="34" charset="77"/>
                        </a:rPr>
                        <a:t>content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dirty="0">
                          <a:solidFill>
                            <a:schemeClr val="bg1"/>
                          </a:solidFill>
                          <a:latin typeface="Untitled Sans" panose="020B0503030202060203" pitchFamily="34" charset="77"/>
                        </a:rPr>
                        <a:t>About Us, services, Global Capabilities, Resumes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1600">
                          <a:solidFill>
                            <a:schemeClr val="bg1"/>
                          </a:solidFill>
                          <a:latin typeface="Untitled Sans" panose="020B0503030202060203" pitchFamily="34" charset="77"/>
                        </a:rPr>
                        <a:t>Retrieve the approved source-of-truth material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dirty="0">
                          <a:solidFill>
                            <a:schemeClr val="bg1"/>
                          </a:solidFill>
                          <a:latin typeface="Untitled Sans" panose="020B0503030202060203" pitchFamily="34" charset="77"/>
                        </a:rPr>
                        <a:t>Confirm relevance and place it in the story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7648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 sz="1600" b="0" dirty="0">
                          <a:solidFill>
                            <a:schemeClr val="bg1"/>
                          </a:solidFill>
                          <a:latin typeface="Untitled Sans" panose="020B0503030202060203" pitchFamily="34" charset="77"/>
                        </a:rPr>
                        <a:t>Reusable high-quality content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dirty="0">
                          <a:solidFill>
                            <a:schemeClr val="bg1"/>
                          </a:solidFill>
                          <a:latin typeface="Untitled Sans" panose="020B0503030202060203" pitchFamily="34" charset="77"/>
                        </a:rPr>
                        <a:t>MSA Slides, the banner, diagrams, experience slides, strong submissions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dirty="0">
                          <a:solidFill>
                            <a:schemeClr val="bg1"/>
                          </a:solidFill>
                          <a:latin typeface="Untitled Sans" panose="020B0503030202060203" pitchFamily="34" charset="77"/>
                        </a:rPr>
                        <a:t>Easy and fast access, Surface relevant options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dirty="0">
                          <a:solidFill>
                            <a:schemeClr val="bg1"/>
                          </a:solidFill>
                          <a:latin typeface="Untitled Sans" panose="020B0503030202060203" pitchFamily="34" charset="77"/>
                        </a:rPr>
                        <a:t>Evaluate, select, </a:t>
                      </a:r>
                      <a:r>
                        <a:rPr lang="en-CA" sz="1600" b="1" dirty="0">
                          <a:solidFill>
                            <a:schemeClr val="bg1"/>
                          </a:solidFill>
                          <a:latin typeface="Untitled Sans" panose="020B0503030202060203" pitchFamily="34" charset="77"/>
                        </a:rPr>
                        <a:t>adapt </a:t>
                      </a:r>
                      <a:r>
                        <a:rPr lang="en-CA" sz="1600" dirty="0">
                          <a:solidFill>
                            <a:schemeClr val="bg1"/>
                          </a:solidFill>
                          <a:latin typeface="Untitled Sans" panose="020B0503030202060203" pitchFamily="34" charset="77"/>
                        </a:rPr>
                        <a:t>and contextualize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94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CA" sz="1600" b="0" dirty="0">
                          <a:solidFill>
                            <a:schemeClr val="bg1"/>
                          </a:solidFill>
                          <a:latin typeface="Untitled Sans" panose="020B0503030202060203" pitchFamily="34" charset="77"/>
                        </a:rPr>
                        <a:t>One-off proposal content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dirty="0">
                          <a:solidFill>
                            <a:schemeClr val="bg1"/>
                          </a:solidFill>
                          <a:latin typeface="Untitled Sans" panose="020B0503030202060203" pitchFamily="34" charset="77"/>
                        </a:rPr>
                        <a:t>Win themes, client-specific story, custom diagrams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dirty="0">
                          <a:solidFill>
                            <a:schemeClr val="bg1"/>
                          </a:solidFill>
                          <a:latin typeface="Untitled Sans" panose="020B0503030202060203" pitchFamily="34" charset="77"/>
                        </a:rPr>
                        <a:t>Limited support with discovery and assembly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CA" sz="1600" dirty="0">
                          <a:solidFill>
                            <a:schemeClr val="bg1"/>
                          </a:solidFill>
                          <a:latin typeface="Untitled Sans" panose="020B0503030202060203" pitchFamily="34" charset="77"/>
                        </a:rPr>
                        <a:t>Translate strategy into the client-specific visual story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108986"/>
                  </a:ext>
                </a:extLst>
              </a:tr>
            </a:tbl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5848F33-78BA-BA07-D87A-A97D80EC796D}"/>
              </a:ext>
            </a:extLst>
          </p:cNvPr>
          <p:cNvCxnSpPr>
            <a:cxnSpLocks/>
          </p:cNvCxnSpPr>
          <p:nvPr/>
        </p:nvCxnSpPr>
        <p:spPr>
          <a:xfrm>
            <a:off x="0" y="3754582"/>
            <a:ext cx="1219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F3506F-1515-2FF0-3852-95DFC57DE28B}"/>
              </a:ext>
            </a:extLst>
          </p:cNvPr>
          <p:cNvCxnSpPr>
            <a:cxnSpLocks/>
          </p:cNvCxnSpPr>
          <p:nvPr/>
        </p:nvCxnSpPr>
        <p:spPr>
          <a:xfrm>
            <a:off x="318782" y="2923309"/>
            <a:ext cx="11727809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AE85E1-48B0-BE3E-4B38-56071EC9A9CC}"/>
              </a:ext>
            </a:extLst>
          </p:cNvPr>
          <p:cNvCxnSpPr>
            <a:cxnSpLocks/>
          </p:cNvCxnSpPr>
          <p:nvPr/>
        </p:nvCxnSpPr>
        <p:spPr>
          <a:xfrm>
            <a:off x="0" y="1953492"/>
            <a:ext cx="1219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24ABE0-0EA9-2541-04D5-5ACE7A99A87F}"/>
              </a:ext>
            </a:extLst>
          </p:cNvPr>
          <p:cNvCxnSpPr>
            <a:cxnSpLocks/>
          </p:cNvCxnSpPr>
          <p:nvPr/>
        </p:nvCxnSpPr>
        <p:spPr>
          <a:xfrm>
            <a:off x="0" y="2341417"/>
            <a:ext cx="1219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07C0C00-6CED-D8B9-2706-D00BEEB815C5}"/>
              </a:ext>
            </a:extLst>
          </p:cNvPr>
          <p:cNvCxnSpPr>
            <a:cxnSpLocks/>
          </p:cNvCxnSpPr>
          <p:nvPr/>
        </p:nvCxnSpPr>
        <p:spPr>
          <a:xfrm>
            <a:off x="0" y="4641272"/>
            <a:ext cx="121920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18B2B0-DF3C-17E5-C3D6-B3D7A2F4023A}"/>
              </a:ext>
            </a:extLst>
          </p:cNvPr>
          <p:cNvCxnSpPr>
            <a:cxnSpLocks/>
          </p:cNvCxnSpPr>
          <p:nvPr/>
        </p:nvCxnSpPr>
        <p:spPr>
          <a:xfrm>
            <a:off x="6040582" y="1953492"/>
            <a:ext cx="0" cy="268778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EB0E687-1B84-03E1-116D-56E52E8425AE}"/>
              </a:ext>
            </a:extLst>
          </p:cNvPr>
          <p:cNvCxnSpPr>
            <a:cxnSpLocks/>
          </p:cNvCxnSpPr>
          <p:nvPr/>
        </p:nvCxnSpPr>
        <p:spPr>
          <a:xfrm>
            <a:off x="9060875" y="1953492"/>
            <a:ext cx="0" cy="268778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1362509-817C-B1D7-1145-43A2745BC8A4}"/>
              </a:ext>
            </a:extLst>
          </p:cNvPr>
          <p:cNvCxnSpPr>
            <a:cxnSpLocks/>
          </p:cNvCxnSpPr>
          <p:nvPr/>
        </p:nvCxnSpPr>
        <p:spPr>
          <a:xfrm>
            <a:off x="3158841" y="1953492"/>
            <a:ext cx="0" cy="268778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F14448C-2570-9729-A96A-EDC4AA32458B}"/>
              </a:ext>
            </a:extLst>
          </p:cNvPr>
          <p:cNvSpPr txBox="1"/>
          <p:nvPr/>
        </p:nvSpPr>
        <p:spPr>
          <a:xfrm>
            <a:off x="425447" y="195156"/>
            <a:ext cx="3957710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Untitled Sans Light" panose="020B0303030202060203" pitchFamily="34" charset="77"/>
              </a:rPr>
              <a:t>M MOSER ASSOCIATES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5D1936C-BC2A-FC4E-0190-A5D6C9489A3C}"/>
              </a:ext>
            </a:extLst>
          </p:cNvPr>
          <p:cNvSpPr txBox="1"/>
          <p:nvPr/>
        </p:nvSpPr>
        <p:spPr>
          <a:xfrm>
            <a:off x="8647621" y="195156"/>
            <a:ext cx="3086256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800" b="1">
                <a:solidFill>
                  <a:schemeClr val="bg1"/>
                </a:solidFill>
                <a:latin typeface="Untitled Sans" panose="020B0503030202060203" pitchFamily="34" charset="77"/>
              </a:rPr>
              <a:t>2026</a:t>
            </a:r>
            <a:endParaRPr lang="en-CA" sz="800" b="1">
              <a:solidFill>
                <a:schemeClr val="bg1"/>
              </a:solidFill>
              <a:latin typeface="Untitled Sans" panose="020B0503030202060203" pitchFamily="34" charset="77"/>
            </a:endParaRPr>
          </a:p>
        </p:txBody>
      </p:sp>
      <p:pic>
        <p:nvPicPr>
          <p:cNvPr id="32" name="Picture 31" descr="Text&#10;&#10;Description automatically generated with medium confidence">
            <a:extLst>
              <a:ext uri="{FF2B5EF4-FFF2-40B4-BE49-F238E27FC236}">
                <a16:creationId xmlns:a16="http://schemas.microsoft.com/office/drawing/2014/main" id="{49140C29-5E96-D570-BEA9-F4EAA8D1299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3860" y="6331126"/>
            <a:ext cx="276393" cy="27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00719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24CEC1-022F-ECE5-F4C2-D9E6AE1C0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rid-v1"/>
          <p:cNvSpPr/>
          <p:nvPr/>
        </p:nvSpPr>
        <p:spPr>
          <a:xfrm>
            <a:off x="12192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grid-v2"/>
          <p:cNvSpPr/>
          <p:nvPr/>
        </p:nvSpPr>
        <p:spPr>
          <a:xfrm>
            <a:off x="24384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grid-v3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grid-v4"/>
          <p:cNvSpPr/>
          <p:nvPr/>
        </p:nvSpPr>
        <p:spPr>
          <a:xfrm>
            <a:off x="48768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grid-v5"/>
          <p:cNvSpPr/>
          <p:nvPr/>
        </p:nvSpPr>
        <p:spPr>
          <a:xfrm>
            <a:off x="60960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grid-v6"/>
          <p:cNvSpPr/>
          <p:nvPr/>
        </p:nvSpPr>
        <p:spPr>
          <a:xfrm>
            <a:off x="73152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grid-v7"/>
          <p:cNvSpPr/>
          <p:nvPr/>
        </p:nvSpPr>
        <p:spPr>
          <a:xfrm>
            <a:off x="85344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grid-v8"/>
          <p:cNvSpPr/>
          <p:nvPr/>
        </p:nvSpPr>
        <p:spPr>
          <a:xfrm>
            <a:off x="97536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grid-v9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grid-h1"/>
          <p:cNvSpPr/>
          <p:nvPr/>
        </p:nvSpPr>
        <p:spPr>
          <a:xfrm>
            <a:off x="114300" y="1142999"/>
            <a:ext cx="12192000" cy="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grid-h2"/>
          <p:cNvSpPr/>
          <p:nvPr/>
        </p:nvSpPr>
        <p:spPr>
          <a:xfrm>
            <a:off x="0" y="2286000"/>
            <a:ext cx="12192000" cy="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grid-h3"/>
          <p:cNvSpPr/>
          <p:nvPr/>
        </p:nvSpPr>
        <p:spPr>
          <a:xfrm>
            <a:off x="0" y="3429000"/>
            <a:ext cx="12192000" cy="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grid-h4"/>
          <p:cNvSpPr/>
          <p:nvPr/>
        </p:nvSpPr>
        <p:spPr>
          <a:xfrm>
            <a:off x="0" y="4572000"/>
            <a:ext cx="12192000" cy="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grid-h5"/>
          <p:cNvSpPr/>
          <p:nvPr/>
        </p:nvSpPr>
        <p:spPr>
          <a:xfrm>
            <a:off x="0" y="5715000"/>
            <a:ext cx="12192000" cy="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190761-F190-AC59-07A3-010FB2EC7394}"/>
              </a:ext>
            </a:extLst>
          </p:cNvPr>
          <p:cNvSpPr txBox="1"/>
          <p:nvPr/>
        </p:nvSpPr>
        <p:spPr>
          <a:xfrm>
            <a:off x="4030980" y="2385765"/>
            <a:ext cx="4130040" cy="208646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6000"/>
              </a:lnSpc>
            </a:pPr>
            <a:r>
              <a:rPr lang="en-CA" sz="7200" dirty="0">
                <a:solidFill>
                  <a:schemeClr val="bg1"/>
                </a:solidFill>
                <a:latin typeface="Bebas Neue" panose="020B0606020202050201" pitchFamily="34" charset="77"/>
              </a:rPr>
              <a:t>Where the proposed tool fits</a:t>
            </a:r>
            <a:endParaRPr lang="en-US" sz="7200" dirty="0">
              <a:solidFill>
                <a:schemeClr val="bg1"/>
              </a:solidFill>
              <a:latin typeface="Bebas Neue" panose="020B0606020202050201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82109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C83FD-3BDE-FA36-B563-823FBFAB7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tep-1-proposal-drop">
            <a:extLst>
              <a:ext uri="{FF2B5EF4-FFF2-40B4-BE49-F238E27FC236}">
                <a16:creationId xmlns:a16="http://schemas.microsoft.com/office/drawing/2014/main" id="{CE3B5B4C-78AD-F7FC-209E-C14BE5A28623}"/>
              </a:ext>
            </a:extLst>
          </p:cNvPr>
          <p:cNvSpPr>
            <a:spLocks noGrp="1"/>
          </p:cNvSpPr>
          <p:nvPr/>
        </p:nvSpPr>
        <p:spPr>
          <a:xfrm>
            <a:off x="337424" y="1204954"/>
            <a:ext cx="1904126" cy="1066800"/>
          </a:xfrm>
          <a:prstGeom prst="rect">
            <a:avLst/>
          </a:prstGeom>
          <a:solidFill>
            <a:schemeClr val="bg1">
              <a:alpha val="18000"/>
            </a:schemeClr>
          </a:solidFill>
          <a:ln w="28575">
            <a:solidFill>
              <a:schemeClr val="accent6"/>
            </a:solidFill>
            <a:prstDash val="solid"/>
          </a:ln>
        </p:spPr>
        <p:txBody>
          <a:bodyPr lIns="114300" tIns="104775" rIns="114300" bIns="95250" anchor="ctr">
            <a:normAutofit fontScale="95934"/>
          </a:bodyPr>
          <a:lstStyle/>
          <a:p>
            <a:pPr algn="l">
              <a:spcAft>
                <a:spcPts val="5"/>
              </a:spcAft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1 · RECEIVE</a:t>
            </a:r>
            <a:r>
              <a:rPr lang="en-US" sz="9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 &amp; ASSES</a:t>
            </a:r>
            <a:endParaRPr sz="900" b="1" dirty="0">
              <a:solidFill>
                <a:srgbClr val="000000"/>
              </a:solidFill>
              <a:latin typeface="Untitled Sans" panose="020B0503030202060203" pitchFamily="34" charset="77"/>
              <a:ea typeface="Helvetica Neue"/>
              <a:cs typeface="Helvetica Neue"/>
            </a:endParaRPr>
          </a:p>
          <a:p>
            <a:pPr algn="l">
              <a:spcAft>
                <a:spcPts val="4"/>
              </a:spcAft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700" b="1" dirty="0">
                <a:solidFill>
                  <a:schemeClr val="accent6">
                    <a:lumMod val="50000"/>
                  </a:schemeClr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PROPOSAL DROPS</a:t>
            </a:r>
          </a:p>
          <a:p>
            <a:pPr algn="l"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The group receives the RFP and deadline</a:t>
            </a:r>
          </a:p>
        </p:txBody>
      </p:sp>
      <p:sp>
        <p:nvSpPr>
          <p:cNvPr id="4" name="step-2-assign">
            <a:extLst>
              <a:ext uri="{FF2B5EF4-FFF2-40B4-BE49-F238E27FC236}">
                <a16:creationId xmlns:a16="http://schemas.microsoft.com/office/drawing/2014/main" id="{DD509B6E-5D18-08F8-56D2-748C8A596B63}"/>
              </a:ext>
            </a:extLst>
          </p:cNvPr>
          <p:cNvSpPr>
            <a:spLocks noGrp="1"/>
          </p:cNvSpPr>
          <p:nvPr/>
        </p:nvSpPr>
        <p:spPr>
          <a:xfrm>
            <a:off x="2787009" y="1204954"/>
            <a:ext cx="1892417" cy="1066800"/>
          </a:xfrm>
          <a:prstGeom prst="rect">
            <a:avLst/>
          </a:prstGeom>
          <a:solidFill>
            <a:schemeClr val="bg1">
              <a:alpha val="18000"/>
            </a:schemeClr>
          </a:solidFill>
          <a:ln w="28575">
            <a:solidFill>
              <a:schemeClr val="accent6"/>
            </a:solidFill>
            <a:prstDash val="solid"/>
          </a:ln>
        </p:spPr>
        <p:txBody>
          <a:bodyPr lIns="114300" tIns="104775" rIns="114300" bIns="95250" anchor="ctr">
            <a:noAutofit/>
          </a:bodyPr>
          <a:lstStyle/>
          <a:p>
            <a:pPr algn="l">
              <a:spcAft>
                <a:spcPts val="5"/>
              </a:spcAft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2 · ASSIGN</a:t>
            </a:r>
          </a:p>
          <a:p>
            <a:pPr algn="l">
              <a:spcAft>
                <a:spcPts val="4"/>
              </a:spcAft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700" dirty="0">
                <a:solidFill>
                  <a:schemeClr val="accent6">
                    <a:lumMod val="50000"/>
                  </a:schemeClr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PROPOSAL SPECIALIST ASSIGNED</a:t>
            </a:r>
          </a:p>
          <a:p>
            <a:pPr algn="l"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A team member takes ownership of the response</a:t>
            </a:r>
            <a:r>
              <a:rPr lang="en-CA"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 and get involved with rest of team members</a:t>
            </a:r>
            <a:endParaRPr sz="900" dirty="0">
              <a:solidFill>
                <a:srgbClr val="000000"/>
              </a:solidFill>
              <a:latin typeface="Untitled Sans Light" panose="020B0303030202060203" pitchFamily="34" charset="0"/>
              <a:ea typeface="Helvetica Neue"/>
              <a:cs typeface="Helvetica Neue"/>
            </a:endParaRPr>
          </a:p>
        </p:txBody>
      </p:sp>
      <p:sp>
        <p:nvSpPr>
          <p:cNvPr id="5" name="step-3-intake">
            <a:extLst>
              <a:ext uri="{FF2B5EF4-FFF2-40B4-BE49-F238E27FC236}">
                <a16:creationId xmlns:a16="http://schemas.microsoft.com/office/drawing/2014/main" id="{ED03FE4C-44B7-7A92-93EC-4EF7CB93BBBF}"/>
              </a:ext>
            </a:extLst>
          </p:cNvPr>
          <p:cNvSpPr>
            <a:spLocks noGrp="1"/>
          </p:cNvSpPr>
          <p:nvPr/>
        </p:nvSpPr>
        <p:spPr>
          <a:xfrm>
            <a:off x="5173362" y="1058291"/>
            <a:ext cx="1888850" cy="1466335"/>
          </a:xfrm>
          <a:prstGeom prst="rect">
            <a:avLst/>
          </a:prstGeom>
          <a:solidFill>
            <a:schemeClr val="accent6">
              <a:alpha val="18000"/>
            </a:schemeClr>
          </a:solidFill>
          <a:ln w="28575">
            <a:solidFill>
              <a:schemeClr val="accent6"/>
            </a:solidFill>
            <a:prstDash val="solid"/>
          </a:ln>
        </p:spPr>
        <p:txBody>
          <a:bodyPr lIns="114300" tIns="104775" rIns="114300" bIns="95250" anchor="ctr">
            <a:noAutofit/>
          </a:bodyPr>
          <a:lstStyle/>
          <a:p>
            <a:pPr>
              <a:spcAft>
                <a:spcPts val="5"/>
              </a:spcAft>
            </a:pPr>
            <a:r>
              <a:rPr sz="9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3 · PREPARE</a:t>
            </a:r>
          </a:p>
          <a:p>
            <a:pPr>
              <a:spcAft>
                <a:spcPts val="5"/>
              </a:spcAft>
            </a:pPr>
            <a:r>
              <a:rPr lang="en-US" sz="900" b="1" u="sng" dirty="0">
                <a:solidFill>
                  <a:schemeClr val="accent6">
                    <a:lumMod val="50000"/>
                  </a:schemeClr>
                </a:solidFill>
                <a:latin typeface="Untitled Sans" panose="020B0503030202060203" pitchFamily="34" charset="0"/>
              </a:rPr>
              <a:t>TOOL:</a:t>
            </a:r>
            <a:r>
              <a:rPr lang="en-US" sz="900" u="sng" dirty="0">
                <a:solidFill>
                  <a:schemeClr val="accent6">
                    <a:lumMod val="50000"/>
                  </a:schemeClr>
                </a:solidFill>
                <a:latin typeface="Untitled Sans" panose="020B0503030202060203" pitchFamily="34" charset="0"/>
              </a:rPr>
              <a:t> </a:t>
            </a:r>
            <a:r>
              <a:rPr lang="en-US" sz="900" dirty="0">
                <a:latin typeface="Untitled Sans Light" panose="020B0303030202060203" pitchFamily="34" charset="0"/>
              </a:rPr>
              <a:t>Extracts &amp; stores requirements, deadlines, evaluation criteria, attachments, and potential gaps.</a:t>
            </a:r>
            <a:br>
              <a:rPr lang="en-US" sz="900" dirty="0">
                <a:latin typeface="Untitled Sans Light" panose="020B0303030202060203" pitchFamily="34" charset="0"/>
              </a:rPr>
            </a:br>
            <a:r>
              <a:rPr lang="en-US" sz="900" b="1" u="sng" dirty="0">
                <a:solidFill>
                  <a:schemeClr val="accent6">
                    <a:lumMod val="50000"/>
                  </a:schemeClr>
                </a:solidFill>
                <a:latin typeface="Untitled Sans" panose="020B0503030202060203" pitchFamily="34" charset="0"/>
              </a:rPr>
              <a:t>PROPOSALS:</a:t>
            </a:r>
            <a:r>
              <a:rPr lang="en-US" sz="900" u="sng" dirty="0">
                <a:solidFill>
                  <a:schemeClr val="accent6">
                    <a:lumMod val="50000"/>
                  </a:schemeClr>
                </a:solidFill>
                <a:latin typeface="Untitled Sans" panose="020B0503030202060203" pitchFamily="34" charset="0"/>
              </a:rPr>
              <a:t> </a:t>
            </a:r>
            <a:r>
              <a:rPr lang="en-US" sz="900" dirty="0">
                <a:latin typeface="Untitled Sans Light" panose="020B0303030202060203" pitchFamily="34" charset="0"/>
              </a:rPr>
              <a:t>Interprets the RFP, validates requirements, identifies risks, and establishes the response plan</a:t>
            </a:r>
            <a:r>
              <a:rPr lang="en-US" sz="900" dirty="0">
                <a:latin typeface="Untitled Sans" panose="020B0503030202060203" pitchFamily="34" charset="0"/>
              </a:rPr>
              <a:t>.</a:t>
            </a:r>
            <a:endParaRPr sz="900" dirty="0">
              <a:solidFill>
                <a:srgbClr val="000000"/>
              </a:solidFill>
              <a:latin typeface="Untitled Sans" panose="020B0503030202060203" pitchFamily="34" charset="0"/>
              <a:ea typeface="Helvetica Neue"/>
              <a:cs typeface="Helvetica Neue"/>
            </a:endParaRPr>
          </a:p>
        </p:txBody>
      </p:sp>
      <p:sp>
        <p:nvSpPr>
          <p:cNvPr id="6" name="step-4-kickoff">
            <a:extLst>
              <a:ext uri="{FF2B5EF4-FFF2-40B4-BE49-F238E27FC236}">
                <a16:creationId xmlns:a16="http://schemas.microsoft.com/office/drawing/2014/main" id="{70D871AA-F814-0F77-4DD0-0069D048A5F9}"/>
              </a:ext>
            </a:extLst>
          </p:cNvPr>
          <p:cNvSpPr>
            <a:spLocks noGrp="1"/>
          </p:cNvSpPr>
          <p:nvPr/>
        </p:nvSpPr>
        <p:spPr>
          <a:xfrm>
            <a:off x="7607705" y="1204954"/>
            <a:ext cx="1892417" cy="1066800"/>
          </a:xfrm>
          <a:prstGeom prst="rect">
            <a:avLst/>
          </a:prstGeom>
          <a:solidFill>
            <a:schemeClr val="bg1">
              <a:alpha val="18000"/>
            </a:schemeClr>
          </a:solidFill>
          <a:ln w="28575">
            <a:solidFill>
              <a:schemeClr val="accent6"/>
            </a:solidFill>
            <a:prstDash val="solid"/>
          </a:ln>
        </p:spPr>
        <p:txBody>
          <a:bodyPr lIns="114300" tIns="104775" rIns="114300" bIns="95250" anchor="ctr">
            <a:normAutofit fontScale="95934"/>
          </a:bodyPr>
          <a:lstStyle/>
          <a:p>
            <a:pPr>
              <a:spcAft>
                <a:spcPts val="5"/>
              </a:spcAft>
            </a:pPr>
            <a:r>
              <a:rPr sz="9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4 · ALIGN</a:t>
            </a:r>
          </a:p>
          <a:p>
            <a:pPr>
              <a:spcAft>
                <a:spcPts val="5"/>
              </a:spcAft>
            </a:pPr>
            <a:r>
              <a:rPr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Kickoff and strategy</a:t>
            </a:r>
          </a:p>
          <a:p>
            <a:pPr>
              <a:spcAft>
                <a:spcPts val="5"/>
              </a:spcAft>
            </a:pPr>
            <a:r>
              <a:rPr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The </a:t>
            </a:r>
            <a:r>
              <a:rPr lang="en-CA"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team</a:t>
            </a:r>
            <a:r>
              <a:rPr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 confirms the win strategy</a:t>
            </a:r>
            <a:r>
              <a:rPr lang="en-CA"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. </a:t>
            </a:r>
            <a:r>
              <a:rPr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priorities and roles</a:t>
            </a:r>
            <a:r>
              <a:rPr lang="en-CA" sz="900" dirty="0">
                <a:solidFill>
                  <a:srgbClr val="000000"/>
                </a:solidFill>
                <a:latin typeface="Untitled Sans Light" panose="020B0303030202060203" pitchFamily="34" charset="0"/>
                <a:ea typeface="Helvetica Neue"/>
                <a:cs typeface="Helvetica Neue"/>
              </a:rPr>
              <a:t> are assigned</a:t>
            </a:r>
            <a:endParaRPr sz="900" dirty="0">
              <a:solidFill>
                <a:srgbClr val="000000"/>
              </a:solidFill>
              <a:latin typeface="Untitled Sans Light" panose="020B0303030202060203" pitchFamily="34" charset="0"/>
              <a:ea typeface="Helvetica Neue"/>
              <a:cs typeface="Helvetica Neue"/>
            </a:endParaRPr>
          </a:p>
        </p:txBody>
      </p:sp>
      <p:sp>
        <p:nvSpPr>
          <p:cNvPr id="7" name="step-5-storyline">
            <a:extLst>
              <a:ext uri="{FF2B5EF4-FFF2-40B4-BE49-F238E27FC236}">
                <a16:creationId xmlns:a16="http://schemas.microsoft.com/office/drawing/2014/main" id="{FE6CA55C-AC9F-A27B-AB36-C89C27ABA29B}"/>
              </a:ext>
            </a:extLst>
          </p:cNvPr>
          <p:cNvSpPr>
            <a:spLocks noGrp="1"/>
          </p:cNvSpPr>
          <p:nvPr/>
        </p:nvSpPr>
        <p:spPr>
          <a:xfrm>
            <a:off x="9537700" y="2925052"/>
            <a:ext cx="2381250" cy="1439913"/>
          </a:xfrm>
          <a:prstGeom prst="rect">
            <a:avLst/>
          </a:prstGeom>
          <a:solidFill>
            <a:schemeClr val="accent6">
              <a:alpha val="18000"/>
            </a:schemeClr>
          </a:solidFill>
          <a:ln w="28575">
            <a:solidFill>
              <a:schemeClr val="accent6"/>
            </a:solidFill>
            <a:prstDash val="solid"/>
          </a:ln>
        </p:spPr>
        <p:txBody>
          <a:bodyPr lIns="114300" tIns="104775" rIns="114300" bIns="95250" anchor="ctr">
            <a:normAutofit fontScale="95934"/>
          </a:bodyPr>
          <a:lstStyle/>
          <a:p>
            <a:pPr>
              <a:spcAft>
                <a:spcPts val="5"/>
              </a:spcAft>
            </a:pPr>
            <a:r>
              <a:rPr lang="en-US" sz="9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6</a:t>
            </a:r>
            <a:r>
              <a:rPr sz="9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 · TRANSLATE</a:t>
            </a:r>
          </a:p>
          <a:p>
            <a:pPr>
              <a:spcAft>
                <a:spcPts val="5"/>
              </a:spcAft>
            </a:pPr>
            <a:r>
              <a:rPr lang="en-US" sz="900" b="1" u="sng" dirty="0">
                <a:solidFill>
                  <a:schemeClr val="accent6">
                    <a:lumMod val="50000"/>
                  </a:schemeClr>
                </a:solidFill>
                <a:latin typeface="Untitled Sans" panose="020B0503030202060203" pitchFamily="34" charset="0"/>
              </a:rPr>
              <a:t>TOOL: </a:t>
            </a:r>
            <a:r>
              <a:rPr lang="en-US" sz="900" dirty="0">
                <a:latin typeface="Untitled Sans Light" panose="020B0303030202060203" pitchFamily="34" charset="0"/>
              </a:rPr>
              <a:t>Retrieves approved content and recommends relevant projects, people, capabilities, and proof points.</a:t>
            </a:r>
            <a:br>
              <a:rPr lang="en-US" sz="900" dirty="0">
                <a:latin typeface="Untitled Sans Light" panose="020B0303030202060203" pitchFamily="34" charset="0"/>
              </a:rPr>
            </a:br>
            <a:r>
              <a:rPr lang="en-US" sz="900" b="1" u="sng" dirty="0">
                <a:solidFill>
                  <a:schemeClr val="accent6">
                    <a:lumMod val="50000"/>
                  </a:schemeClr>
                </a:solidFill>
                <a:latin typeface="Untitled Sans" panose="020B0503030202060203" pitchFamily="34" charset="0"/>
              </a:rPr>
              <a:t>PROPOSALS: </a:t>
            </a:r>
            <a:r>
              <a:rPr lang="en-US" sz="900" dirty="0">
                <a:latin typeface="Untitled Sans Light" panose="020B0303030202060203" pitchFamily="34" charset="0"/>
              </a:rPr>
              <a:t>Evaluates, selects, adapts, and structures the content around the client and strategy.</a:t>
            </a:r>
            <a:endParaRPr sz="900" u="sng" dirty="0">
              <a:solidFill>
                <a:srgbClr val="000000"/>
              </a:solidFill>
              <a:latin typeface="Untitled Sans Light" panose="020B0303030202060203" pitchFamily="34" charset="0"/>
              <a:ea typeface="Helvetica Neue"/>
              <a:cs typeface="Helvetica Neue"/>
            </a:endParaRPr>
          </a:p>
        </p:txBody>
      </p:sp>
      <p:sp>
        <p:nvSpPr>
          <p:cNvPr id="8" name="content-path-label">
            <a:extLst>
              <a:ext uri="{FF2B5EF4-FFF2-40B4-BE49-F238E27FC236}">
                <a16:creationId xmlns:a16="http://schemas.microsoft.com/office/drawing/2014/main" id="{49E55792-81CF-9A6D-7436-5A96582FB9CB}"/>
              </a:ext>
            </a:extLst>
          </p:cNvPr>
          <p:cNvSpPr>
            <a:spLocks noGrp="1"/>
          </p:cNvSpPr>
          <p:nvPr/>
        </p:nvSpPr>
        <p:spPr>
          <a:xfrm>
            <a:off x="6329680" y="2715503"/>
            <a:ext cx="2762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1650" lnSpcReduction="10000"/>
          </a:bodyPr>
          <a:lstStyle/>
          <a:p>
            <a:pPr algn="l">
              <a:defRPr sz="975" b="1">
                <a:solidFill>
                  <a:srgbClr val="4F55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dirty="0">
                <a:solidFill>
                  <a:schemeClr val="accent6">
                    <a:lumMod val="75000"/>
                  </a:schemeClr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MATCH EACH CONTENT NEED TO THE RIGHT PATH</a:t>
            </a:r>
          </a:p>
        </p:txBody>
      </p:sp>
      <p:sp>
        <p:nvSpPr>
          <p:cNvPr id="9" name="path-canonical">
            <a:extLst>
              <a:ext uri="{FF2B5EF4-FFF2-40B4-BE49-F238E27FC236}">
                <a16:creationId xmlns:a16="http://schemas.microsoft.com/office/drawing/2014/main" id="{C304B47F-12D8-7F16-62A7-E4597C849267}"/>
              </a:ext>
            </a:extLst>
          </p:cNvPr>
          <p:cNvSpPr>
            <a:spLocks noGrp="1"/>
          </p:cNvSpPr>
          <p:nvPr/>
        </p:nvSpPr>
        <p:spPr>
          <a:xfrm>
            <a:off x="6299200" y="2963152"/>
            <a:ext cx="2762250" cy="746205"/>
          </a:xfrm>
          <a:prstGeom prst="rect">
            <a:avLst/>
          </a:prstGeom>
          <a:solidFill>
            <a:schemeClr val="accent6">
              <a:alpha val="54000"/>
            </a:schemeClr>
          </a:solidFill>
          <a:ln w="13335">
            <a:solidFill>
              <a:srgbClr val="B8BCC4"/>
            </a:solidFill>
            <a:prstDash val="solid"/>
          </a:ln>
        </p:spPr>
        <p:txBody>
          <a:bodyPr lIns="114300" tIns="104775" rIns="114300" bIns="95250" anchor="ctr">
            <a:noAutofit/>
          </a:bodyPr>
          <a:lstStyle/>
          <a:p>
            <a:pPr>
              <a:spcAft>
                <a:spcPts val="5"/>
              </a:spcAft>
            </a:pPr>
            <a:r>
              <a:rPr sz="900" b="1" dirty="0">
                <a:solidFill>
                  <a:srgbClr val="000000"/>
                </a:solidFill>
                <a:latin typeface="Untitled Sans" panose="020B0503030202060203" pitchFamily="34" charset="0"/>
                <a:ea typeface="Helvetica Neue"/>
                <a:cs typeface="Helvetica Neue"/>
              </a:rPr>
              <a:t>Canonical M Moser content</a:t>
            </a:r>
          </a:p>
          <a:p>
            <a:pPr>
              <a:spcAft>
                <a:spcPts val="5"/>
              </a:spcAft>
            </a:pPr>
            <a:r>
              <a:rPr lang="en-US" sz="900" b="1" u="sng" dirty="0">
                <a:solidFill>
                  <a:schemeClr val="accent6">
                    <a:lumMod val="50000"/>
                  </a:schemeClr>
                </a:solidFill>
                <a:latin typeface="Untitled Sans" panose="020B0503030202060203" pitchFamily="34" charset="0"/>
              </a:rPr>
              <a:t>TOOL : </a:t>
            </a:r>
            <a:r>
              <a:rPr lang="en-US" sz="900" dirty="0">
                <a:latin typeface="Untitled Sans Light" panose="020B0303030202060203" pitchFamily="34" charset="0"/>
              </a:rPr>
              <a:t>Retrieves approved source-of-truth material. </a:t>
            </a:r>
            <a:br>
              <a:rPr lang="en-US" sz="900" dirty="0">
                <a:latin typeface="Untitled Sans Light" panose="020B0303030202060203" pitchFamily="34" charset="0"/>
              </a:rPr>
            </a:br>
            <a:r>
              <a:rPr lang="en-US" sz="900" b="1" u="sng" dirty="0">
                <a:solidFill>
                  <a:schemeClr val="accent6">
                    <a:lumMod val="50000"/>
                  </a:schemeClr>
                </a:solidFill>
                <a:latin typeface="Untitled Sans" panose="020B0503030202060203" pitchFamily="34" charset="0"/>
              </a:rPr>
              <a:t>PROPOSALS: </a:t>
            </a:r>
            <a:r>
              <a:rPr lang="en-US" sz="900" dirty="0">
                <a:latin typeface="Untitled Sans Light" panose="020B0303030202060203" pitchFamily="34" charset="0"/>
              </a:rPr>
              <a:t>Confirms relevance and placement.</a:t>
            </a:r>
            <a:endParaRPr sz="900" dirty="0">
              <a:latin typeface="Untitled Sans Light" panose="020B0303030202060203" pitchFamily="34" charset="0"/>
              <a:ea typeface="Helvetica Neue"/>
              <a:cs typeface="Helvetica Neue"/>
            </a:endParaRPr>
          </a:p>
        </p:txBody>
      </p:sp>
      <p:sp>
        <p:nvSpPr>
          <p:cNvPr id="10" name="path-reusable">
            <a:extLst>
              <a:ext uri="{FF2B5EF4-FFF2-40B4-BE49-F238E27FC236}">
                <a16:creationId xmlns:a16="http://schemas.microsoft.com/office/drawing/2014/main" id="{2C6C8943-D2C2-ADDB-8FF3-2868F057B045}"/>
              </a:ext>
            </a:extLst>
          </p:cNvPr>
          <p:cNvSpPr>
            <a:spLocks noGrp="1"/>
          </p:cNvSpPr>
          <p:nvPr/>
        </p:nvSpPr>
        <p:spPr>
          <a:xfrm>
            <a:off x="6299200" y="3763253"/>
            <a:ext cx="2762250" cy="685800"/>
          </a:xfrm>
          <a:prstGeom prst="rect">
            <a:avLst/>
          </a:prstGeom>
          <a:solidFill>
            <a:schemeClr val="accent6">
              <a:alpha val="54000"/>
            </a:schemeClr>
          </a:solidFill>
          <a:ln w="13335">
            <a:solidFill>
              <a:srgbClr val="B8BCC4"/>
            </a:solidFill>
            <a:prstDash val="solid"/>
          </a:ln>
        </p:spPr>
        <p:txBody>
          <a:bodyPr lIns="114300" tIns="104775" rIns="114300" bIns="95250" anchor="ctr">
            <a:noAutofit/>
          </a:bodyPr>
          <a:lstStyle/>
          <a:p>
            <a:pPr>
              <a:spcAft>
                <a:spcPts val="5"/>
              </a:spcAft>
            </a:pPr>
            <a:r>
              <a:rPr sz="900" b="1" dirty="0">
                <a:solidFill>
                  <a:srgbClr val="000000"/>
                </a:solidFill>
                <a:latin typeface="Untitled Sans" panose="020B0503030202060203" pitchFamily="34" charset="0"/>
                <a:ea typeface="Helvetica Neue"/>
                <a:cs typeface="Helvetica Neue"/>
              </a:rPr>
              <a:t>Reusable high-quality content</a:t>
            </a:r>
          </a:p>
          <a:p>
            <a:pPr>
              <a:spcAft>
                <a:spcPts val="5"/>
              </a:spcAft>
            </a:pPr>
            <a:r>
              <a:rPr lang="en-US" sz="900" b="1" u="sng" dirty="0">
                <a:solidFill>
                  <a:schemeClr val="accent6">
                    <a:lumMod val="50000"/>
                  </a:schemeClr>
                </a:solidFill>
                <a:latin typeface="Untitled Sans" panose="020B0503030202060203" pitchFamily="34" charset="0"/>
              </a:rPr>
              <a:t>TOOL: </a:t>
            </a:r>
            <a:r>
              <a:rPr lang="en-US" sz="900" dirty="0">
                <a:latin typeface="Untitled Sans Light" panose="020B0303030202060203" pitchFamily="34" charset="0"/>
              </a:rPr>
              <a:t>surfaces relevant options. </a:t>
            </a:r>
          </a:p>
          <a:p>
            <a:pPr>
              <a:spcAft>
                <a:spcPts val="5"/>
              </a:spcAft>
            </a:pPr>
            <a:r>
              <a:rPr lang="en-US" sz="900" b="1" u="sng" dirty="0">
                <a:solidFill>
                  <a:schemeClr val="accent6">
                    <a:lumMod val="50000"/>
                  </a:schemeClr>
                </a:solidFill>
                <a:latin typeface="Untitled Sans" panose="020B0503030202060203" pitchFamily="34" charset="0"/>
              </a:rPr>
              <a:t>PROPOSALS : </a:t>
            </a:r>
            <a:r>
              <a:rPr lang="en-US" sz="900" b="1" dirty="0">
                <a:solidFill>
                  <a:schemeClr val="accent6">
                    <a:lumMod val="50000"/>
                  </a:schemeClr>
                </a:solidFill>
                <a:latin typeface="Untitled Sans" panose="020B0503030202060203" pitchFamily="34" charset="0"/>
              </a:rPr>
              <a:t> </a:t>
            </a:r>
            <a:r>
              <a:rPr lang="en-US" sz="900" dirty="0">
                <a:latin typeface="Untitled Sans Light" panose="020B0303030202060203" pitchFamily="34" charset="0"/>
              </a:rPr>
              <a:t>evaluates, selects, adapts, and contextualizes.</a:t>
            </a:r>
            <a:endParaRPr sz="900" dirty="0">
              <a:solidFill>
                <a:srgbClr val="000000"/>
              </a:solidFill>
              <a:latin typeface="Untitled Sans Light" panose="020B0303030202060203" pitchFamily="34" charset="0"/>
              <a:ea typeface="Helvetica Neue"/>
              <a:cs typeface="Helvetica Neue"/>
            </a:endParaRPr>
          </a:p>
        </p:txBody>
      </p:sp>
      <p:sp>
        <p:nvSpPr>
          <p:cNvPr id="11" name="path-one-off">
            <a:extLst>
              <a:ext uri="{FF2B5EF4-FFF2-40B4-BE49-F238E27FC236}">
                <a16:creationId xmlns:a16="http://schemas.microsoft.com/office/drawing/2014/main" id="{485902BA-7CAD-74A6-F30B-CE3E65F17607}"/>
              </a:ext>
            </a:extLst>
          </p:cNvPr>
          <p:cNvSpPr>
            <a:spLocks noGrp="1"/>
          </p:cNvSpPr>
          <p:nvPr/>
        </p:nvSpPr>
        <p:spPr>
          <a:xfrm>
            <a:off x="6299200" y="4502392"/>
            <a:ext cx="2762250" cy="923047"/>
          </a:xfrm>
          <a:prstGeom prst="rect">
            <a:avLst/>
          </a:prstGeom>
          <a:solidFill>
            <a:schemeClr val="accent6">
              <a:alpha val="54000"/>
            </a:schemeClr>
          </a:solidFill>
          <a:ln w="13335">
            <a:solidFill>
              <a:srgbClr val="B8BCC4"/>
            </a:solidFill>
            <a:prstDash val="solid"/>
          </a:ln>
        </p:spPr>
        <p:txBody>
          <a:bodyPr lIns="114300" tIns="104775" rIns="114300" bIns="95250" anchor="ctr">
            <a:noAutofit/>
          </a:bodyPr>
          <a:lstStyle/>
          <a:p>
            <a:pPr>
              <a:spcAft>
                <a:spcPts val="5"/>
              </a:spcAft>
            </a:pPr>
            <a:br>
              <a:rPr lang="en-US" sz="900" b="1" dirty="0">
                <a:solidFill>
                  <a:srgbClr val="000000"/>
                </a:solidFill>
                <a:latin typeface="Untitled Sans" panose="020B0503030202060203" pitchFamily="34" charset="0"/>
                <a:ea typeface="Helvetica Neue"/>
                <a:cs typeface="Helvetica Neue"/>
              </a:rPr>
            </a:br>
            <a:r>
              <a:rPr sz="900" b="1" dirty="0">
                <a:solidFill>
                  <a:srgbClr val="000000"/>
                </a:solidFill>
                <a:latin typeface="Untitled Sans" panose="020B0503030202060203" pitchFamily="34" charset="0"/>
                <a:ea typeface="Helvetica Neue"/>
                <a:cs typeface="Helvetica Neue"/>
              </a:rPr>
              <a:t>One-off proposal content</a:t>
            </a:r>
          </a:p>
          <a:p>
            <a:pPr>
              <a:spcAft>
                <a:spcPts val="5"/>
              </a:spcAft>
            </a:pPr>
            <a:r>
              <a:rPr lang="en-US" sz="900" b="1" u="sng" dirty="0">
                <a:solidFill>
                  <a:schemeClr val="accent6">
                    <a:lumMod val="50000"/>
                  </a:schemeClr>
                </a:solidFill>
                <a:latin typeface="Untitled Sans" panose="020B0503030202060203" pitchFamily="34" charset="0"/>
              </a:rPr>
              <a:t>TOOL: </a:t>
            </a:r>
            <a:r>
              <a:rPr lang="en-US" sz="900" dirty="0">
                <a:latin typeface="Untitled Sans Light" panose="020B0303030202060203" pitchFamily="34" charset="0"/>
              </a:rPr>
              <a:t>May support discovery, outlining, or assembly.</a:t>
            </a:r>
          </a:p>
          <a:p>
            <a:pPr>
              <a:spcAft>
                <a:spcPts val="5"/>
              </a:spcAft>
            </a:pPr>
            <a:r>
              <a:rPr lang="en-US" sz="900" b="1" dirty="0">
                <a:solidFill>
                  <a:schemeClr val="accent4">
                    <a:lumMod val="75000"/>
                  </a:schemeClr>
                </a:solidFill>
                <a:latin typeface="Untitled Sans" panose="020B0503030202060203" pitchFamily="34" charset="0"/>
              </a:rPr>
              <a:t> </a:t>
            </a:r>
            <a:r>
              <a:rPr lang="en-US" sz="900" b="1" u="sng" dirty="0">
                <a:solidFill>
                  <a:schemeClr val="accent6">
                    <a:lumMod val="50000"/>
                  </a:schemeClr>
                </a:solidFill>
                <a:latin typeface="Untitled Sans" panose="020B0503030202060203" pitchFamily="34" charset="0"/>
              </a:rPr>
              <a:t>PROPOSALS:  </a:t>
            </a:r>
            <a:r>
              <a:rPr lang="en-US" sz="900" dirty="0">
                <a:latin typeface="Untitled Sans Light" panose="020B0303030202060203" pitchFamily="34" charset="0"/>
              </a:rPr>
              <a:t>Translates the strategy into original client-specific content and visual storytelling.</a:t>
            </a:r>
            <a:br>
              <a:rPr lang="en-US" sz="900" dirty="0">
                <a:latin typeface="Untitled Sans Light" panose="020B0303030202060203" pitchFamily="34" charset="0"/>
              </a:rPr>
            </a:br>
            <a:endParaRPr sz="900" dirty="0">
              <a:solidFill>
                <a:srgbClr val="000000"/>
              </a:solidFill>
              <a:latin typeface="Untitled Sans Light" panose="020B0303030202060203" pitchFamily="34" charset="0"/>
              <a:ea typeface="Helvetica Neue"/>
              <a:cs typeface="Helvetica Neue"/>
            </a:endParaRPr>
          </a:p>
        </p:txBody>
      </p:sp>
      <p:sp>
        <p:nvSpPr>
          <p:cNvPr id="12" name="step-6-build">
            <a:extLst>
              <a:ext uri="{FF2B5EF4-FFF2-40B4-BE49-F238E27FC236}">
                <a16:creationId xmlns:a16="http://schemas.microsoft.com/office/drawing/2014/main" id="{4750ECAE-1BEE-758C-4FBD-EFC32CBB59A1}"/>
              </a:ext>
            </a:extLst>
          </p:cNvPr>
          <p:cNvSpPr>
            <a:spLocks noGrp="1"/>
          </p:cNvSpPr>
          <p:nvPr/>
        </p:nvSpPr>
        <p:spPr>
          <a:xfrm>
            <a:off x="3536950" y="3372928"/>
            <a:ext cx="2305050" cy="1457125"/>
          </a:xfrm>
          <a:prstGeom prst="rect">
            <a:avLst/>
          </a:prstGeom>
          <a:solidFill>
            <a:schemeClr val="accent6">
              <a:alpha val="18000"/>
            </a:schemeClr>
          </a:solidFill>
          <a:ln w="28575">
            <a:solidFill>
              <a:schemeClr val="accent6"/>
            </a:solidFill>
            <a:prstDash val="solid"/>
          </a:ln>
        </p:spPr>
        <p:txBody>
          <a:bodyPr lIns="114300" tIns="104775" rIns="114300" bIns="95250" anchor="ctr">
            <a:normAutofit fontScale="95934"/>
          </a:bodyPr>
          <a:lstStyle/>
          <a:p>
            <a:pPr>
              <a:spcAft>
                <a:spcPts val="5"/>
              </a:spcAft>
            </a:pPr>
            <a:r>
              <a:rPr lang="en-US" sz="9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7</a:t>
            </a:r>
            <a:r>
              <a:rPr sz="9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 · BUILD</a:t>
            </a:r>
          </a:p>
          <a:p>
            <a:pPr>
              <a:spcAft>
                <a:spcPts val="5"/>
              </a:spcAft>
            </a:pPr>
            <a:r>
              <a:rPr lang="en-US" sz="900" b="1" u="sng" dirty="0">
                <a:solidFill>
                  <a:schemeClr val="accent6">
                    <a:lumMod val="50000"/>
                  </a:schemeClr>
                </a:solidFill>
                <a:latin typeface="Untitled Sans" panose="020B0503030202060203" pitchFamily="34" charset="0"/>
              </a:rPr>
              <a:t>TOOL:</a:t>
            </a:r>
            <a:r>
              <a:rPr lang="en-US" sz="900" u="sng" dirty="0">
                <a:solidFill>
                  <a:schemeClr val="accent6">
                    <a:lumMod val="50000"/>
                  </a:schemeClr>
                </a:solidFill>
                <a:latin typeface="Untitled Sans" panose="020B0503030202060203" pitchFamily="34" charset="0"/>
              </a:rPr>
              <a:t> </a:t>
            </a:r>
            <a:r>
              <a:rPr lang="en-US" sz="900" dirty="0">
                <a:latin typeface="Untitled Sans Light" panose="020B0303030202060203" pitchFamily="34" charset="0"/>
              </a:rPr>
              <a:t>Supports content assembly, page planning, gap identification, and consistency checks.</a:t>
            </a:r>
            <a:br>
              <a:rPr lang="en-US" sz="900" dirty="0">
                <a:latin typeface="Untitled Sans" panose="020B0503030202060203" pitchFamily="34" charset="0"/>
              </a:rPr>
            </a:br>
            <a:r>
              <a:rPr lang="en-US" sz="900" b="1" u="sng" dirty="0">
                <a:solidFill>
                  <a:schemeClr val="accent6">
                    <a:lumMod val="50000"/>
                  </a:schemeClr>
                </a:solidFill>
                <a:latin typeface="Untitled Sans" panose="020B0503030202060203" pitchFamily="34" charset="0"/>
              </a:rPr>
              <a:t>PROPOSALS:</a:t>
            </a:r>
            <a:r>
              <a:rPr lang="en-US" sz="900" u="sng" dirty="0">
                <a:solidFill>
                  <a:schemeClr val="accent6">
                    <a:lumMod val="50000"/>
                  </a:schemeClr>
                </a:solidFill>
                <a:latin typeface="Untitled Sans" panose="020B0503030202060203" pitchFamily="34" charset="0"/>
              </a:rPr>
              <a:t> </a:t>
            </a:r>
            <a:r>
              <a:rPr lang="en-US" sz="900" dirty="0">
                <a:latin typeface="Untitled Sans Light" panose="020B0303030202060203" pitchFamily="34" charset="0"/>
              </a:rPr>
              <a:t>Coordinates contributors and develops one cohesive, visually compelling client story.</a:t>
            </a:r>
            <a:endParaRPr sz="900" dirty="0">
              <a:solidFill>
                <a:srgbClr val="000000"/>
              </a:solidFill>
              <a:highlight>
                <a:srgbClr val="FFFF00"/>
              </a:highlight>
              <a:latin typeface="Untitled Sans Light" panose="020B0303030202060203" pitchFamily="34" charset="0"/>
              <a:ea typeface="Helvetica Neue"/>
              <a:cs typeface="Helvetica Neue"/>
            </a:endParaRPr>
          </a:p>
        </p:txBody>
      </p:sp>
      <p:sp>
        <p:nvSpPr>
          <p:cNvPr id="13" name="step-7-review-submit">
            <a:extLst>
              <a:ext uri="{FF2B5EF4-FFF2-40B4-BE49-F238E27FC236}">
                <a16:creationId xmlns:a16="http://schemas.microsoft.com/office/drawing/2014/main" id="{C859CAB5-2057-37FC-0CFF-848E94EA50AE}"/>
              </a:ext>
            </a:extLst>
          </p:cNvPr>
          <p:cNvSpPr>
            <a:spLocks noGrp="1"/>
          </p:cNvSpPr>
          <p:nvPr/>
        </p:nvSpPr>
        <p:spPr>
          <a:xfrm>
            <a:off x="3536950" y="5249153"/>
            <a:ext cx="2305050" cy="1246538"/>
          </a:xfrm>
          <a:prstGeom prst="rect">
            <a:avLst/>
          </a:prstGeom>
          <a:solidFill>
            <a:schemeClr val="accent6">
              <a:alpha val="18000"/>
            </a:schemeClr>
          </a:solidFill>
          <a:ln w="28575">
            <a:solidFill>
              <a:schemeClr val="accent6"/>
            </a:solidFill>
            <a:prstDash val="solid"/>
          </a:ln>
        </p:spPr>
        <p:txBody>
          <a:bodyPr lIns="114300" tIns="104775" rIns="114300" bIns="95250" anchor="ctr">
            <a:normAutofit fontScale="94834"/>
          </a:bodyPr>
          <a:lstStyle/>
          <a:p>
            <a:pPr algn="l">
              <a:spcAft>
                <a:spcPts val="5"/>
              </a:spcAft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9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8</a:t>
            </a:r>
            <a:r>
              <a:rPr sz="9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 · DELIVER</a:t>
            </a:r>
          </a:p>
          <a:p>
            <a:pPr>
              <a:spcAft>
                <a:spcPts val="4"/>
              </a:spcAft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US" sz="900" b="1" u="sng" dirty="0">
                <a:solidFill>
                  <a:schemeClr val="accent6">
                    <a:lumMod val="50000"/>
                  </a:schemeClr>
                </a:solidFill>
                <a:latin typeface="Untitled Sans" panose="020B0503030202060203" pitchFamily="34" charset="0"/>
              </a:rPr>
              <a:t>TOOL:</a:t>
            </a:r>
            <a:r>
              <a:rPr lang="en-US" sz="900" u="sng" dirty="0">
                <a:solidFill>
                  <a:schemeClr val="accent6">
                    <a:lumMod val="50000"/>
                  </a:schemeClr>
                </a:solidFill>
                <a:latin typeface="Untitled Sans" panose="020B0503030202060203" pitchFamily="34" charset="0"/>
              </a:rPr>
              <a:t> </a:t>
            </a:r>
            <a:r>
              <a:rPr lang="en-US" sz="900" dirty="0">
                <a:latin typeface="Untitled Sans Light" panose="020B0303030202060203" pitchFamily="34" charset="0"/>
              </a:rPr>
              <a:t>Checks compliance, completeness, repetition, terminology, and potential inconsistencies</a:t>
            </a:r>
            <a:r>
              <a:rPr lang="en-US" sz="900" dirty="0"/>
              <a:t>.</a:t>
            </a:r>
            <a:br>
              <a:rPr lang="en-US" sz="900" dirty="0"/>
            </a:br>
            <a:r>
              <a:rPr lang="en-US" sz="900" b="1" u="sng" dirty="0">
                <a:solidFill>
                  <a:schemeClr val="accent6">
                    <a:lumMod val="50000"/>
                  </a:schemeClr>
                </a:solidFill>
                <a:latin typeface="Untitled Sans" panose="020B0503030202060203" pitchFamily="34" charset="0"/>
              </a:rPr>
              <a:t>PROPOSALS: </a:t>
            </a:r>
            <a:r>
              <a:rPr lang="en-US" sz="900" dirty="0">
                <a:latin typeface="Untitled Sans Light" panose="020B0303030202060203" pitchFamily="34" charset="0"/>
              </a:rPr>
              <a:t>Reviews, refines, validates, approves, and submits the final response.</a:t>
            </a:r>
            <a:endParaRPr sz="900" dirty="0">
              <a:solidFill>
                <a:srgbClr val="000000"/>
              </a:solidFill>
              <a:latin typeface="Untitled Sans Light" panose="020B0303030202060203" pitchFamily="34" charset="0"/>
              <a:ea typeface="Helvetica Neue"/>
              <a:cs typeface="Helvetica Neue"/>
            </a:endParaRPr>
          </a:p>
        </p:txBody>
      </p:sp>
      <p:sp>
        <p:nvSpPr>
          <p:cNvPr id="14" name="step-8-curate">
            <a:extLst>
              <a:ext uri="{FF2B5EF4-FFF2-40B4-BE49-F238E27FC236}">
                <a16:creationId xmlns:a16="http://schemas.microsoft.com/office/drawing/2014/main" id="{F5A4B0D1-6193-C1D3-E1A6-7F2BA65F449D}"/>
              </a:ext>
            </a:extLst>
          </p:cNvPr>
          <p:cNvSpPr>
            <a:spLocks noGrp="1"/>
          </p:cNvSpPr>
          <p:nvPr/>
        </p:nvSpPr>
        <p:spPr>
          <a:xfrm>
            <a:off x="869950" y="5249153"/>
            <a:ext cx="2209800" cy="1255164"/>
          </a:xfrm>
          <a:prstGeom prst="rect">
            <a:avLst/>
          </a:prstGeom>
          <a:solidFill>
            <a:schemeClr val="accent6">
              <a:alpha val="18000"/>
            </a:schemeClr>
          </a:solidFill>
          <a:ln w="28575">
            <a:solidFill>
              <a:schemeClr val="accent6"/>
            </a:solidFill>
            <a:prstDash val="solid"/>
          </a:ln>
        </p:spPr>
        <p:txBody>
          <a:bodyPr lIns="114300" tIns="104775" rIns="114300" bIns="95250" anchor="ctr">
            <a:normAutofit fontScale="94834" lnSpcReduction="10000"/>
          </a:bodyPr>
          <a:lstStyle/>
          <a:p>
            <a:pPr>
              <a:spcAft>
                <a:spcPts val="5"/>
              </a:spcAft>
            </a:pPr>
            <a:r>
              <a:rPr lang="en-US" sz="10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9</a:t>
            </a:r>
            <a:r>
              <a:rPr sz="10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 · </a:t>
            </a:r>
            <a:r>
              <a:rPr lang="en-CA" sz="10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ARCHIVE</a:t>
            </a:r>
            <a:endParaRPr sz="1000" b="1" dirty="0">
              <a:solidFill>
                <a:srgbClr val="000000"/>
              </a:solidFill>
              <a:latin typeface="Untitled Sans" panose="020B0503030202060203" pitchFamily="34" charset="77"/>
              <a:ea typeface="Helvetica Neue"/>
              <a:cs typeface="Helvetica Neue"/>
            </a:endParaRPr>
          </a:p>
          <a:p>
            <a:pPr>
              <a:spcAft>
                <a:spcPts val="5"/>
              </a:spcAft>
            </a:pPr>
            <a:r>
              <a:rPr lang="en-US" sz="1000" b="1" u="sng" dirty="0">
                <a:solidFill>
                  <a:schemeClr val="accent6">
                    <a:lumMod val="50000"/>
                  </a:schemeClr>
                </a:solidFill>
                <a:latin typeface="Untitled Sans" panose="020B0503030202060203" pitchFamily="34" charset="0"/>
              </a:rPr>
              <a:t>TOOL:</a:t>
            </a:r>
            <a:r>
              <a:rPr lang="en-US" sz="1000" u="sng" dirty="0">
                <a:solidFill>
                  <a:schemeClr val="accent6">
                    <a:lumMod val="50000"/>
                  </a:schemeClr>
                </a:solidFill>
                <a:latin typeface="Untitled Sans" panose="020B0503030202060203" pitchFamily="34" charset="0"/>
              </a:rPr>
              <a:t> </a:t>
            </a:r>
            <a:r>
              <a:rPr lang="en-US" sz="1000" dirty="0">
                <a:latin typeface="Untitled Sans Light" panose="020B0303030202060203" pitchFamily="34" charset="0"/>
              </a:rPr>
              <a:t>Recommends tags, identifies reusable content, and flags outdated or missing material.</a:t>
            </a:r>
            <a:br>
              <a:rPr lang="en-US" sz="1000" dirty="0">
                <a:latin typeface="Untitled Sans Light" panose="020B0303030202060203" pitchFamily="34" charset="0"/>
              </a:rPr>
            </a:br>
            <a:r>
              <a:rPr lang="en-US" sz="1000" b="1" u="sng" dirty="0">
                <a:solidFill>
                  <a:schemeClr val="accent6">
                    <a:lumMod val="50000"/>
                  </a:schemeClr>
                </a:solidFill>
                <a:latin typeface="Untitled Sans" panose="020B0503030202060203" pitchFamily="34" charset="0"/>
              </a:rPr>
              <a:t>PROPOSALS:</a:t>
            </a:r>
            <a:r>
              <a:rPr lang="en-US" sz="1000" u="sng" dirty="0">
                <a:solidFill>
                  <a:schemeClr val="accent6">
                    <a:lumMod val="50000"/>
                  </a:schemeClr>
                </a:solidFill>
                <a:latin typeface="Untitled Sans" panose="020B0503030202060203" pitchFamily="34" charset="0"/>
              </a:rPr>
              <a:t> </a:t>
            </a:r>
            <a:r>
              <a:rPr lang="en-US" sz="1000" dirty="0">
                <a:latin typeface="Untitled Sans Light" panose="020B0303030202060203" pitchFamily="34" charset="0"/>
              </a:rPr>
              <a:t>Approves what is retained, records lessons learned, and maintains the quality of the library.</a:t>
            </a:r>
            <a:endParaRPr sz="1000" dirty="0">
              <a:solidFill>
                <a:srgbClr val="000000"/>
              </a:solidFill>
              <a:latin typeface="Untitled Sans Light" panose="020B0303030202060203" pitchFamily="34" charset="0"/>
              <a:ea typeface="Helvetica Neue"/>
              <a:cs typeface="Helvetica Neue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7C8090D-0AFD-CB10-8D25-3B514E3BF782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2241550" y="1738354"/>
            <a:ext cx="545459" cy="0"/>
          </a:xfrm>
          <a:prstGeom prst="straightConnector1">
            <a:avLst/>
          </a:prstGeom>
          <a:ln w="19050">
            <a:solidFill>
              <a:schemeClr val="accent6"/>
            </a:solidFill>
            <a:prstDash val="solid"/>
            <a:tailEnd type="arrow" w="sm" len="sm"/>
          </a:ln>
        </p:spPr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544B53D-BC60-A65D-4CCA-4B0CE33E3E64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4679426" y="1738354"/>
            <a:ext cx="469223" cy="0"/>
          </a:xfrm>
          <a:prstGeom prst="straightConnector1">
            <a:avLst/>
          </a:prstGeom>
          <a:ln w="19050">
            <a:solidFill>
              <a:schemeClr val="accent6"/>
            </a:solidFill>
            <a:prstDash val="solid"/>
            <a:tailEnd type="arrow" w="sm" len="sm"/>
          </a:ln>
        </p:spPr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4E9692B8-D91B-AC2A-9E72-D52982C07004}"/>
              </a:ext>
            </a:extLst>
          </p:cNvPr>
          <p:cNvCxnSpPr>
            <a:cxnSpLocks/>
            <a:stCxn id="7" idx="1"/>
            <a:endCxn id="9" idx="3"/>
          </p:cNvCxnSpPr>
          <p:nvPr/>
        </p:nvCxnSpPr>
        <p:spPr>
          <a:xfrm rot="10800000">
            <a:off x="9061450" y="3336255"/>
            <a:ext cx="476250" cy="308754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/>
            </a:solidFill>
            <a:prstDash val="solid"/>
            <a:tailEnd type="arrow" w="sm" len="sm"/>
          </a:ln>
        </p:spPr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B6655BC3-7B79-9FAF-E1A8-FE103BF5244B}"/>
              </a:ext>
            </a:extLst>
          </p:cNvPr>
          <p:cNvCxnSpPr>
            <a:cxnSpLocks/>
            <a:stCxn id="7" idx="1"/>
            <a:endCxn id="10" idx="3"/>
          </p:cNvCxnSpPr>
          <p:nvPr/>
        </p:nvCxnSpPr>
        <p:spPr>
          <a:xfrm rot="10800000" flipV="1">
            <a:off x="9061450" y="3645009"/>
            <a:ext cx="476250" cy="461144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/>
            </a:solidFill>
            <a:prstDash val="solid"/>
            <a:tailEnd type="arrow" w="sm" len="sm"/>
          </a:ln>
        </p:spPr>
      </p:cxn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C3DD6699-3359-7EB4-E081-E2B1DAE3BDF5}"/>
              </a:ext>
            </a:extLst>
          </p:cNvPr>
          <p:cNvCxnSpPr>
            <a:cxnSpLocks/>
            <a:stCxn id="7" idx="1"/>
            <a:endCxn id="11" idx="3"/>
          </p:cNvCxnSpPr>
          <p:nvPr/>
        </p:nvCxnSpPr>
        <p:spPr>
          <a:xfrm rot="10800000" flipV="1">
            <a:off x="9061450" y="3645008"/>
            <a:ext cx="476250" cy="1318907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/>
            </a:solidFill>
            <a:prstDash val="solid"/>
            <a:tailEnd type="arrow" w="sm" len="sm"/>
          </a:ln>
        </p:spPr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D889DD99-C9FE-B728-D57B-463AC0FB276F}"/>
              </a:ext>
            </a:extLst>
          </p:cNvPr>
          <p:cNvCxnSpPr>
            <a:cxnSpLocks/>
            <a:stCxn id="9" idx="1"/>
            <a:endCxn id="12" idx="3"/>
          </p:cNvCxnSpPr>
          <p:nvPr/>
        </p:nvCxnSpPr>
        <p:spPr>
          <a:xfrm rot="10800000" flipV="1">
            <a:off x="5842000" y="3336255"/>
            <a:ext cx="457200" cy="765236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/>
            </a:solidFill>
            <a:prstDash val="solid"/>
            <a:tailEnd type="arrow" w="sm" len="sm"/>
          </a:ln>
        </p:spPr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3A39301C-5ACB-C7D4-F5C3-236399DD4924}"/>
              </a:ext>
            </a:extLst>
          </p:cNvPr>
          <p:cNvCxnSpPr>
            <a:cxnSpLocks/>
            <a:stCxn id="11" idx="1"/>
            <a:endCxn id="12" idx="3"/>
          </p:cNvCxnSpPr>
          <p:nvPr/>
        </p:nvCxnSpPr>
        <p:spPr>
          <a:xfrm rot="10800000">
            <a:off x="5842000" y="4101492"/>
            <a:ext cx="457200" cy="862425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6"/>
            </a:solidFill>
            <a:prstDash val="solid"/>
            <a:tailEnd type="arrow" w="sm" len="sm"/>
          </a:ln>
        </p:spPr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ECC88BB-EDA9-1381-8B67-BA285BC941B8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4689475" y="4830053"/>
            <a:ext cx="0" cy="419100"/>
          </a:xfrm>
          <a:prstGeom prst="straightConnector1">
            <a:avLst/>
          </a:prstGeom>
          <a:ln w="19050">
            <a:solidFill>
              <a:schemeClr val="accent6"/>
            </a:solidFill>
            <a:prstDash val="solid"/>
            <a:tailEnd type="arrow" w="sm" len="sm"/>
          </a:ln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DCDB1CF-272A-3208-F48D-94B1C58E2667}"/>
              </a:ext>
            </a:extLst>
          </p:cNvPr>
          <p:cNvCxnSpPr>
            <a:cxnSpLocks/>
            <a:stCxn id="13" idx="1"/>
            <a:endCxn id="14" idx="3"/>
          </p:cNvCxnSpPr>
          <p:nvPr/>
        </p:nvCxnSpPr>
        <p:spPr>
          <a:xfrm flipH="1">
            <a:off x="3079750" y="5872422"/>
            <a:ext cx="457200" cy="4313"/>
          </a:xfrm>
          <a:prstGeom prst="straightConnector1">
            <a:avLst/>
          </a:prstGeom>
          <a:ln w="19050">
            <a:solidFill>
              <a:schemeClr val="accent6"/>
            </a:solidFill>
            <a:prstDash val="solid"/>
            <a:tailEnd type="arrow" w="sm" len="sm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948F59AC-F966-015A-F7B7-A9DB8C4756F6}"/>
              </a:ext>
            </a:extLst>
          </p:cNvPr>
          <p:cNvSpPr/>
          <p:nvPr/>
        </p:nvSpPr>
        <p:spPr>
          <a:xfrm>
            <a:off x="12308821" y="5212675"/>
            <a:ext cx="1947997" cy="45546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dirty="0">
                <a:solidFill>
                  <a:schemeClr val="tx1"/>
                </a:solidFill>
                <a:latin typeface="Untitled Sans" panose="020B0503030202060203" pitchFamily="34" charset="0"/>
              </a:rPr>
              <a:t>This area needs more team support than tool.</a:t>
            </a:r>
            <a:br>
              <a:rPr lang="en-US" sz="800" dirty="0">
                <a:solidFill>
                  <a:schemeClr val="tx1"/>
                </a:solidFill>
                <a:latin typeface="Untitled Sans" panose="020B0503030202060203" pitchFamily="34" charset="0"/>
              </a:rPr>
            </a:br>
            <a:br>
              <a:rPr lang="en-US" sz="800" dirty="0">
                <a:solidFill>
                  <a:schemeClr val="tx1"/>
                </a:solidFill>
                <a:latin typeface="Untitled Sans" panose="020B0503030202060203" pitchFamily="34" charset="0"/>
              </a:rPr>
            </a:br>
            <a:r>
              <a:rPr lang="en-US" sz="800" dirty="0">
                <a:solidFill>
                  <a:schemeClr val="tx1"/>
                </a:solidFill>
                <a:latin typeface="Untitled Sans" panose="020B0503030202060203" pitchFamily="34" charset="0"/>
              </a:rPr>
              <a:t>IF WE THINK THIS IS IMPORTANT.</a:t>
            </a:r>
            <a:br>
              <a:rPr lang="en-US" sz="800" dirty="0">
                <a:solidFill>
                  <a:schemeClr val="tx1"/>
                </a:solidFill>
                <a:latin typeface="Untitled Sans" panose="020B0503030202060203" pitchFamily="34" charset="0"/>
              </a:rPr>
            </a:br>
            <a:r>
              <a:rPr lang="en-US" sz="800" dirty="0">
                <a:solidFill>
                  <a:schemeClr val="tx1"/>
                </a:solidFill>
                <a:latin typeface="Untitled Sans" panose="020B0503030202060203" pitchFamily="34" charset="0"/>
              </a:rPr>
              <a:t>The tool can potentially support storyline development by surfacing relevant content, precedent, proof points, and potential narrative directions. </a:t>
            </a:r>
            <a:r>
              <a:rPr lang="en-US" sz="800" b="1" u="sng" dirty="0" err="1">
                <a:solidFill>
                  <a:schemeClr val="tx1"/>
                </a:solidFill>
                <a:highlight>
                  <a:srgbClr val="FFFF00"/>
                </a:highlight>
                <a:latin typeface="Untitled Sans" panose="020B0503030202060203" pitchFamily="34" charset="0"/>
              </a:rPr>
              <a:t>Proposalist</a:t>
            </a:r>
            <a:r>
              <a:rPr lang="en-US" sz="800" b="1" u="sng" dirty="0">
                <a:solidFill>
                  <a:schemeClr val="tx1"/>
                </a:solidFill>
                <a:highlight>
                  <a:srgbClr val="FFFF00"/>
                </a:highlight>
                <a:latin typeface="Untitled Sans" panose="020B0503030202060203" pitchFamily="34" charset="0"/>
              </a:rPr>
              <a:t> and pursuit leadership define and refine the final story.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4CA73E-27F5-85CA-BFEF-E0CFA6DD4131}"/>
              </a:ext>
            </a:extLst>
          </p:cNvPr>
          <p:cNvSpPr txBox="1"/>
          <p:nvPr/>
        </p:nvSpPr>
        <p:spPr>
          <a:xfrm>
            <a:off x="13086080" y="9275078"/>
            <a:ext cx="21031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800" b="1" dirty="0">
                <a:latin typeface="Untitled Sans" panose="020B0503030202060203" pitchFamily="34" charset="0"/>
              </a:rPr>
              <a:t>Questions we ask ourselves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800" dirty="0">
                <a:latin typeface="Untitled Sans Light" panose="020B0303030202060203" pitchFamily="34" charset="0"/>
              </a:rPr>
              <a:t>Is it relevant to this client?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800" dirty="0">
                <a:latin typeface="Untitled Sans Light" panose="020B0303030202060203" pitchFamily="34" charset="0"/>
              </a:rPr>
              <a:t>Is it current and accurate?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800" dirty="0">
                <a:latin typeface="Untitled Sans Light" panose="020B0303030202060203" pitchFamily="34" charset="0"/>
              </a:rPr>
              <a:t>Is it approved for use?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800" dirty="0">
                <a:latin typeface="Untitled Sans Light" panose="020B0303030202060203" pitchFamily="34" charset="0"/>
              </a:rPr>
              <a:t>Is there evidence behind the claim?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800" dirty="0">
                <a:latin typeface="Untitled Sans Light" panose="020B0303030202060203" pitchFamily="34" charset="0"/>
              </a:rPr>
              <a:t>Does it need to be rewritten, combined, shortened, or replaced?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800" dirty="0">
                <a:latin typeface="Untitled Sans Light" panose="020B0303030202060203" pitchFamily="34" charset="0"/>
              </a:rPr>
              <a:t>Does it advance the win strategy?</a:t>
            </a:r>
          </a:p>
        </p:txBody>
      </p:sp>
      <p:sp>
        <p:nvSpPr>
          <p:cNvPr id="19" name="step-4-kickoff">
            <a:extLst>
              <a:ext uri="{FF2B5EF4-FFF2-40B4-BE49-F238E27FC236}">
                <a16:creationId xmlns:a16="http://schemas.microsoft.com/office/drawing/2014/main" id="{1A581632-0D31-59F2-5E12-0763FA3CB0AD}"/>
              </a:ext>
            </a:extLst>
          </p:cNvPr>
          <p:cNvSpPr>
            <a:spLocks noGrp="1"/>
          </p:cNvSpPr>
          <p:nvPr/>
        </p:nvSpPr>
        <p:spPr>
          <a:xfrm>
            <a:off x="9940930" y="1053900"/>
            <a:ext cx="1897799" cy="1475116"/>
          </a:xfrm>
          <a:prstGeom prst="rect">
            <a:avLst/>
          </a:prstGeom>
          <a:solidFill>
            <a:schemeClr val="accent6">
              <a:alpha val="18000"/>
            </a:schemeClr>
          </a:solidFill>
          <a:ln w="28575">
            <a:solidFill>
              <a:schemeClr val="accent6"/>
            </a:solidFill>
            <a:prstDash val="solid"/>
          </a:ln>
        </p:spPr>
        <p:txBody>
          <a:bodyPr lIns="114300" tIns="104775" rIns="114300" bIns="95250" anchor="ctr">
            <a:normAutofit fontScale="95934" lnSpcReduction="10000"/>
          </a:bodyPr>
          <a:lstStyle/>
          <a:p>
            <a:pPr>
              <a:spcAft>
                <a:spcPts val="5"/>
              </a:spcAft>
            </a:pPr>
            <a:r>
              <a:rPr lang="en-US" sz="900" b="1" dirty="0">
                <a:solidFill>
                  <a:srgbClr val="000000"/>
                </a:solidFill>
                <a:latin typeface="Untitled Sans" panose="020B0503030202060203" pitchFamily="34" charset="0"/>
                <a:ea typeface="Helvetica Neue"/>
                <a:cs typeface="Helvetica Neue"/>
              </a:rPr>
              <a:t>5</a:t>
            </a:r>
            <a:r>
              <a:rPr sz="900" b="1" dirty="0">
                <a:solidFill>
                  <a:srgbClr val="000000"/>
                </a:solidFill>
                <a:latin typeface="Untitled Sans" panose="020B0503030202060203" pitchFamily="34" charset="0"/>
                <a:ea typeface="Helvetica Neue"/>
                <a:cs typeface="Helvetica Neue"/>
              </a:rPr>
              <a:t> · </a:t>
            </a:r>
            <a:r>
              <a:rPr lang="en-US" sz="900" b="1" dirty="0">
                <a:solidFill>
                  <a:srgbClr val="000000"/>
                </a:solidFill>
                <a:latin typeface="Untitled Sans" panose="020B0503030202060203" pitchFamily="34" charset="0"/>
                <a:ea typeface="Helvetica Neue"/>
                <a:cs typeface="Helvetica Neue"/>
              </a:rPr>
              <a:t>FRAME</a:t>
            </a:r>
            <a:endParaRPr sz="900" b="1" dirty="0">
              <a:solidFill>
                <a:srgbClr val="000000"/>
              </a:solidFill>
              <a:latin typeface="Untitled Sans" panose="020B0503030202060203" pitchFamily="34" charset="0"/>
              <a:ea typeface="Helvetica Neue"/>
              <a:cs typeface="Helvetica Neue"/>
            </a:endParaRPr>
          </a:p>
          <a:p>
            <a:pPr>
              <a:spcAft>
                <a:spcPts val="5"/>
              </a:spcAft>
            </a:pPr>
            <a:r>
              <a:rPr lang="en-US" sz="900" b="1" u="sng" dirty="0">
                <a:solidFill>
                  <a:schemeClr val="accent6">
                    <a:lumMod val="50000"/>
                  </a:schemeClr>
                </a:solidFill>
                <a:latin typeface="Untitled Sans" panose="020B0503030202060203" pitchFamily="34" charset="0"/>
              </a:rPr>
              <a:t>TOOL:</a:t>
            </a:r>
            <a:r>
              <a:rPr lang="en-US" sz="900" u="sng" dirty="0">
                <a:solidFill>
                  <a:schemeClr val="accent6">
                    <a:lumMod val="50000"/>
                  </a:schemeClr>
                </a:solidFill>
                <a:latin typeface="Untitled Sans" panose="020B0503030202060203" pitchFamily="34" charset="0"/>
              </a:rPr>
              <a:t> </a:t>
            </a:r>
            <a:r>
              <a:rPr lang="en-US" sz="900" dirty="0">
                <a:latin typeface="Untitled Sans Light" panose="020B0303030202060203" pitchFamily="34" charset="0"/>
              </a:rPr>
              <a:t>Surfaces relevant precedents, themes, evidence, and potential narrative directions.</a:t>
            </a:r>
            <a:br>
              <a:rPr lang="en-US" sz="900" dirty="0">
                <a:latin typeface="Untitled Sans Light" panose="020B0303030202060203" pitchFamily="34" charset="0"/>
              </a:rPr>
            </a:br>
            <a:r>
              <a:rPr lang="en-US" sz="900" b="1" u="sng" dirty="0">
                <a:solidFill>
                  <a:schemeClr val="accent6">
                    <a:lumMod val="50000"/>
                  </a:schemeClr>
                </a:solidFill>
                <a:latin typeface="Untitled Sans" panose="020B0503030202060203" pitchFamily="34" charset="0"/>
              </a:rPr>
              <a:t>PROPOSALS:</a:t>
            </a:r>
            <a:r>
              <a:rPr lang="en-US" sz="900" u="sng" dirty="0">
                <a:solidFill>
                  <a:schemeClr val="accent6">
                    <a:lumMod val="50000"/>
                  </a:schemeClr>
                </a:solidFill>
                <a:latin typeface="Untitled Sans" panose="020B0503030202060203" pitchFamily="34" charset="0"/>
              </a:rPr>
              <a:t> </a:t>
            </a:r>
            <a:r>
              <a:rPr lang="en-US" sz="900" dirty="0">
                <a:latin typeface="Untitled Sans Light" panose="020B0303030202060203" pitchFamily="34" charset="0"/>
              </a:rPr>
              <a:t>Defines the win themes, key messages, differentiators, and final storyline with pursuit leadership.</a:t>
            </a:r>
            <a:endParaRPr sz="900" dirty="0">
              <a:solidFill>
                <a:srgbClr val="000000"/>
              </a:solidFill>
              <a:latin typeface="Untitled Sans Light" panose="020B0303030202060203" pitchFamily="34" charset="0"/>
              <a:ea typeface="Helvetica Neue"/>
              <a:cs typeface="Helvetica Neue"/>
            </a:endParaRPr>
          </a:p>
        </p:txBody>
      </p: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7288E87E-F0CC-C058-4AA0-3B8FB7B9CFDD}"/>
              </a:ext>
            </a:extLst>
          </p:cNvPr>
          <p:cNvCxnSpPr>
            <a:cxnSpLocks/>
          </p:cNvCxnSpPr>
          <p:nvPr/>
        </p:nvCxnSpPr>
        <p:spPr>
          <a:xfrm>
            <a:off x="10814050" y="2537172"/>
            <a:ext cx="0" cy="35814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3" name="TextBox 192">
            <a:extLst>
              <a:ext uri="{FF2B5EF4-FFF2-40B4-BE49-F238E27FC236}">
                <a16:creationId xmlns:a16="http://schemas.microsoft.com/office/drawing/2014/main" id="{30778468-8A5C-F197-46DA-934A6AF76F48}"/>
              </a:ext>
            </a:extLst>
          </p:cNvPr>
          <p:cNvSpPr txBox="1"/>
          <p:nvPr/>
        </p:nvSpPr>
        <p:spPr>
          <a:xfrm>
            <a:off x="294310" y="557433"/>
            <a:ext cx="5618810" cy="62008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ts val="3300"/>
              </a:lnSpc>
            </a:pPr>
            <a:r>
              <a:rPr lang="en-CA" sz="4400" b="1" dirty="0">
                <a:latin typeface="Bebas Neue Bold" panose="020B0606020202050201" pitchFamily="34" charset="77"/>
              </a:rPr>
              <a:t>Ai-assisted process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03A6211-3241-9F05-9580-648FD3704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3790" y="-285183"/>
            <a:ext cx="7487695" cy="3658111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4E17409E-5C2A-C887-FF7D-19FE4E494072}"/>
              </a:ext>
            </a:extLst>
          </p:cNvPr>
          <p:cNvSpPr txBox="1"/>
          <p:nvPr/>
        </p:nvSpPr>
        <p:spPr>
          <a:xfrm>
            <a:off x="12508302" y="2124828"/>
            <a:ext cx="2286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800" b="1" dirty="0">
                <a:latin typeface="Untitled Sans" panose="020B0503030202060203" pitchFamily="34" charset="0"/>
              </a:rPr>
              <a:t>The tool can also help at Deliver, not only Build: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800" dirty="0">
                <a:latin typeface="Untitled Sans Light" panose="020B0303030202060203" pitchFamily="34" charset="0"/>
              </a:rPr>
              <a:t>Compare the draft against RFP requirements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800" dirty="0">
                <a:latin typeface="Untitled Sans Light" panose="020B0303030202060203" pitchFamily="34" charset="0"/>
              </a:rPr>
              <a:t>Flag missing sections or attachments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800" dirty="0">
                <a:latin typeface="Untitled Sans Light" panose="020B0303030202060203" pitchFamily="34" charset="0"/>
              </a:rPr>
              <a:t>Identify repetition and inconsistencies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800" dirty="0">
                <a:latin typeface="Untitled Sans Light" panose="020B0303030202060203" pitchFamily="34" charset="0"/>
              </a:rPr>
              <a:t>Check names, titles, project data, and terminology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800" dirty="0">
                <a:latin typeface="Untitled Sans Light" panose="020B0303030202060203" pitchFamily="34" charset="0"/>
              </a:rPr>
              <a:t>Confirm that approved content was used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800" dirty="0">
                <a:latin typeface="Untitled Sans Light" panose="020B0303030202060203" pitchFamily="34" charset="0"/>
              </a:rPr>
              <a:t>Surface potential outdated or unsupported claims </a:t>
            </a:r>
            <a:br>
              <a:rPr lang="en-US" sz="800" dirty="0">
                <a:latin typeface="Untitled Sans Light" panose="020B0303030202060203" pitchFamily="34" charset="0"/>
              </a:rPr>
            </a:br>
            <a:endParaRPr lang="en-US" sz="800" dirty="0">
              <a:latin typeface="Untitled Sans Light" panose="020B0303030202060203" pitchFamily="34" charset="0"/>
            </a:endParaRPr>
          </a:p>
          <a:p>
            <a:pPr>
              <a:buNone/>
            </a:pPr>
            <a:r>
              <a:rPr lang="en-US" sz="800" b="1" u="sng" dirty="0">
                <a:highlight>
                  <a:srgbClr val="FFFF00"/>
                </a:highlight>
                <a:latin typeface="Untitled Sans" panose="020B0503030202060203" pitchFamily="34" charset="0"/>
              </a:rPr>
              <a:t>Final validation and approval should remain with the proposals team.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A64819-702F-5CB7-096A-98BD7508839B}"/>
              </a:ext>
            </a:extLst>
          </p:cNvPr>
          <p:cNvSpPr txBox="1"/>
          <p:nvPr/>
        </p:nvSpPr>
        <p:spPr>
          <a:xfrm>
            <a:off x="4088596" y="484041"/>
            <a:ext cx="57407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latin typeface="Untitled Sans" panose="020B0503030202060203" pitchFamily="34" charset="0"/>
              </a:rPr>
              <a:t>AI accelerates the process. The proposals team determines what is relevant, credible, differentiated, and right for the client.</a:t>
            </a:r>
          </a:p>
        </p:txBody>
      </p: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14C7F20D-4FC2-A201-E1FA-17C193AD5F6C}"/>
              </a:ext>
            </a:extLst>
          </p:cNvPr>
          <p:cNvCxnSpPr>
            <a:cxnSpLocks/>
          </p:cNvCxnSpPr>
          <p:nvPr/>
        </p:nvCxnSpPr>
        <p:spPr>
          <a:xfrm>
            <a:off x="7100573" y="1752732"/>
            <a:ext cx="469223" cy="0"/>
          </a:xfrm>
          <a:prstGeom prst="straightConnector1">
            <a:avLst/>
          </a:prstGeom>
          <a:ln w="19050">
            <a:solidFill>
              <a:schemeClr val="accent6"/>
            </a:solidFill>
            <a:prstDash val="solid"/>
            <a:tailEnd type="arrow" w="sm" len="sm"/>
          </a:ln>
        </p:spPr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A5E91B96-FA27-A308-ED45-9237D3E0856D}"/>
              </a:ext>
            </a:extLst>
          </p:cNvPr>
          <p:cNvCxnSpPr>
            <a:cxnSpLocks/>
          </p:cNvCxnSpPr>
          <p:nvPr/>
        </p:nvCxnSpPr>
        <p:spPr>
          <a:xfrm>
            <a:off x="9461335" y="1767110"/>
            <a:ext cx="469223" cy="0"/>
          </a:xfrm>
          <a:prstGeom prst="straightConnector1">
            <a:avLst/>
          </a:prstGeom>
          <a:ln w="19050">
            <a:solidFill>
              <a:schemeClr val="accent6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1811306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08807DD-04D8-667F-886D-42F208854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tep-1-proposal-drop">
            <a:extLst>
              <a:ext uri="{FF2B5EF4-FFF2-40B4-BE49-F238E27FC236}">
                <a16:creationId xmlns:a16="http://schemas.microsoft.com/office/drawing/2014/main" id="{AFB7547F-345F-27EE-FFB3-1AFD1E4B98E4}"/>
              </a:ext>
            </a:extLst>
          </p:cNvPr>
          <p:cNvSpPr>
            <a:spLocks noGrp="1"/>
          </p:cNvSpPr>
          <p:nvPr/>
        </p:nvSpPr>
        <p:spPr>
          <a:xfrm>
            <a:off x="400050" y="1211036"/>
            <a:ext cx="1638300" cy="1066800"/>
          </a:xfrm>
          <a:prstGeom prst="rect">
            <a:avLst/>
          </a:prstGeom>
          <a:solidFill>
            <a:srgbClr val="FFFFFF"/>
          </a:solidFill>
          <a:ln w="13335">
            <a:solidFill>
              <a:srgbClr val="B8BCC4"/>
            </a:solidFill>
            <a:prstDash val="solid"/>
          </a:ln>
        </p:spPr>
        <p:txBody>
          <a:bodyPr lIns="114300" tIns="104775" rIns="114300" bIns="95250" anchor="ctr">
            <a:normAutofit fontScale="95934" lnSpcReduction="10000"/>
          </a:bodyPr>
          <a:lstStyle/>
          <a:p>
            <a:pPr algn="l">
              <a:spcAft>
                <a:spcPts val="5"/>
              </a:spcAft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1 · RECEIVE</a:t>
            </a:r>
          </a:p>
          <a:p>
            <a:pPr algn="l">
              <a:spcAft>
                <a:spcPts val="4"/>
              </a:spcAft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Proposal drops</a:t>
            </a:r>
          </a:p>
          <a:p>
            <a:pPr algn="l"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The group receives the RFP and deadline</a:t>
            </a:r>
          </a:p>
        </p:txBody>
      </p:sp>
      <p:sp>
        <p:nvSpPr>
          <p:cNvPr id="4" name="step-2-assign">
            <a:extLst>
              <a:ext uri="{FF2B5EF4-FFF2-40B4-BE49-F238E27FC236}">
                <a16:creationId xmlns:a16="http://schemas.microsoft.com/office/drawing/2014/main" id="{D1BB1463-A234-9C45-94AB-8187FB7260D2}"/>
              </a:ext>
            </a:extLst>
          </p:cNvPr>
          <p:cNvSpPr>
            <a:spLocks noGrp="1"/>
          </p:cNvSpPr>
          <p:nvPr/>
        </p:nvSpPr>
        <p:spPr>
          <a:xfrm>
            <a:off x="2209800" y="1211036"/>
            <a:ext cx="1809750" cy="1066800"/>
          </a:xfrm>
          <a:prstGeom prst="rect">
            <a:avLst/>
          </a:prstGeom>
          <a:solidFill>
            <a:srgbClr val="FFFFFF"/>
          </a:solidFill>
          <a:ln w="13335">
            <a:solidFill>
              <a:srgbClr val="B8BCC4"/>
            </a:solidFill>
            <a:prstDash val="solid"/>
          </a:ln>
        </p:spPr>
        <p:txBody>
          <a:bodyPr lIns="114300" tIns="104775" rIns="114300" bIns="95250" anchor="ctr">
            <a:normAutofit fontScale="80047" lnSpcReduction="20000"/>
          </a:bodyPr>
          <a:lstStyle/>
          <a:p>
            <a:pPr algn="l">
              <a:spcAft>
                <a:spcPts val="5"/>
              </a:spcAft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2 · ASSIGN</a:t>
            </a:r>
          </a:p>
          <a:p>
            <a:pPr algn="l">
              <a:spcAft>
                <a:spcPts val="4"/>
              </a:spcAft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Proposal specialist assigned</a:t>
            </a:r>
          </a:p>
          <a:p>
            <a:pPr algn="l"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A team member takes ownership of the response</a:t>
            </a:r>
            <a:r>
              <a:rPr lang="en-CA" sz="1200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 and get involved with rest of team members</a:t>
            </a:r>
            <a:endParaRPr sz="1200" dirty="0">
              <a:solidFill>
                <a:srgbClr val="000000"/>
              </a:solidFill>
              <a:latin typeface="Untitled Sans" panose="020B0503030202060203" pitchFamily="34" charset="77"/>
              <a:ea typeface="Helvetica Neue"/>
              <a:cs typeface="Helvetica Neue"/>
            </a:endParaRPr>
          </a:p>
        </p:txBody>
      </p:sp>
      <p:sp>
        <p:nvSpPr>
          <p:cNvPr id="5" name="step-3-intake">
            <a:extLst>
              <a:ext uri="{FF2B5EF4-FFF2-40B4-BE49-F238E27FC236}">
                <a16:creationId xmlns:a16="http://schemas.microsoft.com/office/drawing/2014/main" id="{FABAB4D1-4E17-FAB6-E405-C312D9DCDCEE}"/>
              </a:ext>
            </a:extLst>
          </p:cNvPr>
          <p:cNvSpPr>
            <a:spLocks noGrp="1"/>
          </p:cNvSpPr>
          <p:nvPr/>
        </p:nvSpPr>
        <p:spPr>
          <a:xfrm>
            <a:off x="4191000" y="1211036"/>
            <a:ext cx="2381250" cy="1066800"/>
          </a:xfrm>
          <a:prstGeom prst="rect">
            <a:avLst/>
          </a:prstGeom>
          <a:solidFill>
            <a:srgbClr val="FFFFFF"/>
          </a:solidFill>
          <a:ln w="13335">
            <a:solidFill>
              <a:srgbClr val="B8BCC4"/>
            </a:solidFill>
            <a:prstDash val="solid"/>
          </a:ln>
        </p:spPr>
        <p:txBody>
          <a:bodyPr lIns="114300" tIns="104775" rIns="114300" bIns="95250" anchor="ctr">
            <a:normAutofit fontScale="95934"/>
          </a:bodyPr>
          <a:lstStyle/>
          <a:p>
            <a:pPr>
              <a:spcAft>
                <a:spcPts val="5"/>
              </a:spcAft>
            </a:pPr>
            <a:r>
              <a:rPr sz="12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3 · PREPARE</a:t>
            </a:r>
          </a:p>
          <a:p>
            <a:pPr>
              <a:spcAft>
                <a:spcPts val="5"/>
              </a:spcAft>
            </a:pPr>
            <a:r>
              <a:rPr lang="en-CA" sz="1000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Proposal Specialist </a:t>
            </a:r>
            <a:r>
              <a:rPr sz="1000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analyzes the RFP</a:t>
            </a:r>
            <a:r>
              <a:rPr lang="en-CA" sz="1000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 </a:t>
            </a:r>
            <a:r>
              <a:rPr sz="1000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Intake brief: size, location, requirements, SMEs</a:t>
            </a:r>
            <a:r>
              <a:rPr lang="en-CA" sz="1000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 </a:t>
            </a:r>
            <a:r>
              <a:rPr sz="1000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deadline</a:t>
            </a:r>
            <a:r>
              <a:rPr lang="en-CA" sz="1000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, </a:t>
            </a:r>
            <a:r>
              <a:rPr lang="en-CA" sz="1000" dirty="0" err="1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etc</a:t>
            </a:r>
            <a:endParaRPr sz="1000" dirty="0">
              <a:solidFill>
                <a:srgbClr val="000000"/>
              </a:solidFill>
              <a:latin typeface="Untitled Sans" panose="020B0503030202060203" pitchFamily="34" charset="77"/>
              <a:ea typeface="Helvetica Neue"/>
              <a:cs typeface="Helvetica Neue"/>
            </a:endParaRPr>
          </a:p>
        </p:txBody>
      </p:sp>
      <p:sp>
        <p:nvSpPr>
          <p:cNvPr id="6" name="step-4-kickoff">
            <a:extLst>
              <a:ext uri="{FF2B5EF4-FFF2-40B4-BE49-F238E27FC236}">
                <a16:creationId xmlns:a16="http://schemas.microsoft.com/office/drawing/2014/main" id="{2BA5CDD7-BF15-F07E-A982-8DD70A6A3CFB}"/>
              </a:ext>
            </a:extLst>
          </p:cNvPr>
          <p:cNvSpPr>
            <a:spLocks noGrp="1"/>
          </p:cNvSpPr>
          <p:nvPr/>
        </p:nvSpPr>
        <p:spPr>
          <a:xfrm>
            <a:off x="6743700" y="1211036"/>
            <a:ext cx="2381250" cy="1066800"/>
          </a:xfrm>
          <a:prstGeom prst="rect">
            <a:avLst/>
          </a:prstGeom>
          <a:solidFill>
            <a:srgbClr val="FFFFFF"/>
          </a:solidFill>
          <a:ln w="13335">
            <a:solidFill>
              <a:srgbClr val="B8BCC4"/>
            </a:solidFill>
            <a:prstDash val="solid"/>
          </a:ln>
        </p:spPr>
        <p:txBody>
          <a:bodyPr lIns="114300" tIns="104775" rIns="114300" bIns="95250" anchor="ctr">
            <a:normAutofit fontScale="95934"/>
          </a:bodyPr>
          <a:lstStyle/>
          <a:p>
            <a:pPr>
              <a:spcAft>
                <a:spcPts val="5"/>
              </a:spcAft>
            </a:pPr>
            <a:r>
              <a:rPr sz="12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4 · ALIGN</a:t>
            </a:r>
          </a:p>
          <a:p>
            <a:pPr>
              <a:spcAft>
                <a:spcPts val="5"/>
              </a:spcAft>
            </a:pPr>
            <a:r>
              <a:rPr sz="1000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Kickoff and strategy</a:t>
            </a:r>
          </a:p>
          <a:p>
            <a:pPr>
              <a:spcAft>
                <a:spcPts val="5"/>
              </a:spcAft>
            </a:pPr>
            <a:r>
              <a:rPr sz="1000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The director confirms the win strategy</a:t>
            </a:r>
            <a:r>
              <a:rPr lang="en-CA" sz="1000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. P</a:t>
            </a:r>
            <a:r>
              <a:rPr sz="1000" dirty="0" err="1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riorities</a:t>
            </a:r>
            <a:r>
              <a:rPr sz="1000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 and roles</a:t>
            </a:r>
            <a:r>
              <a:rPr lang="en-CA" sz="1000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 are assigned</a:t>
            </a:r>
            <a:endParaRPr sz="1000" dirty="0">
              <a:solidFill>
                <a:srgbClr val="000000"/>
              </a:solidFill>
              <a:latin typeface="Untitled Sans" panose="020B0503030202060203" pitchFamily="34" charset="77"/>
              <a:ea typeface="Helvetica Neue"/>
              <a:cs typeface="Helvetica Neue"/>
            </a:endParaRPr>
          </a:p>
        </p:txBody>
      </p:sp>
      <p:sp>
        <p:nvSpPr>
          <p:cNvPr id="7" name="step-5-storyline">
            <a:extLst>
              <a:ext uri="{FF2B5EF4-FFF2-40B4-BE49-F238E27FC236}">
                <a16:creationId xmlns:a16="http://schemas.microsoft.com/office/drawing/2014/main" id="{06840EC5-8470-292C-C78F-CEF86BB5419F}"/>
              </a:ext>
            </a:extLst>
          </p:cNvPr>
          <p:cNvSpPr>
            <a:spLocks noGrp="1"/>
          </p:cNvSpPr>
          <p:nvPr/>
        </p:nvSpPr>
        <p:spPr>
          <a:xfrm>
            <a:off x="9334500" y="2658836"/>
            <a:ext cx="2381250" cy="1066800"/>
          </a:xfrm>
          <a:prstGeom prst="rect">
            <a:avLst/>
          </a:prstGeom>
          <a:solidFill>
            <a:srgbClr val="FFFFFF"/>
          </a:solidFill>
          <a:ln w="13335">
            <a:solidFill>
              <a:srgbClr val="B8BCC4"/>
            </a:solidFill>
            <a:prstDash val="solid"/>
          </a:ln>
        </p:spPr>
        <p:txBody>
          <a:bodyPr lIns="114300" tIns="104775" rIns="114300" bIns="95250" anchor="ctr">
            <a:normAutofit fontScale="95934"/>
          </a:bodyPr>
          <a:lstStyle/>
          <a:p>
            <a:pPr>
              <a:spcAft>
                <a:spcPts val="5"/>
              </a:spcAft>
            </a:pPr>
            <a:r>
              <a:rPr sz="12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5 · TRANSLATE</a:t>
            </a:r>
          </a:p>
          <a:p>
            <a:pPr>
              <a:spcAft>
                <a:spcPts val="5"/>
              </a:spcAft>
            </a:pPr>
            <a:r>
              <a:rPr lang="en-CA" sz="1000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our team</a:t>
            </a:r>
            <a:r>
              <a:rPr sz="1000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 builds the storyline</a:t>
            </a:r>
            <a:r>
              <a:rPr lang="en-CA" sz="1000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.</a:t>
            </a:r>
            <a:endParaRPr sz="1000" dirty="0">
              <a:solidFill>
                <a:srgbClr val="000000"/>
              </a:solidFill>
              <a:latin typeface="Untitled Sans" panose="020B0503030202060203" pitchFamily="34" charset="77"/>
              <a:ea typeface="Helvetica Neue"/>
              <a:cs typeface="Helvetica Neue"/>
            </a:endParaRPr>
          </a:p>
          <a:p>
            <a:pPr>
              <a:spcAft>
                <a:spcPts val="5"/>
              </a:spcAft>
            </a:pPr>
            <a:r>
              <a:rPr sz="1000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Narrative, slide plan, visual structure and content needs</a:t>
            </a:r>
          </a:p>
        </p:txBody>
      </p:sp>
      <p:sp>
        <p:nvSpPr>
          <p:cNvPr id="8" name="content-path-label">
            <a:extLst>
              <a:ext uri="{FF2B5EF4-FFF2-40B4-BE49-F238E27FC236}">
                <a16:creationId xmlns:a16="http://schemas.microsoft.com/office/drawing/2014/main" id="{CF04A2F3-BC30-0AFE-FD0D-D1334F55930E}"/>
              </a:ext>
            </a:extLst>
          </p:cNvPr>
          <p:cNvSpPr>
            <a:spLocks noGrp="1"/>
          </p:cNvSpPr>
          <p:nvPr/>
        </p:nvSpPr>
        <p:spPr>
          <a:xfrm>
            <a:off x="6096000" y="2449286"/>
            <a:ext cx="2762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1650" lnSpcReduction="10000"/>
          </a:bodyPr>
          <a:lstStyle/>
          <a:p>
            <a:pPr algn="l">
              <a:defRPr sz="975" b="1">
                <a:solidFill>
                  <a:srgbClr val="4F55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dirty="0">
                <a:solidFill>
                  <a:srgbClr val="4F556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MATCH EACH CONTENT NEED TO THE RIGHT PATH</a:t>
            </a:r>
          </a:p>
        </p:txBody>
      </p:sp>
      <p:sp>
        <p:nvSpPr>
          <p:cNvPr id="9" name="path-canonical">
            <a:extLst>
              <a:ext uri="{FF2B5EF4-FFF2-40B4-BE49-F238E27FC236}">
                <a16:creationId xmlns:a16="http://schemas.microsoft.com/office/drawing/2014/main" id="{BB48108F-C9E5-73DE-C3BB-98595492C9D4}"/>
              </a:ext>
            </a:extLst>
          </p:cNvPr>
          <p:cNvSpPr>
            <a:spLocks noGrp="1"/>
          </p:cNvSpPr>
          <p:nvPr/>
        </p:nvSpPr>
        <p:spPr>
          <a:xfrm>
            <a:off x="6096000" y="2696936"/>
            <a:ext cx="2762250" cy="685800"/>
          </a:xfrm>
          <a:prstGeom prst="rect">
            <a:avLst/>
          </a:prstGeom>
          <a:solidFill>
            <a:srgbClr val="D0EDFA"/>
          </a:solidFill>
          <a:ln w="19050">
            <a:solidFill>
              <a:srgbClr val="3D8DFF"/>
            </a:solidFill>
            <a:prstDash val="solid"/>
          </a:ln>
        </p:spPr>
        <p:txBody>
          <a:bodyPr lIns="104775" tIns="85725" rIns="104775" bIns="76200" anchor="ctr">
            <a:normAutofit/>
          </a:bodyPr>
          <a:lstStyle/>
          <a:p>
            <a:pPr>
              <a:spcAft>
                <a:spcPts val="3"/>
              </a:spcAft>
            </a:pPr>
            <a:r>
              <a:rPr sz="11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M Moser content</a:t>
            </a:r>
          </a:p>
          <a:p>
            <a:pPr>
              <a:spcAft>
                <a:spcPts val="3"/>
              </a:spcAft>
            </a:pPr>
            <a:r>
              <a:rPr lang="en-CA" sz="11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Proposal specialist</a:t>
            </a:r>
            <a:r>
              <a:rPr sz="11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retrieves approved source-of-truth slides</a:t>
            </a:r>
          </a:p>
        </p:txBody>
      </p:sp>
      <p:sp>
        <p:nvSpPr>
          <p:cNvPr id="10" name="path-reusable">
            <a:extLst>
              <a:ext uri="{FF2B5EF4-FFF2-40B4-BE49-F238E27FC236}">
                <a16:creationId xmlns:a16="http://schemas.microsoft.com/office/drawing/2014/main" id="{3B1A4B4A-9A20-5256-0C8F-8DDC7B4AC7CF}"/>
              </a:ext>
            </a:extLst>
          </p:cNvPr>
          <p:cNvSpPr>
            <a:spLocks noGrp="1"/>
          </p:cNvSpPr>
          <p:nvPr/>
        </p:nvSpPr>
        <p:spPr>
          <a:xfrm>
            <a:off x="6096000" y="3497036"/>
            <a:ext cx="2762250" cy="685800"/>
          </a:xfrm>
          <a:prstGeom prst="rect">
            <a:avLst/>
          </a:prstGeom>
          <a:solidFill>
            <a:srgbClr val="EAF6FC"/>
          </a:solidFill>
          <a:ln w="19050">
            <a:solidFill>
              <a:srgbClr val="6DCBF4"/>
            </a:solidFill>
            <a:prstDash val="solid"/>
          </a:ln>
        </p:spPr>
        <p:txBody>
          <a:bodyPr lIns="104775" tIns="85725" rIns="104775" bIns="76200" anchor="ctr">
            <a:normAutofit/>
          </a:bodyPr>
          <a:lstStyle/>
          <a:p>
            <a:pPr>
              <a:spcAft>
                <a:spcPts val="3"/>
              </a:spcAft>
            </a:pPr>
            <a:r>
              <a:rPr sz="11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Reusable high-quality content</a:t>
            </a:r>
          </a:p>
          <a:p>
            <a:pPr>
              <a:spcAft>
                <a:spcPts val="3"/>
              </a:spcAft>
            </a:pPr>
            <a:r>
              <a:rPr lang="en-CA" sz="11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Proposal specialist</a:t>
            </a:r>
            <a:r>
              <a:rPr sz="11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surfaces options; </a:t>
            </a:r>
            <a:r>
              <a:rPr lang="en-CA" sz="11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she then find,</a:t>
            </a:r>
            <a:r>
              <a:rPr sz="11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selects and adapts</a:t>
            </a:r>
          </a:p>
        </p:txBody>
      </p:sp>
      <p:sp>
        <p:nvSpPr>
          <p:cNvPr id="11" name="path-one-off">
            <a:extLst>
              <a:ext uri="{FF2B5EF4-FFF2-40B4-BE49-F238E27FC236}">
                <a16:creationId xmlns:a16="http://schemas.microsoft.com/office/drawing/2014/main" id="{5D058369-AD90-AD48-66F0-F677C84AB5E4}"/>
              </a:ext>
            </a:extLst>
          </p:cNvPr>
          <p:cNvSpPr>
            <a:spLocks noGrp="1"/>
          </p:cNvSpPr>
          <p:nvPr/>
        </p:nvSpPr>
        <p:spPr>
          <a:xfrm>
            <a:off x="6096000" y="4297136"/>
            <a:ext cx="2762250" cy="685800"/>
          </a:xfrm>
          <a:prstGeom prst="rect">
            <a:avLst/>
          </a:prstGeom>
          <a:solidFill>
            <a:srgbClr val="FFFFFF"/>
          </a:solidFill>
          <a:ln w="13335">
            <a:solidFill>
              <a:srgbClr val="B8BCC4"/>
            </a:solidFill>
            <a:prstDash val="solid"/>
          </a:ln>
        </p:spPr>
        <p:txBody>
          <a:bodyPr lIns="114300" tIns="104775" rIns="114300" bIns="95250" anchor="ctr">
            <a:normAutofit fontScale="88434" lnSpcReduction="10000"/>
          </a:bodyPr>
          <a:lstStyle/>
          <a:p>
            <a:pPr>
              <a:spcAft>
                <a:spcPts val="5"/>
              </a:spcAft>
            </a:pPr>
            <a:r>
              <a:rPr sz="12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One-off proposal content</a:t>
            </a:r>
          </a:p>
          <a:p>
            <a:pPr>
              <a:spcAft>
                <a:spcPts val="5"/>
              </a:spcAft>
            </a:pPr>
            <a:r>
              <a:rPr lang="en-CA" sz="1200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Proposal specialist </a:t>
            </a:r>
            <a:r>
              <a:rPr sz="1200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creates the client-specific visual story</a:t>
            </a:r>
          </a:p>
        </p:txBody>
      </p:sp>
      <p:sp>
        <p:nvSpPr>
          <p:cNvPr id="12" name="step-6-build">
            <a:extLst>
              <a:ext uri="{FF2B5EF4-FFF2-40B4-BE49-F238E27FC236}">
                <a16:creationId xmlns:a16="http://schemas.microsoft.com/office/drawing/2014/main" id="{A16528BB-84EA-08B0-D6ED-9DD49083444D}"/>
              </a:ext>
            </a:extLst>
          </p:cNvPr>
          <p:cNvSpPr>
            <a:spLocks noGrp="1"/>
          </p:cNvSpPr>
          <p:nvPr/>
        </p:nvSpPr>
        <p:spPr>
          <a:xfrm>
            <a:off x="3333750" y="3497036"/>
            <a:ext cx="2305050" cy="1066800"/>
          </a:xfrm>
          <a:prstGeom prst="rect">
            <a:avLst/>
          </a:prstGeom>
          <a:solidFill>
            <a:srgbClr val="EAF6FC"/>
          </a:solidFill>
          <a:ln w="19050">
            <a:solidFill>
              <a:srgbClr val="6DCBF4"/>
            </a:solidFill>
            <a:prstDash val="solid"/>
          </a:ln>
        </p:spPr>
        <p:txBody>
          <a:bodyPr lIns="104775" tIns="85725" rIns="104775" bIns="76200" anchor="ctr">
            <a:normAutofit/>
          </a:bodyPr>
          <a:lstStyle/>
          <a:p>
            <a:pPr>
              <a:spcAft>
                <a:spcPts val="3"/>
              </a:spcAft>
            </a:pPr>
            <a:r>
              <a:rPr sz="11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 · BUILD</a:t>
            </a:r>
          </a:p>
          <a:p>
            <a:pPr>
              <a:spcAft>
                <a:spcPts val="3"/>
              </a:spcAft>
            </a:pPr>
            <a:r>
              <a:rPr sz="11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Assemble the proposal</a:t>
            </a:r>
          </a:p>
          <a:p>
            <a:pPr>
              <a:spcAft>
                <a:spcPts val="3"/>
              </a:spcAft>
            </a:pPr>
            <a:r>
              <a:rPr sz="11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Coordinate contributors and bring every slide into one story</a:t>
            </a:r>
            <a:r>
              <a:rPr lang="en-CA" sz="11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lang="en-CA" sz="1125" b="1" dirty="0">
                <a:highlight>
                  <a:srgbClr val="00FFFF"/>
                </a:highlight>
                <a:latin typeface="Helvetica Neue"/>
                <a:ea typeface="Helvetica Neue"/>
                <a:cs typeface="Helvetica Neue"/>
              </a:rPr>
              <a:t>clean it up visually</a:t>
            </a:r>
            <a:endParaRPr sz="1125" b="1" dirty="0">
              <a:highlight>
                <a:srgbClr val="00FFFF"/>
              </a:highlight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step-7-review-submit">
            <a:extLst>
              <a:ext uri="{FF2B5EF4-FFF2-40B4-BE49-F238E27FC236}">
                <a16:creationId xmlns:a16="http://schemas.microsoft.com/office/drawing/2014/main" id="{B103F94B-AA0C-748C-39B9-4DC756B0192B}"/>
              </a:ext>
            </a:extLst>
          </p:cNvPr>
          <p:cNvSpPr>
            <a:spLocks noGrp="1"/>
          </p:cNvSpPr>
          <p:nvPr/>
        </p:nvSpPr>
        <p:spPr>
          <a:xfrm>
            <a:off x="3333750" y="4982936"/>
            <a:ext cx="2305050" cy="990600"/>
          </a:xfrm>
          <a:prstGeom prst="rect">
            <a:avLst/>
          </a:prstGeom>
          <a:solidFill>
            <a:srgbClr val="FFFFFF"/>
          </a:solidFill>
          <a:ln w="13335">
            <a:solidFill>
              <a:srgbClr val="B8BCC4"/>
            </a:solidFill>
            <a:prstDash val="solid"/>
          </a:ln>
        </p:spPr>
        <p:txBody>
          <a:bodyPr lIns="114300" tIns="104775" rIns="114300" bIns="95250" anchor="ctr">
            <a:normAutofit fontScale="94834" lnSpcReduction="10000"/>
          </a:bodyPr>
          <a:lstStyle/>
          <a:p>
            <a:pPr algn="l">
              <a:spcAft>
                <a:spcPts val="5"/>
              </a:spcAft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7 · DELIVER</a:t>
            </a:r>
          </a:p>
          <a:p>
            <a:pPr algn="l">
              <a:spcAft>
                <a:spcPts val="4"/>
              </a:spcAft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Review, refine and submit</a:t>
            </a:r>
          </a:p>
          <a:p>
            <a:pPr algn="l"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Confirm relevance and tone, revise, quality-check and deliver</a:t>
            </a:r>
          </a:p>
        </p:txBody>
      </p:sp>
      <p:sp>
        <p:nvSpPr>
          <p:cNvPr id="14" name="step-8-curate">
            <a:extLst>
              <a:ext uri="{FF2B5EF4-FFF2-40B4-BE49-F238E27FC236}">
                <a16:creationId xmlns:a16="http://schemas.microsoft.com/office/drawing/2014/main" id="{CE5FDD45-2496-3A89-C5DD-499B8CD4F261}"/>
              </a:ext>
            </a:extLst>
          </p:cNvPr>
          <p:cNvSpPr>
            <a:spLocks noGrp="1"/>
          </p:cNvSpPr>
          <p:nvPr/>
        </p:nvSpPr>
        <p:spPr>
          <a:xfrm>
            <a:off x="666750" y="4982936"/>
            <a:ext cx="2209800" cy="990600"/>
          </a:xfrm>
          <a:prstGeom prst="rect">
            <a:avLst/>
          </a:prstGeom>
          <a:solidFill>
            <a:srgbClr val="EAF6FC"/>
          </a:solidFill>
          <a:ln w="19050">
            <a:solidFill>
              <a:srgbClr val="6DCBF4"/>
            </a:solidFill>
            <a:prstDash val="solid"/>
          </a:ln>
        </p:spPr>
        <p:txBody>
          <a:bodyPr lIns="104775" tIns="85725" rIns="104775" bIns="76200" anchor="ctr">
            <a:normAutofit lnSpcReduction="10000"/>
          </a:bodyPr>
          <a:lstStyle/>
          <a:p>
            <a:pPr>
              <a:spcAft>
                <a:spcPts val="3"/>
              </a:spcAft>
            </a:pPr>
            <a:r>
              <a:rPr sz="11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 · </a:t>
            </a:r>
            <a:r>
              <a:rPr lang="en-CA" sz="11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ARCHIVE</a:t>
            </a:r>
            <a:endParaRPr sz="1125" b="1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>
            <a:pPr>
              <a:spcAft>
                <a:spcPts val="3"/>
              </a:spcAft>
            </a:pPr>
            <a:r>
              <a:rPr lang="en-CA" sz="1125" b="1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Save in Share point submittals. Decide if it belongs in any other folder and/or monster deck.</a:t>
            </a:r>
            <a:endParaRPr sz="1125" b="1" dirty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ABF807C-3E9D-2D84-DBF6-6F49998A0DEF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2038350" y="1744436"/>
            <a:ext cx="171450" cy="0"/>
          </a:xfrm>
          <a:prstGeom prst="straightConnector1">
            <a:avLst/>
          </a:prstGeom>
          <a:ln w="19050">
            <a:solidFill>
              <a:srgbClr val="7B818B"/>
            </a:solidFill>
            <a:prstDash val="solid"/>
            <a:tailEnd type="arrow" w="sm" len="sm"/>
          </a:ln>
        </p:spPr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6CBC910-76B7-062D-235C-3F07CEA42AEE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4019550" y="1744436"/>
            <a:ext cx="171450" cy="0"/>
          </a:xfrm>
          <a:prstGeom prst="straightConnector1">
            <a:avLst/>
          </a:prstGeom>
          <a:ln w="19050">
            <a:solidFill>
              <a:srgbClr val="7B818B"/>
            </a:solidFill>
            <a:prstDash val="solid"/>
            <a:tailEnd type="arrow" w="sm" len="sm"/>
          </a:ln>
        </p:spPr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BB45B6B-A89E-6718-64DF-31A450B0703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6572250" y="1744436"/>
            <a:ext cx="171450" cy="0"/>
          </a:xfrm>
          <a:prstGeom prst="straightConnector1">
            <a:avLst/>
          </a:prstGeom>
          <a:ln w="19050">
            <a:solidFill>
              <a:srgbClr val="7B818B"/>
            </a:solidFill>
            <a:prstDash val="solid"/>
            <a:tailEnd type="arrow" w="sm" len="sm"/>
          </a:ln>
        </p:spPr>
      </p:cxnSp>
      <p:cxnSp>
        <p:nvCxnSpPr>
          <p:cNvPr id="51" name="Elbow Connector 50">
            <a:extLst>
              <a:ext uri="{FF2B5EF4-FFF2-40B4-BE49-F238E27FC236}">
                <a16:creationId xmlns:a16="http://schemas.microsoft.com/office/drawing/2014/main" id="{8EEBDD42-4DE5-C85F-1D8E-46B82B344FDF}"/>
              </a:ext>
            </a:extLst>
          </p:cNvPr>
          <p:cNvCxnSpPr>
            <a:stCxn id="6" idx="3"/>
            <a:endCxn id="7" idx="0"/>
          </p:cNvCxnSpPr>
          <p:nvPr/>
        </p:nvCxnSpPr>
        <p:spPr>
          <a:xfrm>
            <a:off x="9124950" y="1744436"/>
            <a:ext cx="1400175" cy="914400"/>
          </a:xfrm>
          <a:prstGeom prst="bentConnector2">
            <a:avLst/>
          </a:prstGeom>
          <a:ln w="19050">
            <a:solidFill>
              <a:srgbClr val="7B818B"/>
            </a:solidFill>
            <a:prstDash val="solid"/>
            <a:tailEnd type="arrow" w="sm" len="sm"/>
          </a:ln>
        </p:spPr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6F76BAB1-1125-4C47-B076-A3DC0B051325}"/>
              </a:ext>
            </a:extLst>
          </p:cNvPr>
          <p:cNvCxnSpPr>
            <a:stCxn id="7" idx="1"/>
            <a:endCxn id="9" idx="3"/>
          </p:cNvCxnSpPr>
          <p:nvPr/>
        </p:nvCxnSpPr>
        <p:spPr>
          <a:xfrm flipH="1" flipV="1">
            <a:off x="8858250" y="3039836"/>
            <a:ext cx="476250" cy="152400"/>
          </a:xfrm>
          <a:prstGeom prst="bentConnector3">
            <a:avLst>
              <a:gd name="adj1" fmla="val 50000"/>
            </a:avLst>
          </a:prstGeom>
          <a:ln w="19050">
            <a:solidFill>
              <a:srgbClr val="7B818B"/>
            </a:solidFill>
            <a:prstDash val="solid"/>
            <a:tailEnd type="arrow" w="sm" len="sm"/>
          </a:ln>
        </p:spPr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B68495DF-E442-B2F3-7BB5-E64DAAC0A8A0}"/>
              </a:ext>
            </a:extLst>
          </p:cNvPr>
          <p:cNvCxnSpPr>
            <a:stCxn id="7" idx="1"/>
            <a:endCxn id="10" idx="3"/>
          </p:cNvCxnSpPr>
          <p:nvPr/>
        </p:nvCxnSpPr>
        <p:spPr>
          <a:xfrm flipH="1">
            <a:off x="8858250" y="3192236"/>
            <a:ext cx="476250" cy="647700"/>
          </a:xfrm>
          <a:prstGeom prst="bentConnector3">
            <a:avLst>
              <a:gd name="adj1" fmla="val 50000"/>
            </a:avLst>
          </a:prstGeom>
          <a:ln w="19050">
            <a:solidFill>
              <a:srgbClr val="7B818B"/>
            </a:solidFill>
            <a:prstDash val="solid"/>
            <a:tailEnd type="arrow" w="sm" len="sm"/>
          </a:ln>
        </p:spPr>
      </p:cxnSp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A7A3C207-8D2C-80F9-F2CC-2C404E8AAD26}"/>
              </a:ext>
            </a:extLst>
          </p:cNvPr>
          <p:cNvCxnSpPr>
            <a:stCxn id="7" idx="1"/>
            <a:endCxn id="11" idx="3"/>
          </p:cNvCxnSpPr>
          <p:nvPr/>
        </p:nvCxnSpPr>
        <p:spPr>
          <a:xfrm flipH="1">
            <a:off x="8858250" y="3192236"/>
            <a:ext cx="476250" cy="1447800"/>
          </a:xfrm>
          <a:prstGeom prst="bentConnector3">
            <a:avLst>
              <a:gd name="adj1" fmla="val 50000"/>
            </a:avLst>
          </a:prstGeom>
          <a:ln w="19050">
            <a:solidFill>
              <a:srgbClr val="7B818B"/>
            </a:solidFill>
            <a:prstDash val="solid"/>
            <a:tailEnd type="arrow" w="sm" len="sm"/>
          </a:ln>
        </p:spPr>
      </p:cxnSp>
      <p:cxnSp>
        <p:nvCxnSpPr>
          <p:cNvPr id="55" name="Elbow Connector 54">
            <a:extLst>
              <a:ext uri="{FF2B5EF4-FFF2-40B4-BE49-F238E27FC236}">
                <a16:creationId xmlns:a16="http://schemas.microsoft.com/office/drawing/2014/main" id="{FD705144-2FE4-B820-B528-8D696E67709A}"/>
              </a:ext>
            </a:extLst>
          </p:cNvPr>
          <p:cNvCxnSpPr>
            <a:stCxn id="9" idx="1"/>
            <a:endCxn id="12" idx="3"/>
          </p:cNvCxnSpPr>
          <p:nvPr/>
        </p:nvCxnSpPr>
        <p:spPr>
          <a:xfrm flipH="1">
            <a:off x="5638800" y="3039836"/>
            <a:ext cx="457200" cy="990600"/>
          </a:xfrm>
          <a:prstGeom prst="bentConnector3">
            <a:avLst>
              <a:gd name="adj1" fmla="val 50000"/>
            </a:avLst>
          </a:prstGeom>
          <a:ln w="19050">
            <a:solidFill>
              <a:srgbClr val="7B818B"/>
            </a:solidFill>
            <a:prstDash val="solid"/>
            <a:tailEnd type="arrow" w="sm" len="sm"/>
          </a:ln>
        </p:spPr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9B8329D6-272A-3862-2E01-DF0ED866A882}"/>
              </a:ext>
            </a:extLst>
          </p:cNvPr>
          <p:cNvCxnSpPr>
            <a:cxnSpLocks/>
            <a:stCxn id="10" idx="1"/>
            <a:endCxn id="12" idx="3"/>
          </p:cNvCxnSpPr>
          <p:nvPr/>
        </p:nvCxnSpPr>
        <p:spPr>
          <a:xfrm flipH="1">
            <a:off x="5638800" y="3839936"/>
            <a:ext cx="457200" cy="190500"/>
          </a:xfrm>
          <a:prstGeom prst="bentConnector3">
            <a:avLst>
              <a:gd name="adj1" fmla="val 50000"/>
            </a:avLst>
          </a:prstGeom>
          <a:ln w="19050">
            <a:solidFill>
              <a:srgbClr val="7B818B"/>
            </a:solidFill>
            <a:prstDash val="solid"/>
            <a:tailEnd type="arrow" w="sm" len="sm"/>
          </a:ln>
        </p:spPr>
      </p:cxnSp>
      <p:cxnSp>
        <p:nvCxnSpPr>
          <p:cNvPr id="57" name="Elbow Connector 56">
            <a:extLst>
              <a:ext uri="{FF2B5EF4-FFF2-40B4-BE49-F238E27FC236}">
                <a16:creationId xmlns:a16="http://schemas.microsoft.com/office/drawing/2014/main" id="{B4AFE826-B639-88A9-600A-0D4DE4743407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 flipV="1">
            <a:off x="5638800" y="4030436"/>
            <a:ext cx="457200" cy="609600"/>
          </a:xfrm>
          <a:prstGeom prst="bentConnector3">
            <a:avLst>
              <a:gd name="adj1" fmla="val 50000"/>
            </a:avLst>
          </a:prstGeom>
          <a:ln w="19050">
            <a:solidFill>
              <a:srgbClr val="7B818B"/>
            </a:solidFill>
            <a:prstDash val="solid"/>
            <a:tailEnd type="arrow" w="sm" len="sm"/>
          </a:ln>
        </p:spPr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C5A32563-D16A-FD27-3A94-968AC24638C4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4486275" y="4563836"/>
            <a:ext cx="0" cy="419100"/>
          </a:xfrm>
          <a:prstGeom prst="straightConnector1">
            <a:avLst/>
          </a:prstGeom>
          <a:ln w="19050">
            <a:solidFill>
              <a:srgbClr val="7B818B"/>
            </a:solidFill>
            <a:prstDash val="solid"/>
            <a:tailEnd type="arrow" w="sm" len="sm"/>
          </a:ln>
        </p:spPr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BF0879C-AED4-1227-C47D-7CDDEBEF6040}"/>
              </a:ext>
            </a:extLst>
          </p:cNvPr>
          <p:cNvCxnSpPr>
            <a:stCxn id="13" idx="1"/>
            <a:endCxn id="14" idx="3"/>
          </p:cNvCxnSpPr>
          <p:nvPr/>
        </p:nvCxnSpPr>
        <p:spPr>
          <a:xfrm flipH="1">
            <a:off x="2876550" y="5478236"/>
            <a:ext cx="457200" cy="0"/>
          </a:xfrm>
          <a:prstGeom prst="straightConnector1">
            <a:avLst/>
          </a:prstGeom>
          <a:ln w="19050">
            <a:solidFill>
              <a:srgbClr val="7B818B"/>
            </a:solidFill>
            <a:prstDash val="solid"/>
            <a:tailEnd type="arrow" w="sm" len="sm"/>
          </a:ln>
        </p:spPr>
      </p:cxnSp>
      <p:sp>
        <p:nvSpPr>
          <p:cNvPr id="27" name="intake-note">
            <a:extLst>
              <a:ext uri="{FF2B5EF4-FFF2-40B4-BE49-F238E27FC236}">
                <a16:creationId xmlns:a16="http://schemas.microsoft.com/office/drawing/2014/main" id="{5C8CC689-08A7-DE75-FB74-F195FFA4436E}"/>
              </a:ext>
            </a:extLst>
          </p:cNvPr>
          <p:cNvSpPr>
            <a:spLocks noGrp="1"/>
          </p:cNvSpPr>
          <p:nvPr/>
        </p:nvSpPr>
        <p:spPr>
          <a:xfrm>
            <a:off x="4191000" y="2354036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00"/>
          </a:bodyPr>
          <a:lstStyle/>
          <a:p>
            <a:pPr algn="l">
              <a:defRPr sz="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CA" sz="9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WE</a:t>
            </a:r>
            <a:r>
              <a:rPr sz="9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 H</a:t>
            </a:r>
            <a:r>
              <a:rPr lang="en-CA" sz="9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AVE </a:t>
            </a:r>
            <a:r>
              <a:rPr sz="900" b="1" dirty="0">
                <a:solidFill>
                  <a:srgbClr val="000000"/>
                </a:solidFill>
                <a:highlight>
                  <a:srgbClr val="00FFFF"/>
                </a:highlight>
                <a:latin typeface="Untitled Sans" panose="020B0503030202060203" pitchFamily="34" charset="77"/>
                <a:ea typeface="Helvetica Neue"/>
                <a:cs typeface="Helvetica Neue"/>
              </a:rPr>
              <a:t>THE INTAKE BRIEF </a:t>
            </a:r>
            <a:r>
              <a:rPr sz="9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READY FOR THE FIRST MEETING</a:t>
            </a:r>
            <a:r>
              <a:rPr lang="en-CA" sz="900" b="1" dirty="0">
                <a:solidFill>
                  <a:srgbClr val="000000"/>
                </a:solidFill>
                <a:latin typeface="Untitled Sans" panose="020B0503030202060203" pitchFamily="34" charset="77"/>
                <a:ea typeface="Helvetica Neue"/>
                <a:cs typeface="Helvetica Neue"/>
              </a:rPr>
              <a:t> AND REQUIREMENTS</a:t>
            </a:r>
            <a:endParaRPr sz="900" b="1" dirty="0">
              <a:solidFill>
                <a:srgbClr val="000000"/>
              </a:solidFill>
              <a:latin typeface="Untitled Sans" panose="020B0503030202060203" pitchFamily="34" charset="77"/>
              <a:ea typeface="Helvetica Neue"/>
              <a:cs typeface="Helvetica Neue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0A27DA-7BDE-F457-3DB8-BF01000567FD}"/>
              </a:ext>
            </a:extLst>
          </p:cNvPr>
          <p:cNvSpPr/>
          <p:nvPr/>
        </p:nvSpPr>
        <p:spPr>
          <a:xfrm>
            <a:off x="9282112" y="1335846"/>
            <a:ext cx="1638136" cy="2837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highlight>
                  <a:srgbClr val="02FFFF"/>
                </a:highlight>
                <a:latin typeface="Untitled Sans" panose="020B0503030202060203" pitchFamily="34" charset="77"/>
              </a:rPr>
              <a:t>Storyline</a:t>
            </a:r>
            <a:r>
              <a:rPr lang="en-US" sz="800" dirty="0">
                <a:solidFill>
                  <a:schemeClr val="tx1"/>
                </a:solidFill>
                <a:latin typeface="Untitled Sans" panose="020B0503030202060203" pitchFamily="34" charset="77"/>
              </a:rPr>
              <a:t> is created normally by proposals team, leaders/directors, verbally, in paper, ppt, etc.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E9829839-4B78-CB16-9760-C96C2CA91FF5}"/>
              </a:ext>
            </a:extLst>
          </p:cNvPr>
          <p:cNvSpPr/>
          <p:nvPr/>
        </p:nvSpPr>
        <p:spPr>
          <a:xfrm rot="4581701">
            <a:off x="10140862" y="3852884"/>
            <a:ext cx="438912" cy="524256"/>
          </a:xfrm>
          <a:custGeom>
            <a:avLst/>
            <a:gdLst>
              <a:gd name="connsiteX0" fmla="*/ 0 w 438912"/>
              <a:gd name="connsiteY0" fmla="*/ 0 h 975360"/>
              <a:gd name="connsiteX1" fmla="*/ 341376 w 438912"/>
              <a:gd name="connsiteY1" fmla="*/ 268224 h 975360"/>
              <a:gd name="connsiteX2" fmla="*/ 146304 w 438912"/>
              <a:gd name="connsiteY2" fmla="*/ 658368 h 975360"/>
              <a:gd name="connsiteX3" fmla="*/ 438912 w 438912"/>
              <a:gd name="connsiteY3" fmla="*/ 975360 h 975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912" h="975360">
                <a:moveTo>
                  <a:pt x="0" y="0"/>
                </a:moveTo>
                <a:cubicBezTo>
                  <a:pt x="158496" y="79248"/>
                  <a:pt x="316992" y="158496"/>
                  <a:pt x="341376" y="268224"/>
                </a:cubicBezTo>
                <a:cubicBezTo>
                  <a:pt x="365760" y="377952"/>
                  <a:pt x="130048" y="540512"/>
                  <a:pt x="146304" y="658368"/>
                </a:cubicBezTo>
                <a:cubicBezTo>
                  <a:pt x="162560" y="776224"/>
                  <a:pt x="438912" y="975360"/>
                  <a:pt x="438912" y="975360"/>
                </a:cubicBezTo>
              </a:path>
            </a:pathLst>
          </a:custGeom>
          <a:noFill/>
          <a:ln>
            <a:solidFill>
              <a:srgbClr val="02FFFF"/>
            </a:solidFill>
            <a:head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7958D2-B909-2883-17F1-A9B9FC323B4B}"/>
              </a:ext>
            </a:extLst>
          </p:cNvPr>
          <p:cNvSpPr/>
          <p:nvPr/>
        </p:nvSpPr>
        <p:spPr>
          <a:xfrm>
            <a:off x="9632572" y="4583882"/>
            <a:ext cx="1119196" cy="2837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tx1"/>
                </a:solidFill>
                <a:highlight>
                  <a:srgbClr val="00FFFF"/>
                </a:highlight>
                <a:latin typeface="Untitled Sans" panose="020B0503030202060203" pitchFamily="34" charset="77"/>
              </a:rPr>
              <a:t>Could the storyline be created directly in slide vault</a:t>
            </a:r>
          </a:p>
        </p:txBody>
      </p:sp>
    </p:spTree>
    <p:extLst>
      <p:ext uri="{BB962C8B-B14F-4D97-AF65-F5344CB8AC3E}">
        <p14:creationId xmlns:p14="http://schemas.microsoft.com/office/powerpoint/2010/main" val="368491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256084-F45A-ED64-B80C-883058C7C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rid-v1"/>
          <p:cNvSpPr/>
          <p:nvPr/>
        </p:nvSpPr>
        <p:spPr>
          <a:xfrm>
            <a:off x="12192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grid-v2"/>
          <p:cNvSpPr/>
          <p:nvPr/>
        </p:nvSpPr>
        <p:spPr>
          <a:xfrm>
            <a:off x="24384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grid-v3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grid-v4"/>
          <p:cNvSpPr/>
          <p:nvPr/>
        </p:nvSpPr>
        <p:spPr>
          <a:xfrm>
            <a:off x="48768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grid-v5"/>
          <p:cNvSpPr/>
          <p:nvPr/>
        </p:nvSpPr>
        <p:spPr>
          <a:xfrm>
            <a:off x="60960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grid-v7"/>
          <p:cNvSpPr/>
          <p:nvPr/>
        </p:nvSpPr>
        <p:spPr>
          <a:xfrm>
            <a:off x="85344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grid-v8"/>
          <p:cNvSpPr/>
          <p:nvPr/>
        </p:nvSpPr>
        <p:spPr>
          <a:xfrm>
            <a:off x="97536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grid-v9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grid-h1"/>
          <p:cNvSpPr/>
          <p:nvPr/>
        </p:nvSpPr>
        <p:spPr>
          <a:xfrm>
            <a:off x="0" y="1143000"/>
            <a:ext cx="12192000" cy="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grid-h2"/>
          <p:cNvSpPr/>
          <p:nvPr/>
        </p:nvSpPr>
        <p:spPr>
          <a:xfrm>
            <a:off x="0" y="2286000"/>
            <a:ext cx="12192000" cy="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grid-h3"/>
          <p:cNvSpPr/>
          <p:nvPr/>
        </p:nvSpPr>
        <p:spPr>
          <a:xfrm>
            <a:off x="0" y="3429000"/>
            <a:ext cx="12192000" cy="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grid-h4"/>
          <p:cNvSpPr/>
          <p:nvPr/>
        </p:nvSpPr>
        <p:spPr>
          <a:xfrm>
            <a:off x="0" y="4572000"/>
            <a:ext cx="12192000" cy="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grid-h5"/>
          <p:cNvSpPr/>
          <p:nvPr/>
        </p:nvSpPr>
        <p:spPr>
          <a:xfrm>
            <a:off x="0" y="5715000"/>
            <a:ext cx="12192000" cy="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E612C0-D6DA-707C-52B4-86174BB811F2}"/>
              </a:ext>
            </a:extLst>
          </p:cNvPr>
          <p:cNvSpPr txBox="1"/>
          <p:nvPr/>
        </p:nvSpPr>
        <p:spPr>
          <a:xfrm>
            <a:off x="3876906" y="2286000"/>
            <a:ext cx="4438187" cy="208646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6000"/>
              </a:lnSpc>
            </a:pPr>
            <a:r>
              <a:rPr lang="en-CA" sz="7200" dirty="0">
                <a:solidFill>
                  <a:schemeClr val="bg1"/>
                </a:solidFill>
                <a:latin typeface="Bebas Neue" panose="020B0606020202050201" pitchFamily="34" charset="77"/>
              </a:rPr>
              <a:t>SUCCESS REQUIREMENTS &amp; PAIN POINTS </a:t>
            </a:r>
            <a:endParaRPr lang="en-US" sz="7200" dirty="0">
              <a:solidFill>
                <a:schemeClr val="bg1"/>
              </a:solidFill>
              <a:latin typeface="Bebas Neue" panose="020B0606020202050201" pitchFamily="34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DCD979-A99F-0595-65BB-07E310A6AF9C}"/>
              </a:ext>
            </a:extLst>
          </p:cNvPr>
          <p:cNvSpPr txBox="1"/>
          <p:nvPr/>
        </p:nvSpPr>
        <p:spPr>
          <a:xfrm>
            <a:off x="425447" y="195156"/>
            <a:ext cx="3957710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800" dirty="0">
                <a:solidFill>
                  <a:schemeClr val="bg1"/>
                </a:solidFill>
                <a:latin typeface="Untitled Sans Light" panose="020B0303030202060203" pitchFamily="34" charset="77"/>
              </a:rPr>
              <a:t>M MOSER ASSOCIATES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E63516-241C-A7D8-AD46-9C153A5CA9C5}"/>
              </a:ext>
            </a:extLst>
          </p:cNvPr>
          <p:cNvSpPr txBox="1"/>
          <p:nvPr/>
        </p:nvSpPr>
        <p:spPr>
          <a:xfrm>
            <a:off x="8647621" y="195156"/>
            <a:ext cx="3086256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800" b="1">
                <a:solidFill>
                  <a:schemeClr val="bg1"/>
                </a:solidFill>
                <a:latin typeface="Untitled Sans" panose="020B0503030202060203" pitchFamily="34" charset="77"/>
              </a:rPr>
              <a:t>2026</a:t>
            </a:r>
            <a:endParaRPr lang="en-CA" sz="800" b="1">
              <a:solidFill>
                <a:schemeClr val="bg1"/>
              </a:solidFill>
              <a:latin typeface="Untitled Sans" panose="020B0503030202060203" pitchFamily="34" charset="77"/>
            </a:endParaRPr>
          </a:p>
        </p:txBody>
      </p:sp>
      <p:pic>
        <p:nvPicPr>
          <p:cNvPr id="97" name="Picture 96" descr="Text&#10;&#10;Description automatically generated with medium confidence">
            <a:extLst>
              <a:ext uri="{FF2B5EF4-FFF2-40B4-BE49-F238E27FC236}">
                <a16:creationId xmlns:a16="http://schemas.microsoft.com/office/drawing/2014/main" id="{AB6452B4-2863-9BC6-6ADA-767A96E4C44C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3860" y="6331126"/>
            <a:ext cx="276393" cy="27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654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040093-C7D2-84EC-F25D-9422B4328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E2B425A-7FAE-3C54-2257-BA73B38C7094}"/>
              </a:ext>
            </a:extLst>
          </p:cNvPr>
          <p:cNvSpPr txBox="1"/>
          <p:nvPr/>
        </p:nvSpPr>
        <p:spPr>
          <a:xfrm>
            <a:off x="406070" y="1848130"/>
            <a:ext cx="34834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400" dirty="0">
                <a:latin typeface="Untitled Sans" panose="020B0503030202060203" pitchFamily="34" charset="77"/>
              </a:rPr>
              <a:t>A successful solution should: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12AEC9-8AFB-4143-EA1D-C57197421232}"/>
              </a:ext>
            </a:extLst>
          </p:cNvPr>
          <p:cNvSpPr txBox="1"/>
          <p:nvPr/>
        </p:nvSpPr>
        <p:spPr>
          <a:xfrm>
            <a:off x="406071" y="943722"/>
            <a:ext cx="3483428" cy="87697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3300"/>
              </a:lnSpc>
            </a:pPr>
            <a:r>
              <a:rPr lang="en-CA" sz="4400" b="1" dirty="0">
                <a:latin typeface="Bebas Neue Bold" panose="020B0606020202050201" pitchFamily="34" charset="77"/>
              </a:rPr>
              <a:t>Success requirements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0CD71B-C16B-986D-A83C-740B15EFA0B1}"/>
              </a:ext>
            </a:extLst>
          </p:cNvPr>
          <p:cNvSpPr txBox="1"/>
          <p:nvPr/>
        </p:nvSpPr>
        <p:spPr>
          <a:xfrm>
            <a:off x="4099034" y="838104"/>
            <a:ext cx="7026166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100" dirty="0">
                <a:latin typeface="Untitled Sans Light" panose="020B0303030202060203" pitchFamily="34" charset="0"/>
              </a:rPr>
              <a:t>Reduce the time spent searching for content.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100" dirty="0">
                <a:latin typeface="Untitled Sans Light" panose="020B0303030202060203" pitchFamily="34" charset="0"/>
              </a:rPr>
              <a:t>Export in PPT for to allow people to copy and adapt content without changing the original.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100" dirty="0">
                <a:latin typeface="Untitled Sans Light" panose="020B0303030202060203" pitchFamily="34" charset="0"/>
              </a:rPr>
              <a:t>Make approved canonical content easy to identify (have 1 or 2 versions max)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100" dirty="0">
                <a:latin typeface="Untitled Sans Light" panose="020B0303030202060203" pitchFamily="34" charset="0"/>
              </a:rPr>
              <a:t>Show where content came from and when it was last updated.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100" dirty="0">
                <a:latin typeface="Untitled Sans Light" panose="020B0303030202060203" pitchFamily="34" charset="0"/>
              </a:rPr>
              <a:t>Surface relevant content based on the proposal’s attributes and strategy. (maybe by using tags or even the input form)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100" dirty="0">
                <a:latin typeface="Untitled Sans Light" panose="020B0303030202060203" pitchFamily="34" charset="0"/>
              </a:rPr>
              <a:t>Help with basic visual clean design when exporting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100" dirty="0">
                <a:latin typeface="Untitled Sans Light" panose="020B0303030202060203" pitchFamily="34" charset="0"/>
              </a:rPr>
              <a:t>Support filtering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100" dirty="0">
                <a:latin typeface="Untitled Sans Light" panose="020B0303030202060203" pitchFamily="34" charset="0"/>
              </a:rPr>
              <a:t>Provide useful previews before opening or downloading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100" dirty="0">
                <a:latin typeface="Untitled Sans Light" panose="020B0303030202060203" pitchFamily="34" charset="0"/>
              </a:rPr>
              <a:t>Make it easy to compare several possible slides.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100" dirty="0">
                <a:latin typeface="Untitled Sans Light" panose="020B0303030202060203" pitchFamily="34" charset="0"/>
              </a:rPr>
              <a:t>Preserve our team’s control over selection, adaptation and storytelling.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100" dirty="0">
                <a:latin typeface="Untitled Sans Light" panose="020B0303030202060203" pitchFamily="34" charset="0"/>
              </a:rPr>
              <a:t>Fit into the existing proposal workflow rather than creating another disconnected repository.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100" dirty="0">
                <a:latin typeface="Untitled Sans Light" panose="020B0303030202060203" pitchFamily="34" charset="0"/>
              </a:rPr>
              <a:t>Make post-proposal archiving and curation easier.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100" dirty="0">
                <a:latin typeface="Untitled Sans Light" panose="020B0303030202060203" pitchFamily="34" charset="0"/>
              </a:rPr>
              <a:t>Help promote exceptional one-off and latest material into the reusable library.</a:t>
            </a:r>
          </a:p>
          <a:p>
            <a:br>
              <a:rPr lang="en-CA" sz="1100" dirty="0">
                <a:latin typeface="Untitled Sans Light" panose="020B0303030202060203" pitchFamily="34" charset="0"/>
              </a:rPr>
            </a:br>
            <a:r>
              <a:rPr lang="en-CA" sz="1100" b="1" dirty="0">
                <a:latin typeface="+mj-lt"/>
              </a:rPr>
              <a:t>POTENTIAL SUCCESS MEASURES: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100" dirty="0">
                <a:latin typeface="Untitled Sans Light" panose="020B0303030202060203" pitchFamily="34" charset="0"/>
              </a:rPr>
              <a:t>Time required to find suitable content.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100" dirty="0">
                <a:latin typeface="Untitled Sans Light" panose="020B0303030202060203" pitchFamily="34" charset="0"/>
              </a:rPr>
              <a:t>Percentage of retrieved results that are genuinely relevant.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100" dirty="0">
                <a:latin typeface="Untitled Sans Light" panose="020B0303030202060203" pitchFamily="34" charset="0"/>
              </a:rPr>
              <a:t>Reduction in recreated or duplicated slides.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100" dirty="0">
                <a:latin typeface="Untitled Sans Light" panose="020B0303030202060203" pitchFamily="34" charset="0"/>
              </a:rPr>
              <a:t>Confidence that canonical content is current. (no extra versions)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100" dirty="0">
                <a:latin typeface="Untitled Sans Light" panose="020B0303030202060203" pitchFamily="34" charset="0"/>
              </a:rPr>
              <a:t>Amount of newly curated reusable content.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100" dirty="0">
                <a:latin typeface="Untitled Sans Light" panose="020B0303030202060203" pitchFamily="34" charset="0"/>
              </a:rPr>
              <a:t>Time our team can redirect toward the proposal’s story and visual quality.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436841-ED97-38DA-643A-26A456AEE3CD}"/>
              </a:ext>
            </a:extLst>
          </p:cNvPr>
          <p:cNvSpPr txBox="1"/>
          <p:nvPr/>
        </p:nvSpPr>
        <p:spPr>
          <a:xfrm>
            <a:off x="425447" y="195156"/>
            <a:ext cx="3957710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800" dirty="0">
                <a:latin typeface="Untitled Sans Light" panose="020B0303030202060203" pitchFamily="34" charset="77"/>
              </a:rPr>
              <a:t>M MOSER ASSOCIATES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37E4F8-4E28-F585-CF3C-3E3C588DBA1A}"/>
              </a:ext>
            </a:extLst>
          </p:cNvPr>
          <p:cNvSpPr txBox="1"/>
          <p:nvPr/>
        </p:nvSpPr>
        <p:spPr>
          <a:xfrm>
            <a:off x="8647621" y="195156"/>
            <a:ext cx="3086256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800" b="1">
                <a:latin typeface="Untitled Sans" panose="020B0503030202060203" pitchFamily="34" charset="77"/>
              </a:rPr>
              <a:t>2026</a:t>
            </a:r>
            <a:endParaRPr lang="en-CA" sz="800" b="1">
              <a:latin typeface="Untitled Sans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38285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B13596-0E46-24C8-65B9-42FA04294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65EAD70-C2F1-1FB7-28B7-805E7D0C5CB5}"/>
              </a:ext>
            </a:extLst>
          </p:cNvPr>
          <p:cNvSpPr txBox="1"/>
          <p:nvPr/>
        </p:nvSpPr>
        <p:spPr>
          <a:xfrm>
            <a:off x="507671" y="943722"/>
            <a:ext cx="3483428" cy="515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ebas Neue Bold" panose="020B0606020202050201" pitchFamily="34" charset="77"/>
                <a:ea typeface="+mn-ea"/>
                <a:cs typeface="+mn-cs"/>
              </a:rPr>
              <a:t>Pain points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5B4539-54D2-08DC-D4B8-06D483A9DE0B}"/>
              </a:ext>
            </a:extLst>
          </p:cNvPr>
          <p:cNvSpPr txBox="1"/>
          <p:nvPr/>
        </p:nvSpPr>
        <p:spPr>
          <a:xfrm>
            <a:off x="4108174" y="751344"/>
            <a:ext cx="7576155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100" b="1" dirty="0">
                <a:latin typeface="Untitled Sans" panose="020B0503030202060203" pitchFamily="34" charset="77"/>
              </a:rPr>
              <a:t>CURRENT PROCESS PAIN 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100" dirty="0">
                <a:latin typeface="Untitled Sans Light" panose="020B0303030202060203" pitchFamily="34" charset="0"/>
              </a:rPr>
              <a:t>Strong content exists, but it can be difficult to find quickly.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100" dirty="0">
                <a:latin typeface="Untitled Sans Light" panose="020B0303030202060203" pitchFamily="34" charset="0"/>
              </a:rPr>
              <a:t>Search depends too heavily on folder structures, naming conventions and </a:t>
            </a:r>
            <a:r>
              <a:rPr lang="en-CA" sz="1100" b="1" dirty="0">
                <a:latin typeface="Untitled Sans Light" panose="020B0303030202060203" pitchFamily="34" charset="0"/>
              </a:rPr>
              <a:t>personal memory.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100" dirty="0">
                <a:latin typeface="Untitled Sans Light" panose="020B0303030202060203" pitchFamily="34" charset="0"/>
              </a:rPr>
              <a:t>It is not always clear which version is current, approved or highest quality.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100" dirty="0">
                <a:latin typeface="Untitled Sans Light" panose="020B0303030202060203" pitchFamily="34" charset="0"/>
              </a:rPr>
              <a:t>Our current library contains both excellent and average material.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100" dirty="0">
                <a:latin typeface="Untitled Sans Light" panose="020B0303030202060203" pitchFamily="34" charset="0"/>
              </a:rPr>
              <a:t>Good one-off content can disappear inside a proposal.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100" dirty="0">
                <a:latin typeface="Untitled Sans Light" panose="020B0303030202060203" pitchFamily="34" charset="0"/>
              </a:rPr>
              <a:t>The same content may be recreated because an existing version cannot be located.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100" dirty="0">
                <a:latin typeface="Untitled Sans Light" panose="020B0303030202060203" pitchFamily="34" charset="0"/>
              </a:rPr>
              <a:t>Contributors provide material in different formats and at different levels of completeness.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100" dirty="0">
                <a:latin typeface="Untitled Sans Light" panose="020B0303030202060203" pitchFamily="34" charset="0"/>
              </a:rPr>
              <a:t>Our team must spend time fixing page by page layout to make it all cohesive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100" dirty="0">
                <a:latin typeface="Untitled Sans Light" panose="020B0303030202060203" pitchFamily="34" charset="0"/>
              </a:rPr>
              <a:t>Source material may be accidentally changed when it should have been copied. (not often but can happen)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100" dirty="0">
                <a:latin typeface="Untitled Sans Light" panose="020B0303030202060203" pitchFamily="34" charset="0"/>
              </a:rPr>
              <a:t>Proposal timelines are compressed, leaving little time for searching and experimentation.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100" dirty="0">
                <a:latin typeface="Untitled Sans Light" panose="020B0303030202060203" pitchFamily="34" charset="0"/>
              </a:rPr>
              <a:t>Different directors and offices may prefer different content.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100" dirty="0">
                <a:latin typeface="Untitled Sans Light" panose="020B0303030202060203" pitchFamily="34" charset="0"/>
              </a:rPr>
              <a:t>The quality of reusable content depends on someone continually curating the library.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100" dirty="0">
                <a:latin typeface="Untitled Sans Light" panose="020B0303030202060203" pitchFamily="34" charset="0"/>
              </a:rPr>
              <a:t>Archiving happens after a deadline, when the team has already moved to the next pursuit.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100" dirty="0">
                <a:latin typeface="Untitled Sans Light" panose="020B0303030202060203" pitchFamily="34" charset="0"/>
              </a:rPr>
              <a:t>During the proposal process, valuable client research and insights are gathered but can easily be lost or forgotten.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100" dirty="0">
                <a:latin typeface="Untitled Sans Light" panose="020B0303030202060203" pitchFamily="34" charset="0"/>
              </a:rPr>
              <a:t>There is currently a gap in different team’s visibility into what has been submitted and which version is the latest and greatest.</a:t>
            </a:r>
            <a:br>
              <a:rPr lang="en-CA" sz="1100" dirty="0">
                <a:latin typeface="Untitled Sans" panose="020B0503030202060203" pitchFamily="34" charset="77"/>
              </a:rPr>
            </a:br>
            <a:endParaRPr lang="en-CA" sz="1100" dirty="0">
              <a:latin typeface="Untitled Sans" panose="020B0503030202060203" pitchFamily="34" charset="77"/>
            </a:endParaRPr>
          </a:p>
          <a:p>
            <a:r>
              <a:rPr lang="en-CA" sz="1100" b="1" dirty="0">
                <a:latin typeface="Untitled Sans" panose="020B0503030202060203" pitchFamily="34" charset="77"/>
              </a:rPr>
              <a:t>POTENTIAL CHALLENGES WITH PROPOSED TOOL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100" b="1" dirty="0">
                <a:latin typeface="Untitled Sans" panose="020B0503030202060203" pitchFamily="34" charset="77"/>
              </a:rPr>
              <a:t>FIND</a:t>
            </a:r>
            <a:br>
              <a:rPr lang="en-CA" sz="1100" dirty="0">
                <a:latin typeface="Untitled Sans" panose="020B0503030202060203" pitchFamily="34" charset="77"/>
              </a:rPr>
            </a:br>
            <a:r>
              <a:rPr lang="en-CA" sz="1100" dirty="0">
                <a:latin typeface="Untitled Sans Light" panose="020B0303030202060203" pitchFamily="34" charset="0"/>
              </a:rPr>
              <a:t>Too much content, too many similar or duplicate slides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100" b="1" dirty="0">
                <a:latin typeface="Untitled Sans" panose="020B0503030202060203" pitchFamily="34" charset="77"/>
              </a:rPr>
              <a:t>TRUST</a:t>
            </a:r>
            <a:br>
              <a:rPr lang="en-CA" sz="1100" dirty="0">
                <a:latin typeface="Untitled Sans" panose="020B0503030202060203" pitchFamily="34" charset="77"/>
              </a:rPr>
            </a:br>
            <a:r>
              <a:rPr lang="en-CA" sz="1100" dirty="0">
                <a:latin typeface="Untitled Sans Light" panose="020B0303030202060203" pitchFamily="34" charset="0"/>
              </a:rPr>
              <a:t>Outdated, unapproved or just not the best option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CA" sz="1100" b="1" dirty="0">
                <a:latin typeface="Untitled Sans" panose="020B0503030202060203" pitchFamily="34" charset="77"/>
              </a:rPr>
              <a:t>MAINTAIN </a:t>
            </a:r>
            <a:br>
              <a:rPr lang="en-CA" sz="1100" dirty="0">
                <a:latin typeface="Untitled Sans" panose="020B0503030202060203" pitchFamily="34" charset="77"/>
              </a:rPr>
            </a:br>
            <a:r>
              <a:rPr lang="en-CA" sz="1100" dirty="0">
                <a:latin typeface="Untitled Sans Light" panose="020B0303030202060203" pitchFamily="34" charset="0"/>
              </a:rPr>
              <a:t>Ongoing tagging, approvals, curation and user adoption - Someone must approve, update and retire content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latin typeface="Untitled Sans" panose="020B0503030202060203" pitchFamily="34" charset="0"/>
              </a:rPr>
              <a:t>ADOPT</a:t>
            </a:r>
            <a:br>
              <a:rPr lang="en-US" sz="1100" dirty="0">
                <a:latin typeface="Untitled Sans" panose="020B0503030202060203" pitchFamily="34" charset="0"/>
              </a:rPr>
            </a:br>
            <a:r>
              <a:rPr lang="en-US" sz="1100" dirty="0">
                <a:latin typeface="Untitled Sans Light" panose="020B0303030202060203" pitchFamily="34" charset="0"/>
              </a:rPr>
              <a:t>The tool must be intuitive, fit the existing workflow, and provide enough value that teams consistently use it.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latin typeface="Untitled Sans" panose="020B0503030202060203" pitchFamily="34" charset="0"/>
              </a:rPr>
              <a:t>PROTECT</a:t>
            </a:r>
            <a:br>
              <a:rPr lang="en-US" sz="1100" dirty="0">
                <a:latin typeface="Untitled Sans" panose="020B0503030202060203" pitchFamily="34" charset="0"/>
              </a:rPr>
            </a:br>
            <a:r>
              <a:rPr lang="en-US" sz="1100" dirty="0">
                <a:latin typeface="Untitled Sans Light" panose="020B0303030202060203" pitchFamily="34" charset="0"/>
              </a:rPr>
              <a:t>Permissions, confidentiality, attribution, and client restrictions must carry through search, preview, export, and reuse.</a:t>
            </a:r>
          </a:p>
          <a:p>
            <a:br>
              <a:rPr lang="en-CA" sz="1100" dirty="0">
                <a:latin typeface="Untitled Sans Light" panose="020B0303030202060203" pitchFamily="34" charset="0"/>
              </a:rPr>
            </a:br>
            <a:r>
              <a:rPr lang="en-CA" sz="1100" dirty="0">
                <a:latin typeface="Untitled Sans Light" panose="020B0303030202060203" pitchFamily="34" charset="0"/>
              </a:rPr>
              <a:t>The program must improve access without sacrificing quality, control or human judgment afterward.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3312AA-5BD5-FEE7-158A-1AED08E1B882}"/>
              </a:ext>
            </a:extLst>
          </p:cNvPr>
          <p:cNvSpPr txBox="1"/>
          <p:nvPr/>
        </p:nvSpPr>
        <p:spPr>
          <a:xfrm>
            <a:off x="425447" y="195156"/>
            <a:ext cx="3957710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800" dirty="0">
                <a:latin typeface="Untitled Sans Light" panose="020B0303030202060203" pitchFamily="34" charset="77"/>
              </a:rPr>
              <a:t>M MOSER ASSOCIATES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DF3C38-EEC1-43E8-1156-4FF9E8BD28CD}"/>
              </a:ext>
            </a:extLst>
          </p:cNvPr>
          <p:cNvSpPr txBox="1"/>
          <p:nvPr/>
        </p:nvSpPr>
        <p:spPr>
          <a:xfrm>
            <a:off x="8647621" y="195156"/>
            <a:ext cx="3086256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800" b="1">
                <a:latin typeface="Untitled Sans" panose="020B0503030202060203" pitchFamily="34" charset="77"/>
              </a:rPr>
              <a:t>2026</a:t>
            </a:r>
            <a:endParaRPr lang="en-CA" sz="800" b="1">
              <a:latin typeface="Untitled Sans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637865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891118-DF0F-1046-3DF7-290B84F85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rid-v1"/>
          <p:cNvSpPr/>
          <p:nvPr/>
        </p:nvSpPr>
        <p:spPr>
          <a:xfrm>
            <a:off x="12192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grid-v2"/>
          <p:cNvSpPr/>
          <p:nvPr/>
        </p:nvSpPr>
        <p:spPr>
          <a:xfrm>
            <a:off x="24384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grid-v3"/>
          <p:cNvSpPr/>
          <p:nvPr/>
        </p:nvSpPr>
        <p:spPr>
          <a:xfrm>
            <a:off x="36576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grid-v4"/>
          <p:cNvSpPr/>
          <p:nvPr/>
        </p:nvSpPr>
        <p:spPr>
          <a:xfrm>
            <a:off x="48768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grid-v5"/>
          <p:cNvSpPr/>
          <p:nvPr/>
        </p:nvSpPr>
        <p:spPr>
          <a:xfrm>
            <a:off x="60960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grid-v6"/>
          <p:cNvSpPr/>
          <p:nvPr/>
        </p:nvSpPr>
        <p:spPr>
          <a:xfrm>
            <a:off x="12528884" y="5506453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grid-v7"/>
          <p:cNvSpPr/>
          <p:nvPr/>
        </p:nvSpPr>
        <p:spPr>
          <a:xfrm>
            <a:off x="85344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grid-v8"/>
          <p:cNvSpPr/>
          <p:nvPr/>
        </p:nvSpPr>
        <p:spPr>
          <a:xfrm>
            <a:off x="97536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grid-v9"/>
          <p:cNvSpPr/>
          <p:nvPr/>
        </p:nvSpPr>
        <p:spPr>
          <a:xfrm>
            <a:off x="10972800" y="0"/>
            <a:ext cx="0" cy="685800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grid-h1"/>
          <p:cNvSpPr/>
          <p:nvPr/>
        </p:nvSpPr>
        <p:spPr>
          <a:xfrm>
            <a:off x="0" y="1143000"/>
            <a:ext cx="12192000" cy="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grid-h2"/>
          <p:cNvSpPr/>
          <p:nvPr/>
        </p:nvSpPr>
        <p:spPr>
          <a:xfrm>
            <a:off x="0" y="2286000"/>
            <a:ext cx="12192000" cy="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grid-h3"/>
          <p:cNvSpPr/>
          <p:nvPr/>
        </p:nvSpPr>
        <p:spPr>
          <a:xfrm>
            <a:off x="0" y="3429000"/>
            <a:ext cx="12192000" cy="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grid-h4"/>
          <p:cNvSpPr/>
          <p:nvPr/>
        </p:nvSpPr>
        <p:spPr>
          <a:xfrm>
            <a:off x="0" y="4572000"/>
            <a:ext cx="12192000" cy="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grid-h5"/>
          <p:cNvSpPr/>
          <p:nvPr/>
        </p:nvSpPr>
        <p:spPr>
          <a:xfrm>
            <a:off x="0" y="5715000"/>
            <a:ext cx="12192000" cy="0"/>
          </a:xfrm>
          <a:prstGeom prst="line">
            <a:avLst/>
          </a:prstGeom>
          <a:noFill/>
          <a:ln w="3175" cap="flat">
            <a:solidFill>
              <a:srgbClr val="15151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A9D1D8-D1B7-D231-FB9A-3E9F305ECB02}"/>
              </a:ext>
            </a:extLst>
          </p:cNvPr>
          <p:cNvSpPr txBox="1"/>
          <p:nvPr/>
        </p:nvSpPr>
        <p:spPr>
          <a:xfrm>
            <a:off x="3810000" y="2286000"/>
            <a:ext cx="4572000" cy="208646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6000"/>
              </a:lnSpc>
            </a:pPr>
            <a:r>
              <a:rPr lang="en-CA" sz="7200" dirty="0">
                <a:solidFill>
                  <a:schemeClr val="bg1"/>
                </a:solidFill>
                <a:latin typeface="Bebas Neue" panose="020B0606020202050201" pitchFamily="34" charset="77"/>
              </a:rPr>
              <a:t>What an Ideal Solution Would Enable</a:t>
            </a:r>
            <a:endParaRPr lang="en-US" sz="7200" dirty="0">
              <a:solidFill>
                <a:schemeClr val="bg1"/>
              </a:solidFill>
              <a:latin typeface="Bebas Neue" panose="020B0606020202050201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9932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3F666D-CB9F-7DC8-15C0-7B33895C1ACA}"/>
              </a:ext>
            </a:extLst>
          </p:cNvPr>
          <p:cNvSpPr txBox="1"/>
          <p:nvPr/>
        </p:nvSpPr>
        <p:spPr>
          <a:xfrm>
            <a:off x="4741093" y="1166842"/>
            <a:ext cx="673131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latin typeface="Untitled Sans" panose="020B0503030202060203" pitchFamily="34" charset="0"/>
              </a:rPr>
              <a:t>DISCOVER</a:t>
            </a:r>
            <a:endParaRPr lang="en-US" sz="1100" dirty="0">
              <a:latin typeface="Untitled Sans" panose="020B0503030202060203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Untitled Sans Light" panose="020B0303030202060203" pitchFamily="34" charset="0"/>
              </a:rPr>
              <a:t>Search across approved SharePoint locations and curated libraries.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Untitled Sans Light" panose="020B0303030202060203" pitchFamily="34" charset="0"/>
              </a:rPr>
              <a:t>Understand opportunity attributes, client priorities, and content meaning, not just filenames and keywords.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Untitled Sans Light" panose="020B0303030202060203" pitchFamily="34" charset="0"/>
              </a:rPr>
              <a:t>Surface canonical, reusable, and precedent content separately.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Untitled Sans Light" panose="020B0303030202060203" pitchFamily="34" charset="0"/>
              </a:rPr>
              <a:t>Recommend relevant projects, people, capabilities, proof points, and slides. </a:t>
            </a:r>
            <a:br>
              <a:rPr lang="en-US" sz="1100" dirty="0">
                <a:latin typeface="Untitled Sans" panose="020B0503030202060203" pitchFamily="34" charset="0"/>
              </a:rPr>
            </a:br>
            <a:endParaRPr lang="en-US" sz="1100" dirty="0">
              <a:latin typeface="Untitled Sans" panose="020B0503030202060203" pitchFamily="34" charset="0"/>
            </a:endParaRPr>
          </a:p>
          <a:p>
            <a:r>
              <a:rPr lang="en-US" sz="1100" b="1" dirty="0">
                <a:latin typeface="Untitled Sans" panose="020B0503030202060203" pitchFamily="34" charset="0"/>
              </a:rPr>
              <a:t>TRUST</a:t>
            </a:r>
            <a:endParaRPr lang="en-US" sz="1100" dirty="0">
              <a:latin typeface="Untitled Sans" panose="020B0503030202060203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Untitled Sans Light" panose="020B0303030202060203" pitchFamily="34" charset="0"/>
              </a:rPr>
              <a:t>Show each item’s source, owner, approval status, confidentiality, and last review date.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Untitled Sans Light" panose="020B0303030202060203" pitchFamily="34" charset="0"/>
              </a:rPr>
              <a:t>Clearly identify approved source-of-truth content.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Untitled Sans Light" panose="020B0303030202060203" pitchFamily="34" charset="0"/>
              </a:rPr>
              <a:t>Protect original files and prevent inappropriate reuse or alteration. </a:t>
            </a:r>
            <a:br>
              <a:rPr lang="en-US" sz="1100" dirty="0">
                <a:latin typeface="Untitled Sans Light" panose="020B0303030202060203" pitchFamily="34" charset="0"/>
              </a:rPr>
            </a:br>
            <a:endParaRPr lang="en-US" sz="1100" dirty="0">
              <a:latin typeface="Untitled Sans Light" panose="020B0303030202060203" pitchFamily="34" charset="0"/>
            </a:endParaRPr>
          </a:p>
          <a:p>
            <a:r>
              <a:rPr lang="en-US" sz="1100" b="1" dirty="0">
                <a:latin typeface="Untitled Sans" panose="020B0503030202060203" pitchFamily="34" charset="0"/>
              </a:rPr>
              <a:t>COMPARE + DECIDE</a:t>
            </a:r>
            <a:endParaRPr lang="en-US" sz="1100" dirty="0">
              <a:latin typeface="Untitled Sans" panose="020B0503030202060203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Untitled Sans Light" panose="020B0303030202060203" pitchFamily="34" charset="0"/>
              </a:rPr>
              <a:t>Preview, filter, and compare multiple options before opening or downloading them.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Untitled Sans Light" panose="020B0303030202060203" pitchFamily="34" charset="0"/>
              </a:rPr>
              <a:t>Show why each result is relevant to the opportunity.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Untitled Sans Light" panose="020B0303030202060203" pitchFamily="34" charset="0"/>
              </a:rPr>
              <a:t>Preserve the proposals team’s control over selection, adaptation, and storytelling. </a:t>
            </a:r>
            <a:br>
              <a:rPr lang="en-US" sz="1100" dirty="0">
                <a:latin typeface="Untitled Sans" panose="020B0503030202060203" pitchFamily="34" charset="0"/>
              </a:rPr>
            </a:br>
            <a:endParaRPr lang="en-US" sz="1100" dirty="0">
              <a:latin typeface="Untitled Sans" panose="020B0503030202060203" pitchFamily="34" charset="0"/>
            </a:endParaRPr>
          </a:p>
          <a:p>
            <a:r>
              <a:rPr lang="en-US" sz="1100" b="1" dirty="0">
                <a:latin typeface="Untitled Sans" panose="020B0503030202060203" pitchFamily="34" charset="0"/>
              </a:rPr>
              <a:t>BUILD</a:t>
            </a:r>
            <a:endParaRPr lang="en-US" sz="1100" dirty="0">
              <a:latin typeface="Untitled Sans" panose="020B0503030202060203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Untitled Sans Light" panose="020B0303030202060203" pitchFamily="34" charset="0"/>
              </a:rPr>
              <a:t>Export editable PowerPoint content while preserving the original source.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Untitled Sans Light" panose="020B0303030202060203" pitchFamily="34" charset="0"/>
              </a:rPr>
              <a:t>Support visual consistency and reduce page-by-page clean-up.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Untitled Sans Light" panose="020B0303030202060203" pitchFamily="34" charset="0"/>
              </a:rPr>
              <a:t>Incorporate new client-specific content without overwriting reusable material. </a:t>
            </a:r>
            <a:br>
              <a:rPr lang="en-US" sz="1100" dirty="0">
                <a:latin typeface="Untitled Sans" panose="020B0503030202060203" pitchFamily="34" charset="0"/>
              </a:rPr>
            </a:br>
            <a:endParaRPr lang="en-US" sz="1100" dirty="0">
              <a:latin typeface="Untitled Sans" panose="020B0503030202060203" pitchFamily="34" charset="0"/>
            </a:endParaRPr>
          </a:p>
          <a:p>
            <a:r>
              <a:rPr lang="en-US" sz="1100" b="1" dirty="0">
                <a:latin typeface="Untitled Sans" panose="020B0503030202060203" pitchFamily="34" charset="0"/>
              </a:rPr>
              <a:t>LEARN + IMPROVE</a:t>
            </a:r>
            <a:endParaRPr lang="en-US" sz="1100" dirty="0">
              <a:latin typeface="Untitled Sans" panose="020B0503030202060203" pitchFamily="34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Untitled Sans Light" panose="020B0303030202060203" pitchFamily="34" charset="0"/>
              </a:rPr>
              <a:t>Learn from what teams select, adapt, submit, and promote.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Untitled Sans Light" panose="020B0303030202060203" pitchFamily="34" charset="0"/>
              </a:rPr>
              <a:t>Surface recently approved and frequently used content without defaulting only to popularity.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Untitled Sans Light" panose="020B0303030202060203" pitchFamily="34" charset="0"/>
              </a:rPr>
              <a:t>Recommend exceptional new material for review and inclusion in the reusable library.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Untitled Sans Light" panose="020B0303030202060203" pitchFamily="34" charset="0"/>
              </a:rPr>
              <a:t>Make archiving, tagging, updating, and retiring content easier.</a:t>
            </a:r>
          </a:p>
          <a:p>
            <a:endParaRPr lang="en-CA" sz="1100" dirty="0">
              <a:latin typeface="Untitled Sans" panose="020B050303020206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E31578-AC40-D38D-A9A7-1B4468C3EE56}"/>
              </a:ext>
            </a:extLst>
          </p:cNvPr>
          <p:cNvSpPr txBox="1"/>
          <p:nvPr/>
        </p:nvSpPr>
        <p:spPr>
          <a:xfrm>
            <a:off x="507670" y="1194942"/>
            <a:ext cx="3856511" cy="1708201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lnSpc>
                <a:spcPts val="3300"/>
              </a:lnSpc>
            </a:pPr>
            <a:r>
              <a:rPr lang="en-CA" sz="4400" b="1" dirty="0">
                <a:latin typeface="Bebas Neue Bold" panose="020B0606020202050201" pitchFamily="34" charset="77"/>
              </a:rPr>
              <a:t>Our ideal tool would help us find better content faster!</a:t>
            </a:r>
            <a:endParaRPr lang="en-CA" sz="4400" b="1" dirty="0">
              <a:highlight>
                <a:srgbClr val="02FFFF"/>
              </a:highlight>
              <a:latin typeface="Bebas Neue Bold" panose="020B0606020202050201" pitchFamily="34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FBC552-58DA-9487-181E-3DF1283F9859}"/>
              </a:ext>
            </a:extLst>
          </p:cNvPr>
          <p:cNvSpPr txBox="1"/>
          <p:nvPr/>
        </p:nvSpPr>
        <p:spPr>
          <a:xfrm>
            <a:off x="533400" y="2605455"/>
            <a:ext cx="31343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Untitled Sans Light" panose="020B0303030202060203" pitchFamily="34" charset="0"/>
              </a:rPr>
              <a:t>Let’s identify the right content, understand why it matters, and use it with confidence.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0719A3-7714-774C-CE35-CE3174A47A1A}"/>
              </a:ext>
            </a:extLst>
          </p:cNvPr>
          <p:cNvSpPr txBox="1"/>
          <p:nvPr/>
        </p:nvSpPr>
        <p:spPr>
          <a:xfrm>
            <a:off x="425447" y="195156"/>
            <a:ext cx="3957710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800" dirty="0">
                <a:latin typeface="Untitled Sans Light" panose="020B0303030202060203" pitchFamily="34" charset="77"/>
              </a:rPr>
              <a:t>M MOSER ASSOCIATES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BD5995-0052-56E1-5EA8-0D7DF4F12237}"/>
              </a:ext>
            </a:extLst>
          </p:cNvPr>
          <p:cNvSpPr txBox="1"/>
          <p:nvPr/>
        </p:nvSpPr>
        <p:spPr>
          <a:xfrm>
            <a:off x="8647621" y="195156"/>
            <a:ext cx="3086256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800" b="1">
                <a:latin typeface="Untitled Sans" panose="020B0503030202060203" pitchFamily="34" charset="77"/>
              </a:rPr>
              <a:t>2026</a:t>
            </a:r>
            <a:endParaRPr lang="en-CA" sz="800" b="1">
              <a:latin typeface="Untitled Sans" panose="020B050303020206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80836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67698-BDA9-DD4C-3E42-BDEBB2522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 up idea to come..</a:t>
            </a:r>
          </a:p>
        </p:txBody>
      </p:sp>
      <p:pic>
        <p:nvPicPr>
          <p:cNvPr id="4" name="Picture 3" descr="A screenshot of a video&#10;&#10;Description automatically generated">
            <a:extLst>
              <a:ext uri="{FF2B5EF4-FFF2-40B4-BE49-F238E27FC236}">
                <a16:creationId xmlns:a16="http://schemas.microsoft.com/office/drawing/2014/main" id="{DF6E70D2-46A4-31F1-E7C5-3421E017C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660" y="1614579"/>
            <a:ext cx="8140961" cy="444958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F038D55-B34B-FD7F-1BAA-73EF5A8F42E1}"/>
              </a:ext>
            </a:extLst>
          </p:cNvPr>
          <p:cNvSpPr/>
          <p:nvPr/>
        </p:nvSpPr>
        <p:spPr>
          <a:xfrm>
            <a:off x="701917" y="2108508"/>
            <a:ext cx="3241288" cy="24509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Top 10 slides in the last month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899CDF-1414-34C3-22ED-F3F8680516CB}"/>
              </a:ext>
            </a:extLst>
          </p:cNvPr>
          <p:cNvSpPr/>
          <p:nvPr/>
        </p:nvSpPr>
        <p:spPr>
          <a:xfrm>
            <a:off x="701917" y="3353464"/>
            <a:ext cx="3241288" cy="24509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New Releases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1B5D59-3BA1-6085-4B94-8822F5AAD4C2}"/>
              </a:ext>
            </a:extLst>
          </p:cNvPr>
          <p:cNvSpPr/>
          <p:nvPr/>
        </p:nvSpPr>
        <p:spPr>
          <a:xfrm>
            <a:off x="701917" y="4650064"/>
            <a:ext cx="3241288" cy="24509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Most used IDD slides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F8E58D-E107-76CA-531C-C009F2B5603D}"/>
              </a:ext>
            </a:extLst>
          </p:cNvPr>
          <p:cNvSpPr/>
          <p:nvPr/>
        </p:nvSpPr>
        <p:spPr>
          <a:xfrm>
            <a:off x="9129674" y="3652959"/>
            <a:ext cx="2786356" cy="216333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Maybe create something that says you haven’t used this page in 3 months do we want to keep? To try to keep content relevant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1C0C8E-52C1-35F3-DA72-CE22AA42EE31}"/>
              </a:ext>
            </a:extLst>
          </p:cNvPr>
          <p:cNvSpPr txBox="1"/>
          <p:nvPr/>
        </p:nvSpPr>
        <p:spPr>
          <a:xfrm>
            <a:off x="425447" y="195156"/>
            <a:ext cx="3957710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800" dirty="0">
                <a:latin typeface="Untitled Sans Light" panose="020B0303030202060203" pitchFamily="34" charset="77"/>
              </a:rPr>
              <a:t>M MOSER ASSOCIATES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D49715-6890-22DA-5E14-F6BE1993A5DD}"/>
              </a:ext>
            </a:extLst>
          </p:cNvPr>
          <p:cNvSpPr txBox="1"/>
          <p:nvPr/>
        </p:nvSpPr>
        <p:spPr>
          <a:xfrm>
            <a:off x="8647621" y="195156"/>
            <a:ext cx="3086256" cy="2154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800" b="1">
                <a:latin typeface="Untitled Sans" panose="020B0503030202060203" pitchFamily="34" charset="77"/>
              </a:rPr>
              <a:t>2026</a:t>
            </a:r>
            <a:endParaRPr lang="en-CA" sz="800" b="1">
              <a:latin typeface="Untitled Sans" panose="020B0503030202060203" pitchFamily="34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7369E7-83CE-5630-9368-D0992C4946BD}"/>
              </a:ext>
            </a:extLst>
          </p:cNvPr>
          <p:cNvSpPr txBox="1"/>
          <p:nvPr/>
        </p:nvSpPr>
        <p:spPr>
          <a:xfrm>
            <a:off x="426390" y="788542"/>
            <a:ext cx="3856511" cy="51861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lnSpc>
                <a:spcPts val="3300"/>
              </a:lnSpc>
            </a:pPr>
            <a:r>
              <a:rPr lang="en-CA" sz="4400" b="1" dirty="0">
                <a:latin typeface="Bebas Neue Bold" panose="020B0606020202050201" pitchFamily="34" charset="77"/>
              </a:rPr>
              <a:t>Mock up</a:t>
            </a:r>
            <a:endParaRPr lang="en-CA" sz="4400" b="1" dirty="0">
              <a:highlight>
                <a:srgbClr val="02FFFF"/>
              </a:highlight>
              <a:latin typeface="Bebas Neue Bold" panose="020B0606020202050201" pitchFamily="34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FF6421-E8FD-ADCA-C097-8D57F95DB36A}"/>
              </a:ext>
            </a:extLst>
          </p:cNvPr>
          <p:cNvSpPr/>
          <p:nvPr/>
        </p:nvSpPr>
        <p:spPr>
          <a:xfrm>
            <a:off x="8842878" y="1026839"/>
            <a:ext cx="3359949" cy="2163337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Something big during our marketing call was </a:t>
            </a:r>
            <a:r>
              <a:rPr lang="en-CA" dirty="0">
                <a:latin typeface="Untitled Sans Light" panose="020B0303030202060203" pitchFamily="34" charset="0"/>
              </a:rPr>
              <a:t>that t</a:t>
            </a:r>
            <a:r>
              <a:rPr lang="en-CA" sz="1800" dirty="0">
                <a:latin typeface="Untitled Sans Light" panose="020B0303030202060203" pitchFamily="34" charset="0"/>
              </a:rPr>
              <a:t>here is currently a gap in different team’s visibility into what has been submitted and which version is the latest and greatest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44921005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Theme">
  <a:themeElements>
    <a:clrScheme name="Custom 1">
      <a:dk1>
        <a:srgbClr val="000000"/>
      </a:dk1>
      <a:lt1>
        <a:srgbClr val="FFFFFF"/>
      </a:lt1>
      <a:dk2>
        <a:srgbClr val="535659"/>
      </a:dk2>
      <a:lt2>
        <a:srgbClr val="E7E6E6"/>
      </a:lt2>
      <a:accent1>
        <a:srgbClr val="FF893E"/>
      </a:accent1>
      <a:accent2>
        <a:srgbClr val="ED7D31"/>
      </a:accent2>
      <a:accent3>
        <a:srgbClr val="FFA6B3"/>
      </a:accent3>
      <a:accent4>
        <a:srgbClr val="FFC000"/>
      </a:accent4>
      <a:accent5>
        <a:srgbClr val="08C6D2"/>
      </a:accent5>
      <a:accent6>
        <a:srgbClr val="50D691"/>
      </a:accent6>
      <a:hlink>
        <a:srgbClr val="00A95C"/>
      </a:hlink>
      <a:folHlink>
        <a:srgbClr val="B9E971"/>
      </a:folHlink>
    </a:clrScheme>
    <a:fontScheme name="M Moser">
      <a:majorFont>
        <a:latin typeface="Untitled Sans"/>
        <a:ea typeface=""/>
        <a:cs typeface=""/>
      </a:majorFont>
      <a:minorFont>
        <a:latin typeface="Untitled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3433</TotalTime>
  <Words>3128</Words>
  <Application>Microsoft Macintosh PowerPoint</Application>
  <PresentationFormat>Widescreen</PresentationFormat>
  <Paragraphs>367</Paragraphs>
  <Slides>18</Slides>
  <Notes>9</Notes>
  <HiddenSlides>2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37" baseType="lpstr">
      <vt:lpstr>Aptos</vt:lpstr>
      <vt:lpstr>Arial</vt:lpstr>
      <vt:lpstr>Bebas Neue</vt:lpstr>
      <vt:lpstr>Bebas Neue Bold</vt:lpstr>
      <vt:lpstr>Calibri</vt:lpstr>
      <vt:lpstr>Century Gothic</vt:lpstr>
      <vt:lpstr>Helvetica</vt:lpstr>
      <vt:lpstr>Helvetica Neue</vt:lpstr>
      <vt:lpstr>Maison Neue</vt:lpstr>
      <vt:lpstr>Roboto</vt:lpstr>
      <vt:lpstr>Segoe UI</vt:lpstr>
      <vt:lpstr>Untitled Sans</vt:lpstr>
      <vt:lpstr>Untitled Sans Bold</vt:lpstr>
      <vt:lpstr>Untitled Sans Bold Italic</vt:lpstr>
      <vt:lpstr>Untitled Sans Light</vt:lpstr>
      <vt:lpstr>Untitled Sans Medium</vt:lpstr>
      <vt:lpstr>Untitled Sans Regular</vt:lpstr>
      <vt:lpstr>Wingdings</vt:lpstr>
      <vt:lpstr>3_Office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Mock up idea to come..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GabrielaAlegria - M Moser Associates</dc:creator>
  <cp:lastModifiedBy>GabrielaAlegria - M Moser Associates</cp:lastModifiedBy>
  <cp:revision>35</cp:revision>
  <dcterms:created xsi:type="dcterms:W3CDTF">2026-07-24T16:51:02Z</dcterms:created>
  <dcterms:modified xsi:type="dcterms:W3CDTF">2026-08-06T04:51:16Z</dcterms:modified>
</cp:coreProperties>
</file>